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</p:sldIdLst>
  <p:sldSz cx="18288000" cy="10287000"/>
  <p:notesSz cx="6858000" cy="9144000"/>
  <p:embeddedFontLst>
    <p:embeddedFont>
      <p:font typeface="HK Grotesk Bold" panose="020B0604020202020204" charset="0"/>
      <p:regular r:id="rId12"/>
    </p:embeddedFont>
    <p:embeddedFont>
      <p:font typeface="HK Grotesk Semi-Bold" panose="020B0604020202020204" charset="0"/>
      <p:regular r:id="rId13"/>
    </p:embeddedFont>
    <p:embeddedFont>
      <p:font typeface="Inter" panose="020B0604020202020204" charset="0"/>
      <p:regular r:id="rId14"/>
    </p:embeddedFont>
    <p:embeddedFont>
      <p:font typeface="Inter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0313" autoAdjust="0"/>
  </p:normalViewPr>
  <p:slideViewPr>
    <p:cSldViewPr>
      <p:cViewPr varScale="1">
        <p:scale>
          <a:sx n="38" d="100"/>
          <a:sy n="38" d="100"/>
        </p:scale>
        <p:origin x="1044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09.10.2026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This slide frames the business and technical problem: the data is very large and extremely sparse, so the solution uses memory-safe processing and sparse modelling rather than a dense user-product matrix.</a:t>
            </a:r>
          </a:p>
          <a:p>
            <a:r>
              <a:rPr lang="en-US" dirty="0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8.png"/><Relationship Id="rId5" Type="http://schemas.openxmlformats.org/officeDocument/2006/relationships/image" Target="../media/image6.jpe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008086" y="0"/>
            <a:ext cx="8279914" cy="8789318"/>
          </a:xfrm>
          <a:custGeom>
            <a:avLst/>
            <a:gdLst/>
            <a:ahLst/>
            <a:cxnLst/>
            <a:rect l="l" t="t" r="r" b="b"/>
            <a:pathLst>
              <a:path w="8279914" h="8789318">
                <a:moveTo>
                  <a:pt x="0" y="0"/>
                </a:moveTo>
                <a:lnTo>
                  <a:pt x="8279914" y="0"/>
                </a:lnTo>
                <a:lnTo>
                  <a:pt x="8279914" y="8789318"/>
                </a:lnTo>
                <a:lnTo>
                  <a:pt x="0" y="87893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748622" y="0"/>
            <a:ext cx="11539378" cy="10287000"/>
          </a:xfrm>
          <a:custGeom>
            <a:avLst/>
            <a:gdLst/>
            <a:ahLst/>
            <a:cxnLst/>
            <a:rect l="l" t="t" r="r" b="b"/>
            <a:pathLst>
              <a:path w="11539378" h="10287000">
                <a:moveTo>
                  <a:pt x="0" y="0"/>
                </a:moveTo>
                <a:lnTo>
                  <a:pt x="11539378" y="0"/>
                </a:lnTo>
                <a:lnTo>
                  <a:pt x="1153937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528440" y="3848060"/>
            <a:ext cx="5020450" cy="5586245"/>
          </a:xfrm>
          <a:custGeom>
            <a:avLst/>
            <a:gdLst/>
            <a:ahLst/>
            <a:cxnLst/>
            <a:rect l="l" t="t" r="r" b="b"/>
            <a:pathLst>
              <a:path w="5020450" h="5586245">
                <a:moveTo>
                  <a:pt x="0" y="0"/>
                </a:moveTo>
                <a:lnTo>
                  <a:pt x="5020450" y="0"/>
                </a:lnTo>
                <a:lnTo>
                  <a:pt x="5020450" y="5586245"/>
                </a:lnTo>
                <a:lnTo>
                  <a:pt x="0" y="55862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59982" y="1144920"/>
            <a:ext cx="9726839" cy="378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819"/>
              </a:lnSpc>
              <a:spcBef>
                <a:spcPct val="0"/>
              </a:spcBef>
            </a:pPr>
            <a:r>
              <a:rPr lang="en-US" sz="10333" b="1" u="none" strike="noStrike" spc="-413" dirty="0">
                <a:solidFill>
                  <a:srgbClr val="081D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P704: Product Recommendation System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48428" y="6392525"/>
            <a:ext cx="6239995" cy="1148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38"/>
              </a:lnSpc>
              <a:spcBef>
                <a:spcPct val="0"/>
              </a:spcBef>
            </a:pPr>
            <a:r>
              <a:rPr lang="en-US" sz="4031" b="1" u="none" strike="noStrike" spc="-39">
                <a:solidFill>
                  <a:srgbClr val="3792A8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Clustering-Based Product Recommendations at Scale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1755" y="7979651"/>
            <a:ext cx="2907324" cy="474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3234" b="1" spc="-96">
                <a:solidFill>
                  <a:srgbClr val="081D4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Team Members: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8728" y="8521841"/>
            <a:ext cx="6209991" cy="474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3234" b="1" spc="-96">
                <a:solidFill>
                  <a:srgbClr val="081D4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Vivek • Prakash • Karishma • Amit •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8257" y="9064032"/>
            <a:ext cx="4257084" cy="474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3234" b="1" spc="-96">
                <a:solidFill>
                  <a:srgbClr val="081D4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Rohit • Thasin • Darshan</a:t>
            </a:r>
          </a:p>
        </p:txBody>
      </p:sp>
      <p:pic>
        <p:nvPicPr>
          <p:cNvPr id="26" name="Audio 25">
            <a:hlinkClick r:id="" action="ppaction://media"/>
            <a:extLst>
              <a:ext uri="{FF2B5EF4-FFF2-40B4-BE49-F238E27FC236}">
                <a16:creationId xmlns:a16="http://schemas.microsoft.com/office/drawing/2014/main" id="{6981E2F6-9A1F-D0A6-AC1C-98C393C9AB4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329688" t="-329688" r="-329688" b="-329688"/>
          <a:stretch>
            <a:fillRect/>
          </a:stretch>
        </p:blipFill>
        <p:spPr>
          <a:xfrm>
            <a:off x="15078456" y="7077456"/>
            <a:ext cx="3086100" cy="30861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300"/>
    </mc:Choice>
    <mc:Fallback xmlns="">
      <p:transition spd="slow" advTm="163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786622" y="621897"/>
            <a:ext cx="1089756" cy="128969"/>
          </a:xfrm>
          <a:custGeom>
            <a:avLst/>
            <a:gdLst/>
            <a:ahLst/>
            <a:cxnLst/>
            <a:rect l="l" t="t" r="r" b="b"/>
            <a:pathLst>
              <a:path w="1453007" h="171958">
                <a:moveTo>
                  <a:pt x="0" y="85979"/>
                </a:moveTo>
                <a:cubicBezTo>
                  <a:pt x="0" y="38481"/>
                  <a:pt x="38481" y="0"/>
                  <a:pt x="85979" y="0"/>
                </a:cubicBezTo>
                <a:lnTo>
                  <a:pt x="1367028" y="0"/>
                </a:lnTo>
                <a:cubicBezTo>
                  <a:pt x="1414526" y="0"/>
                  <a:pt x="1453007" y="38481"/>
                  <a:pt x="1453007" y="85979"/>
                </a:cubicBezTo>
                <a:cubicBezTo>
                  <a:pt x="1453007" y="133477"/>
                  <a:pt x="1414526" y="171958"/>
                  <a:pt x="1367028" y="171958"/>
                </a:cubicBezTo>
                <a:lnTo>
                  <a:pt x="85979" y="171958"/>
                </a:lnTo>
                <a:cubicBezTo>
                  <a:pt x="38481" y="171831"/>
                  <a:pt x="0" y="133350"/>
                  <a:pt x="0" y="85979"/>
                </a:cubicBezTo>
                <a:close/>
              </a:path>
            </a:pathLst>
          </a:custGeom>
          <a:solidFill>
            <a:srgbClr val="2A8C8C"/>
          </a:solidFill>
          <a:ln w="19065" cap="sq">
            <a:solidFill>
              <a:srgbClr val="2A8C8C"/>
            </a:solidFill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796147" y="1015775"/>
            <a:ext cx="13040388" cy="617702"/>
          </a:xfrm>
          <a:custGeom>
            <a:avLst/>
            <a:gdLst/>
            <a:ahLst/>
            <a:cxnLst/>
            <a:rect l="l" t="t" r="r" b="b"/>
            <a:pathLst>
              <a:path w="17387184" h="823603">
                <a:moveTo>
                  <a:pt x="0" y="0"/>
                </a:moveTo>
                <a:lnTo>
                  <a:pt x="17387184" y="0"/>
                </a:lnTo>
                <a:lnTo>
                  <a:pt x="17387184" y="823603"/>
                </a:lnTo>
                <a:lnTo>
                  <a:pt x="0" y="823603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t="-361350" b="-361351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96147" y="1015775"/>
            <a:ext cx="13040392" cy="61770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6124"/>
              </a:lnSpc>
            </a:pPr>
            <a:r>
              <a:rPr lang="en-US" sz="5103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Problem and Project Objective</a:t>
            </a:r>
          </a:p>
        </p:txBody>
      </p:sp>
      <p:sp>
        <p:nvSpPr>
          <p:cNvPr id="8" name="Freeform 8"/>
          <p:cNvSpPr/>
          <p:nvPr/>
        </p:nvSpPr>
        <p:spPr>
          <a:xfrm>
            <a:off x="752496" y="1788671"/>
            <a:ext cx="16758597" cy="1117187"/>
          </a:xfrm>
          <a:custGeom>
            <a:avLst/>
            <a:gdLst/>
            <a:ahLst/>
            <a:cxnLst/>
            <a:rect l="l" t="t" r="r" b="b"/>
            <a:pathLst>
              <a:path w="22299295" h="1489583">
                <a:moveTo>
                  <a:pt x="0" y="186182"/>
                </a:moveTo>
                <a:cubicBezTo>
                  <a:pt x="0" y="83312"/>
                  <a:pt x="83312" y="0"/>
                  <a:pt x="186182" y="0"/>
                </a:cubicBezTo>
                <a:lnTo>
                  <a:pt x="22113112" y="0"/>
                </a:lnTo>
                <a:cubicBezTo>
                  <a:pt x="22215982" y="0"/>
                  <a:pt x="22299295" y="83312"/>
                  <a:pt x="22299295" y="186182"/>
                </a:cubicBezTo>
                <a:lnTo>
                  <a:pt x="22299295" y="1303401"/>
                </a:lnTo>
                <a:cubicBezTo>
                  <a:pt x="22299295" y="1406271"/>
                  <a:pt x="22215982" y="1489583"/>
                  <a:pt x="22113112" y="1489583"/>
                </a:cubicBezTo>
                <a:lnTo>
                  <a:pt x="186182" y="1489583"/>
                </a:lnTo>
                <a:cubicBezTo>
                  <a:pt x="83312" y="1489583"/>
                  <a:pt x="0" y="1406271"/>
                  <a:pt x="0" y="1303401"/>
                </a:cubicBezTo>
                <a:close/>
              </a:path>
            </a:pathLst>
          </a:custGeom>
          <a:solidFill>
            <a:srgbClr val="FFFFFF"/>
          </a:solidFill>
          <a:ln w="19065" cap="sq">
            <a:solidFill>
              <a:srgbClr val="D9E2EA"/>
            </a:solidFill>
            <a:prstDash val="solid"/>
            <a:miter/>
          </a:ln>
        </p:spPr>
        <p:txBody>
          <a:bodyPr lIns="252000" anchor="ctr" anchorCtr="0"/>
          <a:lstStyle/>
          <a:p>
            <a:pPr marL="0" marR="0" lvl="0" indent="0" algn="l" defTabSz="914400" rtl="0" eaLnBrk="1" fontAlgn="auto" latinLnBrk="0" hangingPunct="1">
              <a:lnSpc>
                <a:spcPts val="31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27" b="0" i="0" u="none" strike="noStrike" kern="1200" cap="none" spc="0" normalizeH="0" baseline="0" noProof="0" dirty="0">
                <a:ln>
                  <a:noFill/>
                </a:ln>
                <a:solidFill>
                  <a:srgbClr val="2E4053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Build an end-to-end product recommendation system using user-rating </a:t>
            </a:r>
            <a:r>
              <a:rPr kumimoji="0" lang="en-US" sz="2627" b="0" i="0" u="none" strike="noStrike" kern="1200" cap="none" spc="0" normalizeH="0" baseline="0" noProof="0" dirty="0" err="1">
                <a:ln>
                  <a:noFill/>
                </a:ln>
                <a:solidFill>
                  <a:srgbClr val="2E4053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behaviour</a:t>
            </a:r>
            <a:r>
              <a:rPr kumimoji="0" lang="en-US" sz="2627" b="0" i="0" u="none" strike="noStrike" kern="1200" cap="none" spc="0" normalizeH="0" baseline="0" noProof="0" dirty="0">
                <a:ln>
                  <a:noFill/>
                </a:ln>
                <a:solidFill>
                  <a:srgbClr val="2E4053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, compare clustering approaches, evaluate Top-N recommendations, and deploy the selected clustering model.</a:t>
            </a:r>
            <a:endParaRPr lang="en-US" dirty="0">
              <a:sym typeface="Inter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786622" y="1788671"/>
            <a:ext cx="142589" cy="1117187"/>
          </a:xfrm>
          <a:custGeom>
            <a:avLst/>
            <a:gdLst/>
            <a:ahLst/>
            <a:cxnLst/>
            <a:rect l="l" t="t" r="r" b="b"/>
            <a:pathLst>
              <a:path w="190119" h="1489583">
                <a:moveTo>
                  <a:pt x="0" y="0"/>
                </a:moveTo>
                <a:lnTo>
                  <a:pt x="190119" y="0"/>
                </a:lnTo>
                <a:lnTo>
                  <a:pt x="190119" y="1489583"/>
                </a:lnTo>
                <a:lnTo>
                  <a:pt x="0" y="1489583"/>
                </a:lnTo>
                <a:close/>
              </a:path>
            </a:pathLst>
          </a:custGeom>
          <a:solidFill>
            <a:srgbClr val="2A8C8C"/>
          </a:solidFill>
          <a:ln w="19065" cap="sq">
            <a:solidFill>
              <a:srgbClr val="2A8C8C"/>
            </a:solidFill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>
            <a:off x="786622" y="3326063"/>
            <a:ext cx="3944874" cy="1597628"/>
          </a:xfrm>
          <a:custGeom>
            <a:avLst/>
            <a:gdLst/>
            <a:ahLst/>
            <a:cxnLst/>
            <a:rect l="l" t="t" r="r" b="b"/>
            <a:pathLst>
              <a:path w="5259832" h="2130171">
                <a:moveTo>
                  <a:pt x="0" y="148209"/>
                </a:moveTo>
                <a:cubicBezTo>
                  <a:pt x="0" y="66294"/>
                  <a:pt x="66294" y="0"/>
                  <a:pt x="148209" y="0"/>
                </a:cubicBezTo>
                <a:lnTo>
                  <a:pt x="5111623" y="0"/>
                </a:lnTo>
                <a:cubicBezTo>
                  <a:pt x="5193411" y="0"/>
                  <a:pt x="5259832" y="66294"/>
                  <a:pt x="5259832" y="148209"/>
                </a:cubicBezTo>
                <a:lnTo>
                  <a:pt x="5259832" y="1981962"/>
                </a:lnTo>
                <a:cubicBezTo>
                  <a:pt x="5259832" y="2063750"/>
                  <a:pt x="5193538" y="2130171"/>
                  <a:pt x="5111623" y="2130171"/>
                </a:cubicBezTo>
                <a:lnTo>
                  <a:pt x="148209" y="2130171"/>
                </a:lnTo>
                <a:cubicBezTo>
                  <a:pt x="66294" y="2130171"/>
                  <a:pt x="0" y="2063877"/>
                  <a:pt x="0" y="1981962"/>
                </a:cubicBezTo>
                <a:close/>
              </a:path>
            </a:pathLst>
          </a:custGeom>
          <a:solidFill>
            <a:srgbClr val="FFFFFF"/>
          </a:solidFill>
          <a:ln w="19065" cap="sq">
            <a:solidFill>
              <a:srgbClr val="D9E2EA"/>
            </a:solidFill>
            <a:prstDash val="solid"/>
            <a:miter/>
          </a:ln>
        </p:spPr>
      </p:sp>
      <p:sp>
        <p:nvSpPr>
          <p:cNvPr id="17" name="Freeform 17"/>
          <p:cNvSpPr/>
          <p:nvPr/>
        </p:nvSpPr>
        <p:spPr>
          <a:xfrm>
            <a:off x="786622" y="3326063"/>
            <a:ext cx="128873" cy="1597628"/>
          </a:xfrm>
          <a:custGeom>
            <a:avLst/>
            <a:gdLst/>
            <a:ahLst/>
            <a:cxnLst/>
            <a:rect l="l" t="t" r="r" b="b"/>
            <a:pathLst>
              <a:path w="171831" h="2130171">
                <a:moveTo>
                  <a:pt x="0" y="0"/>
                </a:moveTo>
                <a:lnTo>
                  <a:pt x="171831" y="0"/>
                </a:lnTo>
                <a:lnTo>
                  <a:pt x="171831" y="2130171"/>
                </a:lnTo>
                <a:lnTo>
                  <a:pt x="0" y="2130171"/>
                </a:lnTo>
                <a:close/>
              </a:path>
            </a:pathLst>
          </a:custGeom>
          <a:solidFill>
            <a:srgbClr val="2A8C8C"/>
          </a:solidFill>
          <a:ln w="19065" cap="sq">
            <a:solidFill>
              <a:srgbClr val="2A8C8C"/>
            </a:solidFill>
            <a:prstDash val="solid"/>
            <a:miter/>
          </a:ln>
        </p:spPr>
      </p:sp>
      <p:sp>
        <p:nvSpPr>
          <p:cNvPr id="19" name="Freeform 19"/>
          <p:cNvSpPr/>
          <p:nvPr/>
        </p:nvSpPr>
        <p:spPr>
          <a:xfrm>
            <a:off x="1139314" y="3719941"/>
            <a:ext cx="3376773" cy="617702"/>
          </a:xfrm>
          <a:custGeom>
            <a:avLst/>
            <a:gdLst/>
            <a:ahLst/>
            <a:cxnLst/>
            <a:rect l="l" t="t" r="r" b="b"/>
            <a:pathLst>
              <a:path w="4502365" h="823603">
                <a:moveTo>
                  <a:pt x="0" y="0"/>
                </a:moveTo>
                <a:lnTo>
                  <a:pt x="4502365" y="0"/>
                </a:lnTo>
                <a:lnTo>
                  <a:pt x="4502365" y="823603"/>
                </a:lnTo>
                <a:lnTo>
                  <a:pt x="0" y="823603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t="-56517" b="-56518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139314" y="3727085"/>
            <a:ext cx="3376774" cy="61056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5584"/>
              </a:lnSpc>
            </a:pPr>
            <a:r>
              <a:rPr lang="en-US" sz="4653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7.82M</a:t>
            </a:r>
          </a:p>
        </p:txBody>
      </p:sp>
      <p:sp>
        <p:nvSpPr>
          <p:cNvPr id="22" name="Freeform 22"/>
          <p:cNvSpPr/>
          <p:nvPr/>
        </p:nvSpPr>
        <p:spPr>
          <a:xfrm>
            <a:off x="1139314" y="4639637"/>
            <a:ext cx="3376773" cy="411802"/>
          </a:xfrm>
          <a:custGeom>
            <a:avLst/>
            <a:gdLst/>
            <a:ahLst/>
            <a:cxnLst/>
            <a:rect l="l" t="t" r="r" b="b"/>
            <a:pathLst>
              <a:path w="4502365" h="549069">
                <a:moveTo>
                  <a:pt x="0" y="0"/>
                </a:moveTo>
                <a:lnTo>
                  <a:pt x="4502365" y="0"/>
                </a:lnTo>
                <a:lnTo>
                  <a:pt x="4502365" y="549069"/>
                </a:lnTo>
                <a:lnTo>
                  <a:pt x="0" y="549069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t="-109777" b="-109777"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139314" y="4457700"/>
            <a:ext cx="1566134" cy="320601"/>
          </a:xfrm>
          <a:prstGeom prst="rect">
            <a:avLst/>
          </a:prstGeom>
        </p:spPr>
        <p:txBody>
          <a:bodyPr wrap="none" lIns="0" tIns="0" rIns="0" bIns="0" rtlCol="0" anchor="ctr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 dirty="0">
                <a:solidFill>
                  <a:srgbClr val="5D86A6"/>
                </a:solidFill>
                <a:latin typeface="Inter Bold"/>
                <a:ea typeface="Inter Bold"/>
                <a:cs typeface="Inter Bold"/>
                <a:sym typeface="Inter Bold"/>
              </a:rPr>
              <a:t>Interactions</a:t>
            </a:r>
          </a:p>
        </p:txBody>
      </p:sp>
      <p:sp>
        <p:nvSpPr>
          <p:cNvPr id="25" name="Freeform 25"/>
          <p:cNvSpPr/>
          <p:nvPr/>
        </p:nvSpPr>
        <p:spPr>
          <a:xfrm>
            <a:off x="4973269" y="3326063"/>
            <a:ext cx="3944874" cy="1597628"/>
          </a:xfrm>
          <a:custGeom>
            <a:avLst/>
            <a:gdLst/>
            <a:ahLst/>
            <a:cxnLst/>
            <a:rect l="l" t="t" r="r" b="b"/>
            <a:pathLst>
              <a:path w="5259832" h="2130171">
                <a:moveTo>
                  <a:pt x="0" y="148209"/>
                </a:moveTo>
                <a:cubicBezTo>
                  <a:pt x="0" y="66294"/>
                  <a:pt x="66294" y="0"/>
                  <a:pt x="148209" y="0"/>
                </a:cubicBezTo>
                <a:lnTo>
                  <a:pt x="5111623" y="0"/>
                </a:lnTo>
                <a:cubicBezTo>
                  <a:pt x="5193411" y="0"/>
                  <a:pt x="5259832" y="66294"/>
                  <a:pt x="5259832" y="148209"/>
                </a:cubicBezTo>
                <a:lnTo>
                  <a:pt x="5259832" y="1981962"/>
                </a:lnTo>
                <a:cubicBezTo>
                  <a:pt x="5259832" y="2063750"/>
                  <a:pt x="5193538" y="2130171"/>
                  <a:pt x="5111623" y="2130171"/>
                </a:cubicBezTo>
                <a:lnTo>
                  <a:pt x="148209" y="2130171"/>
                </a:lnTo>
                <a:cubicBezTo>
                  <a:pt x="66294" y="2130171"/>
                  <a:pt x="0" y="2063877"/>
                  <a:pt x="0" y="1981962"/>
                </a:cubicBezTo>
                <a:close/>
              </a:path>
            </a:pathLst>
          </a:custGeom>
          <a:solidFill>
            <a:srgbClr val="FFFFFF"/>
          </a:solidFill>
          <a:ln w="19065" cap="sq">
            <a:solidFill>
              <a:srgbClr val="D9E2EA"/>
            </a:solidFill>
            <a:prstDash val="solid"/>
            <a:miter/>
          </a:ln>
        </p:spPr>
      </p:sp>
      <p:sp>
        <p:nvSpPr>
          <p:cNvPr id="27" name="Freeform 27"/>
          <p:cNvSpPr/>
          <p:nvPr/>
        </p:nvSpPr>
        <p:spPr>
          <a:xfrm>
            <a:off x="4973269" y="3326063"/>
            <a:ext cx="128873" cy="1597628"/>
          </a:xfrm>
          <a:custGeom>
            <a:avLst/>
            <a:gdLst/>
            <a:ahLst/>
            <a:cxnLst/>
            <a:rect l="l" t="t" r="r" b="b"/>
            <a:pathLst>
              <a:path w="171831" h="2130171">
                <a:moveTo>
                  <a:pt x="0" y="0"/>
                </a:moveTo>
                <a:lnTo>
                  <a:pt x="171831" y="0"/>
                </a:lnTo>
                <a:lnTo>
                  <a:pt x="171831" y="2130171"/>
                </a:lnTo>
                <a:lnTo>
                  <a:pt x="0" y="2130171"/>
                </a:lnTo>
                <a:close/>
              </a:path>
            </a:pathLst>
          </a:custGeom>
          <a:solidFill>
            <a:srgbClr val="447CE5"/>
          </a:solidFill>
          <a:ln w="19065" cap="sq">
            <a:solidFill>
              <a:srgbClr val="447CE5"/>
            </a:solidFill>
            <a:prstDash val="solid"/>
            <a:miter/>
          </a:ln>
        </p:spPr>
      </p:sp>
      <p:sp>
        <p:nvSpPr>
          <p:cNvPr id="29" name="Freeform 29"/>
          <p:cNvSpPr/>
          <p:nvPr/>
        </p:nvSpPr>
        <p:spPr>
          <a:xfrm>
            <a:off x="5325970" y="3719941"/>
            <a:ext cx="3376773" cy="617702"/>
          </a:xfrm>
          <a:custGeom>
            <a:avLst/>
            <a:gdLst/>
            <a:ahLst/>
            <a:cxnLst/>
            <a:rect l="l" t="t" r="r" b="b"/>
            <a:pathLst>
              <a:path w="4502365" h="823603">
                <a:moveTo>
                  <a:pt x="0" y="0"/>
                </a:moveTo>
                <a:lnTo>
                  <a:pt x="4502365" y="0"/>
                </a:lnTo>
                <a:lnTo>
                  <a:pt x="4502365" y="823603"/>
                </a:lnTo>
                <a:lnTo>
                  <a:pt x="0" y="823603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t="-56517" b="-56518"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5325970" y="3727085"/>
            <a:ext cx="3376774" cy="61056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5584"/>
              </a:lnSpc>
            </a:pPr>
            <a:r>
              <a:rPr lang="en-US" sz="4653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4.20M</a:t>
            </a:r>
          </a:p>
        </p:txBody>
      </p:sp>
      <p:sp>
        <p:nvSpPr>
          <p:cNvPr id="32" name="Freeform 32"/>
          <p:cNvSpPr/>
          <p:nvPr/>
        </p:nvSpPr>
        <p:spPr>
          <a:xfrm>
            <a:off x="5325970" y="4639637"/>
            <a:ext cx="3376773" cy="411802"/>
          </a:xfrm>
          <a:custGeom>
            <a:avLst/>
            <a:gdLst/>
            <a:ahLst/>
            <a:cxnLst/>
            <a:rect l="l" t="t" r="r" b="b"/>
            <a:pathLst>
              <a:path w="4502365" h="549069">
                <a:moveTo>
                  <a:pt x="0" y="0"/>
                </a:moveTo>
                <a:lnTo>
                  <a:pt x="4502365" y="0"/>
                </a:lnTo>
                <a:lnTo>
                  <a:pt x="4502365" y="549069"/>
                </a:lnTo>
                <a:lnTo>
                  <a:pt x="0" y="549069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t="-109777" b="-109777"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5325970" y="4457700"/>
            <a:ext cx="759823" cy="320601"/>
          </a:xfrm>
          <a:prstGeom prst="rect">
            <a:avLst/>
          </a:prstGeom>
        </p:spPr>
        <p:txBody>
          <a:bodyPr wrap="none" lIns="0" tIns="0" rIns="0" bIns="0" rtlCol="0" anchor="ctr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5D86A6"/>
                </a:solidFill>
                <a:latin typeface="Inter Bold"/>
                <a:ea typeface="Inter Bold"/>
                <a:cs typeface="Inter Bold"/>
                <a:sym typeface="Inter Bold"/>
              </a:rPr>
              <a:t>Users</a:t>
            </a:r>
          </a:p>
        </p:txBody>
      </p:sp>
      <p:sp>
        <p:nvSpPr>
          <p:cNvPr id="35" name="Freeform 35"/>
          <p:cNvSpPr/>
          <p:nvPr/>
        </p:nvSpPr>
        <p:spPr>
          <a:xfrm>
            <a:off x="9159916" y="3326063"/>
            <a:ext cx="3944874" cy="1597628"/>
          </a:xfrm>
          <a:custGeom>
            <a:avLst/>
            <a:gdLst/>
            <a:ahLst/>
            <a:cxnLst/>
            <a:rect l="l" t="t" r="r" b="b"/>
            <a:pathLst>
              <a:path w="5259832" h="2130171">
                <a:moveTo>
                  <a:pt x="0" y="148209"/>
                </a:moveTo>
                <a:cubicBezTo>
                  <a:pt x="0" y="66294"/>
                  <a:pt x="66294" y="0"/>
                  <a:pt x="148209" y="0"/>
                </a:cubicBezTo>
                <a:lnTo>
                  <a:pt x="5111623" y="0"/>
                </a:lnTo>
                <a:cubicBezTo>
                  <a:pt x="5193411" y="0"/>
                  <a:pt x="5259832" y="66294"/>
                  <a:pt x="5259832" y="148209"/>
                </a:cubicBezTo>
                <a:lnTo>
                  <a:pt x="5259832" y="1981962"/>
                </a:lnTo>
                <a:cubicBezTo>
                  <a:pt x="5259832" y="2063750"/>
                  <a:pt x="5193538" y="2130171"/>
                  <a:pt x="5111623" y="2130171"/>
                </a:cubicBezTo>
                <a:lnTo>
                  <a:pt x="148209" y="2130171"/>
                </a:lnTo>
                <a:cubicBezTo>
                  <a:pt x="66294" y="2130171"/>
                  <a:pt x="0" y="2063877"/>
                  <a:pt x="0" y="1981962"/>
                </a:cubicBezTo>
                <a:close/>
              </a:path>
            </a:pathLst>
          </a:custGeom>
          <a:solidFill>
            <a:srgbClr val="FFFFFF"/>
          </a:solidFill>
          <a:ln w="19065" cap="sq">
            <a:solidFill>
              <a:srgbClr val="D9E2EA"/>
            </a:solidFill>
            <a:prstDash val="solid"/>
            <a:miter/>
          </a:ln>
        </p:spPr>
      </p:sp>
      <p:sp>
        <p:nvSpPr>
          <p:cNvPr id="37" name="Freeform 37"/>
          <p:cNvSpPr/>
          <p:nvPr/>
        </p:nvSpPr>
        <p:spPr>
          <a:xfrm>
            <a:off x="9159916" y="3326063"/>
            <a:ext cx="128873" cy="1597628"/>
          </a:xfrm>
          <a:custGeom>
            <a:avLst/>
            <a:gdLst/>
            <a:ahLst/>
            <a:cxnLst/>
            <a:rect l="l" t="t" r="r" b="b"/>
            <a:pathLst>
              <a:path w="171831" h="2130171">
                <a:moveTo>
                  <a:pt x="0" y="0"/>
                </a:moveTo>
                <a:lnTo>
                  <a:pt x="171831" y="0"/>
                </a:lnTo>
                <a:lnTo>
                  <a:pt x="171831" y="2130171"/>
                </a:lnTo>
                <a:lnTo>
                  <a:pt x="0" y="2130171"/>
                </a:lnTo>
                <a:close/>
              </a:path>
            </a:pathLst>
          </a:custGeom>
          <a:solidFill>
            <a:srgbClr val="F29F05"/>
          </a:solidFill>
          <a:ln w="19065" cap="sq">
            <a:solidFill>
              <a:srgbClr val="F29F05"/>
            </a:solidFill>
            <a:prstDash val="solid"/>
            <a:miter/>
          </a:ln>
        </p:spPr>
      </p:sp>
      <p:sp>
        <p:nvSpPr>
          <p:cNvPr id="39" name="Freeform 39"/>
          <p:cNvSpPr/>
          <p:nvPr/>
        </p:nvSpPr>
        <p:spPr>
          <a:xfrm>
            <a:off x="9512618" y="3719941"/>
            <a:ext cx="3376773" cy="617702"/>
          </a:xfrm>
          <a:custGeom>
            <a:avLst/>
            <a:gdLst/>
            <a:ahLst/>
            <a:cxnLst/>
            <a:rect l="l" t="t" r="r" b="b"/>
            <a:pathLst>
              <a:path w="4502365" h="823603">
                <a:moveTo>
                  <a:pt x="0" y="0"/>
                </a:moveTo>
                <a:lnTo>
                  <a:pt x="4502365" y="0"/>
                </a:lnTo>
                <a:lnTo>
                  <a:pt x="4502365" y="823603"/>
                </a:lnTo>
                <a:lnTo>
                  <a:pt x="0" y="823603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t="-56517" b="-56518"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9512618" y="3727085"/>
            <a:ext cx="3376774" cy="61056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5584"/>
              </a:lnSpc>
            </a:pPr>
            <a:r>
              <a:rPr lang="en-US" sz="4653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476K</a:t>
            </a:r>
          </a:p>
        </p:txBody>
      </p:sp>
      <p:sp>
        <p:nvSpPr>
          <p:cNvPr id="42" name="Freeform 42"/>
          <p:cNvSpPr/>
          <p:nvPr/>
        </p:nvSpPr>
        <p:spPr>
          <a:xfrm>
            <a:off x="9512618" y="4639637"/>
            <a:ext cx="3376773" cy="411802"/>
          </a:xfrm>
          <a:custGeom>
            <a:avLst/>
            <a:gdLst/>
            <a:ahLst/>
            <a:cxnLst/>
            <a:rect l="l" t="t" r="r" b="b"/>
            <a:pathLst>
              <a:path w="4502365" h="549069">
                <a:moveTo>
                  <a:pt x="0" y="0"/>
                </a:moveTo>
                <a:lnTo>
                  <a:pt x="4502365" y="0"/>
                </a:lnTo>
                <a:lnTo>
                  <a:pt x="4502365" y="549069"/>
                </a:lnTo>
                <a:lnTo>
                  <a:pt x="0" y="549069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t="-109777" b="-109777"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9512618" y="4457700"/>
            <a:ext cx="1183016" cy="320601"/>
          </a:xfrm>
          <a:prstGeom prst="rect">
            <a:avLst/>
          </a:prstGeom>
        </p:spPr>
        <p:txBody>
          <a:bodyPr wrap="none" lIns="0" tIns="0" rIns="0" bIns="0" rtlCol="0" anchor="ctr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5D86A6"/>
                </a:solidFill>
                <a:latin typeface="Inter Bold"/>
                <a:ea typeface="Inter Bold"/>
                <a:cs typeface="Inter Bold"/>
                <a:sym typeface="Inter Bold"/>
              </a:rPr>
              <a:t>Products</a:t>
            </a:r>
          </a:p>
        </p:txBody>
      </p:sp>
      <p:sp>
        <p:nvSpPr>
          <p:cNvPr id="45" name="Freeform 45"/>
          <p:cNvSpPr/>
          <p:nvPr/>
        </p:nvSpPr>
        <p:spPr>
          <a:xfrm>
            <a:off x="13346573" y="3326063"/>
            <a:ext cx="3944874" cy="1597628"/>
          </a:xfrm>
          <a:custGeom>
            <a:avLst/>
            <a:gdLst/>
            <a:ahLst/>
            <a:cxnLst/>
            <a:rect l="l" t="t" r="r" b="b"/>
            <a:pathLst>
              <a:path w="5259832" h="2130171">
                <a:moveTo>
                  <a:pt x="0" y="148209"/>
                </a:moveTo>
                <a:cubicBezTo>
                  <a:pt x="0" y="66294"/>
                  <a:pt x="66294" y="0"/>
                  <a:pt x="148209" y="0"/>
                </a:cubicBezTo>
                <a:lnTo>
                  <a:pt x="5111623" y="0"/>
                </a:lnTo>
                <a:cubicBezTo>
                  <a:pt x="5193411" y="0"/>
                  <a:pt x="5259832" y="66294"/>
                  <a:pt x="5259832" y="148209"/>
                </a:cubicBezTo>
                <a:lnTo>
                  <a:pt x="5259832" y="1981962"/>
                </a:lnTo>
                <a:cubicBezTo>
                  <a:pt x="5259832" y="2063750"/>
                  <a:pt x="5193538" y="2130171"/>
                  <a:pt x="5111623" y="2130171"/>
                </a:cubicBezTo>
                <a:lnTo>
                  <a:pt x="148209" y="2130171"/>
                </a:lnTo>
                <a:cubicBezTo>
                  <a:pt x="66294" y="2130171"/>
                  <a:pt x="0" y="2063877"/>
                  <a:pt x="0" y="1981962"/>
                </a:cubicBezTo>
                <a:close/>
              </a:path>
            </a:pathLst>
          </a:custGeom>
          <a:solidFill>
            <a:srgbClr val="FFFFFF"/>
          </a:solidFill>
          <a:ln w="19065" cap="sq">
            <a:solidFill>
              <a:srgbClr val="D9E2EA"/>
            </a:solidFill>
            <a:prstDash val="solid"/>
            <a:miter/>
          </a:ln>
        </p:spPr>
      </p:sp>
      <p:sp>
        <p:nvSpPr>
          <p:cNvPr id="47" name="Freeform 47"/>
          <p:cNvSpPr/>
          <p:nvPr/>
        </p:nvSpPr>
        <p:spPr>
          <a:xfrm>
            <a:off x="13346573" y="3326063"/>
            <a:ext cx="128873" cy="1597628"/>
          </a:xfrm>
          <a:custGeom>
            <a:avLst/>
            <a:gdLst/>
            <a:ahLst/>
            <a:cxnLst/>
            <a:rect l="l" t="t" r="r" b="b"/>
            <a:pathLst>
              <a:path w="171831" h="2130171">
                <a:moveTo>
                  <a:pt x="0" y="0"/>
                </a:moveTo>
                <a:lnTo>
                  <a:pt x="171831" y="0"/>
                </a:lnTo>
                <a:lnTo>
                  <a:pt x="171831" y="2130171"/>
                </a:lnTo>
                <a:lnTo>
                  <a:pt x="0" y="2130171"/>
                </a:lnTo>
                <a:close/>
              </a:path>
            </a:pathLst>
          </a:custGeom>
          <a:solidFill>
            <a:srgbClr val="7E52E2"/>
          </a:solidFill>
          <a:ln w="19065" cap="sq">
            <a:solidFill>
              <a:srgbClr val="7E52E2"/>
            </a:solidFill>
            <a:prstDash val="solid"/>
            <a:miter/>
          </a:ln>
        </p:spPr>
      </p:sp>
      <p:sp>
        <p:nvSpPr>
          <p:cNvPr id="49" name="Freeform 49"/>
          <p:cNvSpPr/>
          <p:nvPr/>
        </p:nvSpPr>
        <p:spPr>
          <a:xfrm>
            <a:off x="13699274" y="3719941"/>
            <a:ext cx="3376773" cy="617702"/>
          </a:xfrm>
          <a:custGeom>
            <a:avLst/>
            <a:gdLst/>
            <a:ahLst/>
            <a:cxnLst/>
            <a:rect l="l" t="t" r="r" b="b"/>
            <a:pathLst>
              <a:path w="4502365" h="823603">
                <a:moveTo>
                  <a:pt x="0" y="0"/>
                </a:moveTo>
                <a:lnTo>
                  <a:pt x="4502365" y="0"/>
                </a:lnTo>
                <a:lnTo>
                  <a:pt x="4502365" y="823603"/>
                </a:lnTo>
                <a:lnTo>
                  <a:pt x="0" y="823603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t="-56517" b="-56518"/>
            </a:stretch>
          </a:blipFill>
        </p:spPr>
      </p:sp>
      <p:sp>
        <p:nvSpPr>
          <p:cNvPr id="50" name="TextBox 50"/>
          <p:cNvSpPr txBox="1"/>
          <p:nvPr/>
        </p:nvSpPr>
        <p:spPr>
          <a:xfrm>
            <a:off x="13699274" y="3727085"/>
            <a:ext cx="3376774" cy="61056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5584"/>
              </a:lnSpc>
            </a:pPr>
            <a:r>
              <a:rPr lang="en-US" sz="4653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99.9996%</a:t>
            </a:r>
          </a:p>
        </p:txBody>
      </p:sp>
      <p:sp>
        <p:nvSpPr>
          <p:cNvPr id="52" name="Freeform 52"/>
          <p:cNvSpPr/>
          <p:nvPr/>
        </p:nvSpPr>
        <p:spPr>
          <a:xfrm>
            <a:off x="13699274" y="4639637"/>
            <a:ext cx="3376773" cy="411802"/>
          </a:xfrm>
          <a:custGeom>
            <a:avLst/>
            <a:gdLst/>
            <a:ahLst/>
            <a:cxnLst/>
            <a:rect l="l" t="t" r="r" b="b"/>
            <a:pathLst>
              <a:path w="4502365" h="549069">
                <a:moveTo>
                  <a:pt x="0" y="0"/>
                </a:moveTo>
                <a:lnTo>
                  <a:pt x="4502365" y="0"/>
                </a:lnTo>
                <a:lnTo>
                  <a:pt x="4502365" y="549069"/>
                </a:lnTo>
                <a:lnTo>
                  <a:pt x="0" y="549069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t="-109777" b="-109777"/>
            </a:stretch>
          </a:blipFill>
        </p:spPr>
      </p:sp>
      <p:sp>
        <p:nvSpPr>
          <p:cNvPr id="53" name="TextBox 53"/>
          <p:cNvSpPr txBox="1"/>
          <p:nvPr/>
        </p:nvSpPr>
        <p:spPr>
          <a:xfrm>
            <a:off x="13699274" y="4457700"/>
            <a:ext cx="1086836" cy="320601"/>
          </a:xfrm>
          <a:prstGeom prst="rect">
            <a:avLst/>
          </a:prstGeom>
        </p:spPr>
        <p:txBody>
          <a:bodyPr wrap="none" lIns="0" tIns="0" rIns="0" bIns="0" rtlCol="0" anchor="ctr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5D86A6"/>
                </a:solidFill>
                <a:latin typeface="Inter Bold"/>
                <a:ea typeface="Inter Bold"/>
                <a:cs typeface="Inter Bold"/>
                <a:sym typeface="Inter Bold"/>
              </a:rPr>
              <a:t>Sparsity</a:t>
            </a:r>
          </a:p>
        </p:txBody>
      </p:sp>
      <p:sp>
        <p:nvSpPr>
          <p:cNvPr id="55" name="Freeform 55"/>
          <p:cNvSpPr/>
          <p:nvPr/>
        </p:nvSpPr>
        <p:spPr>
          <a:xfrm>
            <a:off x="786622" y="5385073"/>
            <a:ext cx="9106185" cy="4280030"/>
          </a:xfrm>
          <a:custGeom>
            <a:avLst/>
            <a:gdLst/>
            <a:ahLst/>
            <a:cxnLst/>
            <a:rect l="l" t="t" r="r" b="b"/>
            <a:pathLst>
              <a:path w="12141581" h="5333111">
                <a:moveTo>
                  <a:pt x="0" y="183896"/>
                </a:moveTo>
                <a:cubicBezTo>
                  <a:pt x="0" y="82296"/>
                  <a:pt x="82296" y="0"/>
                  <a:pt x="183896" y="0"/>
                </a:cubicBezTo>
                <a:lnTo>
                  <a:pt x="11957685" y="0"/>
                </a:lnTo>
                <a:cubicBezTo>
                  <a:pt x="12059285" y="0"/>
                  <a:pt x="12141581" y="82296"/>
                  <a:pt x="12141581" y="183896"/>
                </a:cubicBezTo>
                <a:lnTo>
                  <a:pt x="12141581" y="5149215"/>
                </a:lnTo>
                <a:cubicBezTo>
                  <a:pt x="12141581" y="5250815"/>
                  <a:pt x="12059285" y="5333111"/>
                  <a:pt x="11957685" y="5333111"/>
                </a:cubicBezTo>
                <a:lnTo>
                  <a:pt x="183896" y="5333111"/>
                </a:lnTo>
                <a:cubicBezTo>
                  <a:pt x="82296" y="5333111"/>
                  <a:pt x="0" y="5250815"/>
                  <a:pt x="0" y="5149215"/>
                </a:cubicBezTo>
                <a:close/>
              </a:path>
            </a:pathLst>
          </a:custGeom>
          <a:solidFill>
            <a:srgbClr val="FFFFFF"/>
          </a:solidFill>
          <a:ln w="19065" cap="sq">
            <a:solidFill>
              <a:srgbClr val="D9E2EA"/>
            </a:solidFill>
            <a:prstDash val="solid"/>
            <a:miter/>
          </a:ln>
        </p:spPr>
      </p:sp>
      <p:sp>
        <p:nvSpPr>
          <p:cNvPr id="59" name="Freeform 59"/>
          <p:cNvSpPr/>
          <p:nvPr/>
        </p:nvSpPr>
        <p:spPr>
          <a:xfrm>
            <a:off x="1221676" y="5833853"/>
            <a:ext cx="7686966" cy="411802"/>
          </a:xfrm>
          <a:custGeom>
            <a:avLst/>
            <a:gdLst/>
            <a:ahLst/>
            <a:cxnLst/>
            <a:rect l="l" t="t" r="r" b="b"/>
            <a:pathLst>
              <a:path w="10249288" h="549069">
                <a:moveTo>
                  <a:pt x="0" y="0"/>
                </a:moveTo>
                <a:lnTo>
                  <a:pt x="10249288" y="0"/>
                </a:lnTo>
                <a:lnTo>
                  <a:pt x="10249288" y="549069"/>
                </a:lnTo>
                <a:lnTo>
                  <a:pt x="0" y="549069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t="-313720" b="-313720"/>
            </a:stretch>
          </a:blipFill>
        </p:spPr>
      </p:sp>
      <p:sp>
        <p:nvSpPr>
          <p:cNvPr id="60" name="TextBox 60"/>
          <p:cNvSpPr txBox="1"/>
          <p:nvPr/>
        </p:nvSpPr>
        <p:spPr>
          <a:xfrm>
            <a:off x="1221676" y="5826709"/>
            <a:ext cx="7686961" cy="41894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3422"/>
              </a:lnSpc>
            </a:pPr>
            <a:r>
              <a:rPr lang="en-US" sz="2852" b="1" dirty="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Why this dataset is challenging</a:t>
            </a:r>
          </a:p>
        </p:txBody>
      </p:sp>
      <p:sp>
        <p:nvSpPr>
          <p:cNvPr id="64" name="Freeform 64"/>
          <p:cNvSpPr/>
          <p:nvPr/>
        </p:nvSpPr>
        <p:spPr>
          <a:xfrm>
            <a:off x="1482490" y="6533921"/>
            <a:ext cx="7343797" cy="576523"/>
          </a:xfrm>
          <a:custGeom>
            <a:avLst/>
            <a:gdLst/>
            <a:ahLst/>
            <a:cxnLst/>
            <a:rect l="l" t="t" r="r" b="b"/>
            <a:pathLst>
              <a:path w="9791729" h="768697">
                <a:moveTo>
                  <a:pt x="0" y="0"/>
                </a:moveTo>
                <a:lnTo>
                  <a:pt x="9791729" y="0"/>
                </a:lnTo>
                <a:lnTo>
                  <a:pt x="9791729" y="768697"/>
                </a:lnTo>
                <a:lnTo>
                  <a:pt x="0" y="768697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t="-198202" b="-198201"/>
            </a:stretch>
          </a:blipFill>
        </p:spPr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02C37BB-1217-986A-BC4F-1C7793202F52}"/>
              </a:ext>
            </a:extLst>
          </p:cNvPr>
          <p:cNvGrpSpPr/>
          <p:nvPr/>
        </p:nvGrpSpPr>
        <p:grpSpPr>
          <a:xfrm>
            <a:off x="1212142" y="6650110"/>
            <a:ext cx="8190347" cy="339773"/>
            <a:chOff x="1212142" y="6650110"/>
            <a:chExt cx="8190347" cy="339773"/>
          </a:xfrm>
        </p:grpSpPr>
        <p:sp>
          <p:nvSpPr>
            <p:cNvPr id="62" name="Freeform 62"/>
            <p:cNvSpPr/>
            <p:nvPr/>
          </p:nvSpPr>
          <p:spPr>
            <a:xfrm>
              <a:off x="1212142" y="6755512"/>
              <a:ext cx="128969" cy="128969"/>
            </a:xfrm>
            <a:custGeom>
              <a:avLst/>
              <a:gdLst/>
              <a:ahLst/>
              <a:cxnLst/>
              <a:rect l="l" t="t" r="r" b="b"/>
              <a:pathLst>
                <a:path w="171958" h="171958">
                  <a:moveTo>
                    <a:pt x="0" y="85979"/>
                  </a:moveTo>
                  <a:cubicBezTo>
                    <a:pt x="0" y="38481"/>
                    <a:pt x="38481" y="0"/>
                    <a:pt x="85979" y="0"/>
                  </a:cubicBezTo>
                  <a:cubicBezTo>
                    <a:pt x="133477" y="0"/>
                    <a:pt x="171958" y="38481"/>
                    <a:pt x="171958" y="85979"/>
                  </a:cubicBezTo>
                  <a:cubicBezTo>
                    <a:pt x="171958" y="133477"/>
                    <a:pt x="133477" y="171958"/>
                    <a:pt x="85979" y="171958"/>
                  </a:cubicBezTo>
                  <a:cubicBezTo>
                    <a:pt x="38481" y="171958"/>
                    <a:pt x="0" y="133350"/>
                    <a:pt x="0" y="85979"/>
                  </a:cubicBezTo>
                  <a:close/>
                </a:path>
              </a:pathLst>
            </a:custGeom>
            <a:solidFill>
              <a:srgbClr val="2A8C8C"/>
            </a:solidFill>
            <a:ln w="19065" cap="sq">
              <a:solidFill>
                <a:srgbClr val="2A8C8C"/>
              </a:solidFill>
              <a:prstDash val="solid"/>
              <a:miter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482489" y="6650110"/>
              <a:ext cx="7920000" cy="339773"/>
            </a:xfrm>
            <a:prstGeom prst="rect">
              <a:avLst/>
            </a:prstGeom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ts val="2756"/>
                </a:lnSpc>
              </a:pPr>
              <a:r>
                <a:rPr lang="en-US" sz="2296" dirty="0">
                  <a:solidFill>
                    <a:srgbClr val="2E4053"/>
                  </a:solidFill>
                  <a:latin typeface="Inter"/>
                  <a:ea typeface="Inter"/>
                  <a:cs typeface="Inter"/>
                  <a:sym typeface="Inter"/>
                </a:rPr>
                <a:t>Median user history: 1 rating</a:t>
              </a:r>
            </a:p>
          </p:txBody>
        </p:sp>
      </p:grpSp>
      <p:sp>
        <p:nvSpPr>
          <p:cNvPr id="69" name="Freeform 69"/>
          <p:cNvSpPr/>
          <p:nvPr/>
        </p:nvSpPr>
        <p:spPr>
          <a:xfrm>
            <a:off x="1482490" y="7288892"/>
            <a:ext cx="7343797" cy="576523"/>
          </a:xfrm>
          <a:custGeom>
            <a:avLst/>
            <a:gdLst/>
            <a:ahLst/>
            <a:cxnLst/>
            <a:rect l="l" t="t" r="r" b="b"/>
            <a:pathLst>
              <a:path w="9791729" h="768697">
                <a:moveTo>
                  <a:pt x="0" y="0"/>
                </a:moveTo>
                <a:lnTo>
                  <a:pt x="9791729" y="0"/>
                </a:lnTo>
                <a:lnTo>
                  <a:pt x="9791729" y="768697"/>
                </a:lnTo>
                <a:lnTo>
                  <a:pt x="0" y="768697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t="-198202" b="-198201"/>
            </a:stretch>
          </a:blipFill>
        </p:spPr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A1F6DEA1-3FA2-7D56-798E-FA30A2A5E0B7}"/>
              </a:ext>
            </a:extLst>
          </p:cNvPr>
          <p:cNvGrpSpPr/>
          <p:nvPr/>
        </p:nvGrpSpPr>
        <p:grpSpPr>
          <a:xfrm>
            <a:off x="1212142" y="7405081"/>
            <a:ext cx="8190348" cy="339773"/>
            <a:chOff x="1212142" y="7405081"/>
            <a:chExt cx="8190348" cy="339773"/>
          </a:xfrm>
        </p:grpSpPr>
        <p:sp>
          <p:nvSpPr>
            <p:cNvPr id="67" name="Freeform 67"/>
            <p:cNvSpPr/>
            <p:nvPr/>
          </p:nvSpPr>
          <p:spPr>
            <a:xfrm>
              <a:off x="1212142" y="7510483"/>
              <a:ext cx="128969" cy="128969"/>
            </a:xfrm>
            <a:custGeom>
              <a:avLst/>
              <a:gdLst/>
              <a:ahLst/>
              <a:cxnLst/>
              <a:rect l="l" t="t" r="r" b="b"/>
              <a:pathLst>
                <a:path w="171958" h="171958">
                  <a:moveTo>
                    <a:pt x="0" y="85979"/>
                  </a:moveTo>
                  <a:cubicBezTo>
                    <a:pt x="0" y="38481"/>
                    <a:pt x="38481" y="0"/>
                    <a:pt x="85979" y="0"/>
                  </a:cubicBezTo>
                  <a:cubicBezTo>
                    <a:pt x="133477" y="0"/>
                    <a:pt x="171958" y="38481"/>
                    <a:pt x="171958" y="85979"/>
                  </a:cubicBezTo>
                  <a:cubicBezTo>
                    <a:pt x="171958" y="133477"/>
                    <a:pt x="133477" y="171958"/>
                    <a:pt x="85979" y="171958"/>
                  </a:cubicBezTo>
                  <a:cubicBezTo>
                    <a:pt x="38481" y="171958"/>
                    <a:pt x="0" y="133350"/>
                    <a:pt x="0" y="85979"/>
                  </a:cubicBezTo>
                  <a:close/>
                </a:path>
              </a:pathLst>
            </a:custGeom>
            <a:solidFill>
              <a:srgbClr val="2A8C8C"/>
            </a:solidFill>
            <a:ln w="19065" cap="sq">
              <a:solidFill>
                <a:srgbClr val="2A8C8C"/>
              </a:solidFill>
              <a:prstDash val="solid"/>
              <a:miter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482490" y="7405081"/>
              <a:ext cx="7920000" cy="339773"/>
            </a:xfrm>
            <a:prstGeom prst="rect">
              <a:avLst/>
            </a:prstGeom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ts val="2756"/>
                </a:lnSpc>
              </a:pPr>
              <a:r>
                <a:rPr lang="en-US" sz="2296">
                  <a:solidFill>
                    <a:srgbClr val="2E4053"/>
                  </a:solidFill>
                  <a:latin typeface="Inter"/>
                  <a:ea typeface="Inter"/>
                  <a:cs typeface="Inter"/>
                  <a:sym typeface="Inter"/>
                </a:rPr>
                <a:t>37.76% of products have exactly 1 rating</a:t>
              </a:r>
            </a:p>
          </p:txBody>
        </p:sp>
      </p:grpSp>
      <p:sp>
        <p:nvSpPr>
          <p:cNvPr id="74" name="Freeform 74"/>
          <p:cNvSpPr/>
          <p:nvPr/>
        </p:nvSpPr>
        <p:spPr>
          <a:xfrm>
            <a:off x="1482490" y="8043862"/>
            <a:ext cx="7343797" cy="576523"/>
          </a:xfrm>
          <a:custGeom>
            <a:avLst/>
            <a:gdLst/>
            <a:ahLst/>
            <a:cxnLst/>
            <a:rect l="l" t="t" r="r" b="b"/>
            <a:pathLst>
              <a:path w="9791729" h="768697">
                <a:moveTo>
                  <a:pt x="0" y="0"/>
                </a:moveTo>
                <a:lnTo>
                  <a:pt x="9791729" y="0"/>
                </a:lnTo>
                <a:lnTo>
                  <a:pt x="9791729" y="768697"/>
                </a:lnTo>
                <a:lnTo>
                  <a:pt x="0" y="768697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t="-198202" b="-198201"/>
            </a:stretch>
          </a:blipFill>
        </p:spPr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37A02E09-A5C6-6BD8-5294-F549C16A2C94}"/>
              </a:ext>
            </a:extLst>
          </p:cNvPr>
          <p:cNvGrpSpPr/>
          <p:nvPr/>
        </p:nvGrpSpPr>
        <p:grpSpPr>
          <a:xfrm>
            <a:off x="1212142" y="7982699"/>
            <a:ext cx="8190348" cy="698846"/>
            <a:chOff x="1212142" y="7982699"/>
            <a:chExt cx="8190348" cy="698846"/>
          </a:xfrm>
        </p:grpSpPr>
        <p:sp>
          <p:nvSpPr>
            <p:cNvPr id="72" name="Freeform 72"/>
            <p:cNvSpPr/>
            <p:nvPr/>
          </p:nvSpPr>
          <p:spPr>
            <a:xfrm>
              <a:off x="1212142" y="8267638"/>
              <a:ext cx="128969" cy="128969"/>
            </a:xfrm>
            <a:custGeom>
              <a:avLst/>
              <a:gdLst/>
              <a:ahLst/>
              <a:cxnLst/>
              <a:rect l="l" t="t" r="r" b="b"/>
              <a:pathLst>
                <a:path w="171958" h="171958">
                  <a:moveTo>
                    <a:pt x="0" y="85979"/>
                  </a:moveTo>
                  <a:cubicBezTo>
                    <a:pt x="0" y="38481"/>
                    <a:pt x="38481" y="0"/>
                    <a:pt x="85979" y="0"/>
                  </a:cubicBezTo>
                  <a:cubicBezTo>
                    <a:pt x="133477" y="0"/>
                    <a:pt x="171958" y="38481"/>
                    <a:pt x="171958" y="85979"/>
                  </a:cubicBezTo>
                  <a:cubicBezTo>
                    <a:pt x="171958" y="133477"/>
                    <a:pt x="133477" y="171958"/>
                    <a:pt x="85979" y="171958"/>
                  </a:cubicBezTo>
                  <a:cubicBezTo>
                    <a:pt x="38481" y="171958"/>
                    <a:pt x="0" y="133350"/>
                    <a:pt x="0" y="85979"/>
                  </a:cubicBezTo>
                  <a:close/>
                </a:path>
              </a:pathLst>
            </a:custGeom>
            <a:solidFill>
              <a:srgbClr val="2A8C8C"/>
            </a:solidFill>
            <a:ln w="19065" cap="sq">
              <a:solidFill>
                <a:srgbClr val="2A8C8C"/>
              </a:solidFill>
              <a:prstDash val="solid"/>
              <a:miter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482490" y="7982699"/>
              <a:ext cx="7920000" cy="698846"/>
            </a:xfrm>
            <a:prstGeom prst="rect">
              <a:avLst/>
            </a:prstGeom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ts val="2756"/>
                </a:lnSpc>
              </a:pPr>
              <a:r>
                <a:rPr lang="en-US" sz="2296" dirty="0">
                  <a:solidFill>
                    <a:srgbClr val="2E4053"/>
                  </a:solidFill>
                  <a:latin typeface="Inter"/>
                  <a:ea typeface="Inter"/>
                  <a:cs typeface="Inter"/>
                  <a:sym typeface="Inter"/>
                </a:rPr>
                <a:t>A dense user-product matrix would require about 14,901 GiB</a:t>
              </a:r>
            </a:p>
          </p:txBody>
        </p:sp>
      </p:grpSp>
      <p:sp>
        <p:nvSpPr>
          <p:cNvPr id="79" name="Freeform 79"/>
          <p:cNvSpPr/>
          <p:nvPr/>
        </p:nvSpPr>
        <p:spPr>
          <a:xfrm>
            <a:off x="1482490" y="8798833"/>
            <a:ext cx="7343797" cy="576523"/>
          </a:xfrm>
          <a:custGeom>
            <a:avLst/>
            <a:gdLst/>
            <a:ahLst/>
            <a:cxnLst/>
            <a:rect l="l" t="t" r="r" b="b"/>
            <a:pathLst>
              <a:path w="9791729" h="768697">
                <a:moveTo>
                  <a:pt x="0" y="0"/>
                </a:moveTo>
                <a:lnTo>
                  <a:pt x="9791729" y="0"/>
                </a:lnTo>
                <a:lnTo>
                  <a:pt x="9791729" y="768697"/>
                </a:lnTo>
                <a:lnTo>
                  <a:pt x="0" y="768697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t="-198202" b="-198201"/>
            </a:stretch>
          </a:blipFill>
        </p:spPr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E6D257E6-8287-FCF5-7D63-814DE3EB1868}"/>
              </a:ext>
            </a:extLst>
          </p:cNvPr>
          <p:cNvGrpSpPr/>
          <p:nvPr/>
        </p:nvGrpSpPr>
        <p:grpSpPr>
          <a:xfrm>
            <a:off x="1212142" y="8737670"/>
            <a:ext cx="8190348" cy="698846"/>
            <a:chOff x="1212142" y="8737670"/>
            <a:chExt cx="8190348" cy="698846"/>
          </a:xfrm>
        </p:grpSpPr>
        <p:sp>
          <p:nvSpPr>
            <p:cNvPr id="77" name="Freeform 77"/>
            <p:cNvSpPr/>
            <p:nvPr/>
          </p:nvSpPr>
          <p:spPr>
            <a:xfrm>
              <a:off x="1212142" y="9022609"/>
              <a:ext cx="128969" cy="128969"/>
            </a:xfrm>
            <a:custGeom>
              <a:avLst/>
              <a:gdLst/>
              <a:ahLst/>
              <a:cxnLst/>
              <a:rect l="l" t="t" r="r" b="b"/>
              <a:pathLst>
                <a:path w="171958" h="171958">
                  <a:moveTo>
                    <a:pt x="0" y="85979"/>
                  </a:moveTo>
                  <a:cubicBezTo>
                    <a:pt x="0" y="38481"/>
                    <a:pt x="38481" y="0"/>
                    <a:pt x="85979" y="0"/>
                  </a:cubicBezTo>
                  <a:cubicBezTo>
                    <a:pt x="133477" y="0"/>
                    <a:pt x="171958" y="38481"/>
                    <a:pt x="171958" y="85979"/>
                  </a:cubicBezTo>
                  <a:cubicBezTo>
                    <a:pt x="171958" y="133477"/>
                    <a:pt x="133477" y="171958"/>
                    <a:pt x="85979" y="171958"/>
                  </a:cubicBezTo>
                  <a:cubicBezTo>
                    <a:pt x="38481" y="171958"/>
                    <a:pt x="0" y="133350"/>
                    <a:pt x="0" y="85979"/>
                  </a:cubicBezTo>
                  <a:close/>
                </a:path>
              </a:pathLst>
            </a:custGeom>
            <a:solidFill>
              <a:srgbClr val="2A8C8C"/>
            </a:solidFill>
            <a:ln w="19065" cap="sq">
              <a:solidFill>
                <a:srgbClr val="2A8C8C"/>
              </a:solidFill>
              <a:prstDash val="solid"/>
              <a:miter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482490" y="8737670"/>
              <a:ext cx="7920000" cy="698846"/>
            </a:xfrm>
            <a:prstGeom prst="rect">
              <a:avLst/>
            </a:prstGeom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ts val="2756"/>
                </a:lnSpc>
              </a:pPr>
              <a:r>
                <a:rPr lang="en-US" sz="2296" dirty="0">
                  <a:solidFill>
                    <a:srgbClr val="2E4053"/>
                  </a:solidFill>
                  <a:latin typeface="Inter"/>
                  <a:ea typeface="Inter"/>
                  <a:cs typeface="Inter"/>
                  <a:sym typeface="Inter"/>
                </a:rPr>
                <a:t>The solution therefore uses chunked processing and sparse representations</a:t>
              </a:r>
            </a:p>
          </p:txBody>
        </p:sp>
      </p:grpSp>
      <p:pic>
        <p:nvPicPr>
          <p:cNvPr id="138" name="Picture 137">
            <a:extLst>
              <a:ext uri="{FF2B5EF4-FFF2-40B4-BE49-F238E27FC236}">
                <a16:creationId xmlns:a16="http://schemas.microsoft.com/office/drawing/2014/main" id="{330E043D-7770-5E8C-6CE0-EAE026BD949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59" t="2848" b="3578"/>
          <a:stretch>
            <a:fillRect/>
          </a:stretch>
        </p:blipFill>
        <p:spPr>
          <a:xfrm>
            <a:off x="10790477" y="5955908"/>
            <a:ext cx="5897323" cy="3419448"/>
          </a:xfrm>
          <a:prstGeom prst="rect">
            <a:avLst/>
          </a:prstGeom>
        </p:spPr>
      </p:pic>
      <p:sp>
        <p:nvSpPr>
          <p:cNvPr id="139" name="Freeform 59">
            <a:extLst>
              <a:ext uri="{FF2B5EF4-FFF2-40B4-BE49-F238E27FC236}">
                <a16:creationId xmlns:a16="http://schemas.microsoft.com/office/drawing/2014/main" id="{D2BCA836-7F7A-C2FB-7282-153BC1A1F48A}"/>
              </a:ext>
            </a:extLst>
          </p:cNvPr>
          <p:cNvSpPr/>
          <p:nvPr/>
        </p:nvSpPr>
        <p:spPr>
          <a:xfrm>
            <a:off x="10370471" y="5833853"/>
            <a:ext cx="7686966" cy="411802"/>
          </a:xfrm>
          <a:custGeom>
            <a:avLst/>
            <a:gdLst/>
            <a:ahLst/>
            <a:cxnLst/>
            <a:rect l="l" t="t" r="r" b="b"/>
            <a:pathLst>
              <a:path w="10249288" h="549069">
                <a:moveTo>
                  <a:pt x="0" y="0"/>
                </a:moveTo>
                <a:lnTo>
                  <a:pt x="10249288" y="0"/>
                </a:lnTo>
                <a:lnTo>
                  <a:pt x="10249288" y="549069"/>
                </a:lnTo>
                <a:lnTo>
                  <a:pt x="0" y="549069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t="-313720" b="-313720"/>
            </a:stretch>
          </a:blipFill>
        </p:spPr>
      </p:sp>
      <p:sp>
        <p:nvSpPr>
          <p:cNvPr id="140" name="TextBox 60">
            <a:extLst>
              <a:ext uri="{FF2B5EF4-FFF2-40B4-BE49-F238E27FC236}">
                <a16:creationId xmlns:a16="http://schemas.microsoft.com/office/drawing/2014/main" id="{9A523841-5144-5723-4B1A-9F3E20275811}"/>
              </a:ext>
            </a:extLst>
          </p:cNvPr>
          <p:cNvSpPr txBox="1"/>
          <p:nvPr/>
        </p:nvSpPr>
        <p:spPr>
          <a:xfrm>
            <a:off x="10477029" y="5471260"/>
            <a:ext cx="5996834" cy="36933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r>
              <a:rPr lang="en-IN" sz="2400" b="1" dirty="0">
                <a:latin typeface="Inter" panose="020B0604020202020204" charset="0"/>
                <a:ea typeface="Inter" panose="020B0604020202020204" charset="0"/>
              </a:rPr>
              <a:t>User-product interaction matrix - Sparsity</a:t>
            </a:r>
            <a:endParaRPr lang="en-US" sz="2400" b="1" dirty="0">
              <a:solidFill>
                <a:srgbClr val="17324D"/>
              </a:solidFill>
              <a:latin typeface="Inter" panose="020B0604020202020204" charset="0"/>
              <a:ea typeface="Inter" panose="020B0604020202020204" charset="0"/>
              <a:cs typeface="Inter Bold"/>
              <a:sym typeface="Inter Bold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41478DE7-BF25-9DEE-7121-7651AA8D62B7}"/>
              </a:ext>
            </a:extLst>
          </p:cNvPr>
          <p:cNvSpPr txBox="1"/>
          <p:nvPr/>
        </p:nvSpPr>
        <p:spPr>
          <a:xfrm>
            <a:off x="10335357" y="7326358"/>
            <a:ext cx="461665" cy="71750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IN" b="1" dirty="0">
                <a:latin typeface="Inter" panose="020B0604020202020204" charset="0"/>
                <a:ea typeface="Inter" panose="020B0604020202020204" charset="0"/>
              </a:rPr>
              <a:t>Users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053C4D2F-7F49-F381-C62B-91110D70D80B}"/>
              </a:ext>
            </a:extLst>
          </p:cNvPr>
          <p:cNvSpPr txBox="1"/>
          <p:nvPr/>
        </p:nvSpPr>
        <p:spPr>
          <a:xfrm>
            <a:off x="13164301" y="9436516"/>
            <a:ext cx="1149674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IN" b="1" dirty="0">
                <a:latin typeface="Inter" panose="020B0604020202020204" charset="0"/>
                <a:ea typeface="Inter" panose="020B0604020202020204" charset="0"/>
              </a:rPr>
              <a:t>Products</a:t>
            </a:r>
          </a:p>
        </p:txBody>
      </p:sp>
      <p:pic>
        <p:nvPicPr>
          <p:cNvPr id="38" name="Audio 37">
            <a:hlinkClick r:id="" action="ppaction://media"/>
            <a:extLst>
              <a:ext uri="{FF2B5EF4-FFF2-40B4-BE49-F238E27FC236}">
                <a16:creationId xmlns:a16="http://schemas.microsoft.com/office/drawing/2014/main" id="{06130EB9-31A7-2EA7-F904-2165963A117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329688" t="-329688" r="-329688" b="-329688"/>
          <a:stretch>
            <a:fillRect/>
          </a:stretch>
        </p:blipFill>
        <p:spPr>
          <a:xfrm>
            <a:off x="15078456" y="7077456"/>
            <a:ext cx="3086100" cy="30861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413"/>
    </mc:Choice>
    <mc:Fallback xmlns="">
      <p:transition spd="slow" advTm="324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786003" y="580263"/>
            <a:ext cx="1088898" cy="128778"/>
          </a:xfrm>
          <a:custGeom>
            <a:avLst/>
            <a:gdLst/>
            <a:ahLst/>
            <a:cxnLst/>
            <a:rect l="l" t="t" r="r" b="b"/>
            <a:pathLst>
              <a:path w="1451864" h="171704">
                <a:moveTo>
                  <a:pt x="0" y="85852"/>
                </a:moveTo>
                <a:cubicBezTo>
                  <a:pt x="0" y="38481"/>
                  <a:pt x="38481" y="0"/>
                  <a:pt x="85852" y="0"/>
                </a:cubicBezTo>
                <a:lnTo>
                  <a:pt x="1366012" y="0"/>
                </a:lnTo>
                <a:cubicBezTo>
                  <a:pt x="1413383" y="0"/>
                  <a:pt x="1451864" y="38481"/>
                  <a:pt x="1451864" y="85852"/>
                </a:cubicBezTo>
                <a:cubicBezTo>
                  <a:pt x="1451864" y="133223"/>
                  <a:pt x="1413383" y="171704"/>
                  <a:pt x="1366012" y="171704"/>
                </a:cubicBezTo>
                <a:lnTo>
                  <a:pt x="85852" y="171704"/>
                </a:lnTo>
                <a:cubicBezTo>
                  <a:pt x="38481" y="171704"/>
                  <a:pt x="0" y="133223"/>
                  <a:pt x="0" y="85852"/>
                </a:cubicBezTo>
                <a:close/>
              </a:path>
            </a:pathLst>
          </a:custGeom>
          <a:solidFill>
            <a:srgbClr val="2A8C8C"/>
          </a:solidFill>
          <a:ln w="19050" cap="sq">
            <a:solidFill>
              <a:srgbClr val="2A8C8C"/>
            </a:solidFill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795528" y="960120"/>
            <a:ext cx="16322040" cy="630936"/>
          </a:xfrm>
          <a:custGeom>
            <a:avLst/>
            <a:gdLst/>
            <a:ahLst/>
            <a:cxnLst/>
            <a:rect l="l" t="t" r="r" b="b"/>
            <a:pathLst>
              <a:path w="21762720" h="841248">
                <a:moveTo>
                  <a:pt x="0" y="0"/>
                </a:moveTo>
                <a:lnTo>
                  <a:pt x="21762720" y="0"/>
                </a:lnTo>
                <a:lnTo>
                  <a:pt x="21762720" y="841248"/>
                </a:lnTo>
                <a:lnTo>
                  <a:pt x="0" y="841248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t="-454069" b="-454069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95528" y="960120"/>
            <a:ext cx="16322040" cy="63093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From Raw Ratings to a Leakage-Safe Modelling Dataset</a:t>
            </a:r>
          </a:p>
        </p:txBody>
      </p:sp>
      <p:sp>
        <p:nvSpPr>
          <p:cNvPr id="8" name="Freeform 8"/>
          <p:cNvSpPr/>
          <p:nvPr/>
        </p:nvSpPr>
        <p:spPr>
          <a:xfrm>
            <a:off x="795528" y="1604772"/>
            <a:ext cx="14813279" cy="356616"/>
          </a:xfrm>
          <a:custGeom>
            <a:avLst/>
            <a:gdLst/>
            <a:ahLst/>
            <a:cxnLst/>
            <a:rect l="l" t="t" r="r" b="b"/>
            <a:pathLst>
              <a:path w="19751039" h="475488">
                <a:moveTo>
                  <a:pt x="0" y="0"/>
                </a:moveTo>
                <a:lnTo>
                  <a:pt x="19751039" y="0"/>
                </a:lnTo>
                <a:lnTo>
                  <a:pt x="19751039" y="475488"/>
                </a:lnTo>
                <a:lnTo>
                  <a:pt x="0" y="475488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t="-759378" b="-759378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95528" y="1604772"/>
            <a:ext cx="14813280" cy="35661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Observed rating pattern informs the training and evaluation design.</a:t>
            </a:r>
          </a:p>
        </p:txBody>
      </p:sp>
      <p:sp>
        <p:nvSpPr>
          <p:cNvPr id="13" name="Freeform 13"/>
          <p:cNvSpPr/>
          <p:nvPr/>
        </p:nvSpPr>
        <p:spPr>
          <a:xfrm>
            <a:off x="9144000" y="2239898"/>
            <a:ext cx="8353425" cy="4311013"/>
          </a:xfrm>
          <a:custGeom>
            <a:avLst/>
            <a:gdLst/>
            <a:ahLst/>
            <a:cxnLst/>
            <a:rect l="l" t="t" r="r" b="b"/>
            <a:pathLst>
              <a:path w="7944104" h="4835144">
                <a:moveTo>
                  <a:pt x="0" y="147066"/>
                </a:moveTo>
                <a:cubicBezTo>
                  <a:pt x="0" y="65913"/>
                  <a:pt x="65913" y="0"/>
                  <a:pt x="147066" y="0"/>
                </a:cubicBezTo>
                <a:lnTo>
                  <a:pt x="7797038" y="0"/>
                </a:lnTo>
                <a:cubicBezTo>
                  <a:pt x="7878318" y="0"/>
                  <a:pt x="7944104" y="65913"/>
                  <a:pt x="7944104" y="147066"/>
                </a:cubicBezTo>
                <a:lnTo>
                  <a:pt x="7944104" y="4688078"/>
                </a:lnTo>
                <a:cubicBezTo>
                  <a:pt x="7944104" y="4769358"/>
                  <a:pt x="7878191" y="4835144"/>
                  <a:pt x="7797038" y="4835144"/>
                </a:cubicBezTo>
                <a:lnTo>
                  <a:pt x="147066" y="4835144"/>
                </a:lnTo>
                <a:cubicBezTo>
                  <a:pt x="65913" y="4835144"/>
                  <a:pt x="0" y="4769231"/>
                  <a:pt x="0" y="4688078"/>
                </a:cubicBezTo>
                <a:close/>
              </a:path>
            </a:pathLst>
          </a:custGeom>
          <a:solidFill>
            <a:srgbClr val="FFFFFF"/>
          </a:solidFill>
          <a:ln w="19050" cap="sq">
            <a:solidFill>
              <a:srgbClr val="D9E2EA"/>
            </a:solidFill>
            <a:prstDash val="solid"/>
            <a:miter/>
          </a:ln>
        </p:spPr>
      </p:sp>
      <p:sp>
        <p:nvSpPr>
          <p:cNvPr id="80" name="Freeform 80"/>
          <p:cNvSpPr/>
          <p:nvPr/>
        </p:nvSpPr>
        <p:spPr>
          <a:xfrm>
            <a:off x="9372599" y="2463546"/>
            <a:ext cx="7812000" cy="1308354"/>
          </a:xfrm>
          <a:custGeom>
            <a:avLst/>
            <a:gdLst/>
            <a:ahLst/>
            <a:cxnLst/>
            <a:rect l="l" t="t" r="r" b="b"/>
            <a:pathLst>
              <a:path w="6718808" h="1744472">
                <a:moveTo>
                  <a:pt x="0" y="148463"/>
                </a:moveTo>
                <a:cubicBezTo>
                  <a:pt x="0" y="66421"/>
                  <a:pt x="66421" y="0"/>
                  <a:pt x="148463" y="0"/>
                </a:cubicBezTo>
                <a:lnTo>
                  <a:pt x="6570345" y="0"/>
                </a:lnTo>
                <a:cubicBezTo>
                  <a:pt x="6652387" y="0"/>
                  <a:pt x="6718808" y="66421"/>
                  <a:pt x="6718808" y="148463"/>
                </a:cubicBezTo>
                <a:lnTo>
                  <a:pt x="6718808" y="1596009"/>
                </a:lnTo>
                <a:cubicBezTo>
                  <a:pt x="6718808" y="1678051"/>
                  <a:pt x="6652387" y="1744472"/>
                  <a:pt x="6570345" y="1744472"/>
                </a:cubicBezTo>
                <a:lnTo>
                  <a:pt x="148463" y="1744472"/>
                </a:lnTo>
                <a:cubicBezTo>
                  <a:pt x="66421" y="1744472"/>
                  <a:pt x="0" y="1678051"/>
                  <a:pt x="0" y="1596009"/>
                </a:cubicBezTo>
                <a:close/>
              </a:path>
            </a:pathLst>
          </a:custGeom>
          <a:solidFill>
            <a:srgbClr val="EDF4FA"/>
          </a:solidFill>
          <a:ln w="19050" cap="sq">
            <a:solidFill>
              <a:srgbClr val="EDF4FA"/>
            </a:solidFill>
            <a:prstDash val="solid"/>
            <a:miter/>
          </a:ln>
        </p:spPr>
      </p:sp>
      <p:sp>
        <p:nvSpPr>
          <p:cNvPr id="82" name="Freeform 82"/>
          <p:cNvSpPr/>
          <p:nvPr/>
        </p:nvSpPr>
        <p:spPr>
          <a:xfrm>
            <a:off x="12344400" y="2880360"/>
            <a:ext cx="2263140" cy="493776"/>
          </a:xfrm>
          <a:custGeom>
            <a:avLst/>
            <a:gdLst/>
            <a:ahLst/>
            <a:cxnLst/>
            <a:rect l="l" t="t" r="r" b="b"/>
            <a:pathLst>
              <a:path w="3017520" h="658368">
                <a:moveTo>
                  <a:pt x="0" y="0"/>
                </a:moveTo>
                <a:lnTo>
                  <a:pt x="3017520" y="0"/>
                </a:lnTo>
                <a:lnTo>
                  <a:pt x="3017520" y="658368"/>
                </a:lnTo>
                <a:lnTo>
                  <a:pt x="0" y="658368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t="-39306" b="-39306"/>
            </a:stretch>
          </a:blipFill>
        </p:spPr>
      </p:sp>
      <p:sp>
        <p:nvSpPr>
          <p:cNvPr id="83" name="TextBox 83"/>
          <p:cNvSpPr txBox="1"/>
          <p:nvPr/>
        </p:nvSpPr>
        <p:spPr>
          <a:xfrm>
            <a:off x="9697212" y="2637663"/>
            <a:ext cx="2263140" cy="49377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4860"/>
              </a:lnSpc>
            </a:pPr>
            <a:r>
              <a:rPr lang="en-US" sz="4050" b="1" dirty="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74.55%</a:t>
            </a:r>
          </a:p>
        </p:txBody>
      </p:sp>
      <p:sp>
        <p:nvSpPr>
          <p:cNvPr id="85" name="Freeform 85"/>
          <p:cNvSpPr/>
          <p:nvPr/>
        </p:nvSpPr>
        <p:spPr>
          <a:xfrm>
            <a:off x="12344400" y="3470148"/>
            <a:ext cx="3840480" cy="384048"/>
          </a:xfrm>
          <a:custGeom>
            <a:avLst/>
            <a:gdLst/>
            <a:ahLst/>
            <a:cxnLst/>
            <a:rect l="l" t="t" r="r" b="b"/>
            <a:pathLst>
              <a:path w="5120640" h="512064">
                <a:moveTo>
                  <a:pt x="0" y="0"/>
                </a:moveTo>
                <a:lnTo>
                  <a:pt x="5120640" y="0"/>
                </a:lnTo>
                <a:lnTo>
                  <a:pt x="5120640" y="512064"/>
                </a:lnTo>
                <a:lnTo>
                  <a:pt x="0" y="512064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t="-144850" b="-144850"/>
            </a:stretch>
          </a:blipFill>
        </p:spPr>
      </p:sp>
      <p:sp>
        <p:nvSpPr>
          <p:cNvPr id="86" name="TextBox 86"/>
          <p:cNvSpPr txBox="1"/>
          <p:nvPr/>
        </p:nvSpPr>
        <p:spPr>
          <a:xfrm>
            <a:off x="9697212" y="3227451"/>
            <a:ext cx="3840480" cy="38404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2E4053"/>
                </a:solidFill>
                <a:latin typeface="Inter Bold"/>
                <a:ea typeface="Inter Bold"/>
                <a:cs typeface="Inter Bold"/>
                <a:sym typeface="Inter Bold"/>
              </a:rPr>
              <a:t>of ratings are 4-5 stars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9372597" y="4183379"/>
            <a:ext cx="7812000" cy="2023873"/>
          </a:xfrm>
          <a:prstGeom prst="rect">
            <a:avLst/>
          </a:prstGeom>
        </p:spPr>
        <p:txBody>
          <a:bodyPr wrap="square" lIns="72000" tIns="72000" rIns="72000" bIns="72000" rtlCol="0" anchor="t">
            <a:noAutofit/>
          </a:bodyPr>
          <a:lstStyle/>
          <a:p>
            <a:pPr algn="l"/>
            <a:r>
              <a:rPr lang="en-US" sz="2600" dirty="0">
                <a:solidFill>
                  <a:srgbClr val="2E4053"/>
                </a:solidFill>
                <a:latin typeface="Inter"/>
                <a:ea typeface="Inter"/>
                <a:cs typeface="Inter"/>
                <a:sym typeface="Inter"/>
              </a:rPr>
              <a:t>Ratings are strongly concentrated at the high end.</a:t>
            </a:r>
          </a:p>
          <a:p>
            <a:pPr algn="l"/>
            <a:endParaRPr lang="en-US" sz="2600" dirty="0">
              <a:solidFill>
                <a:srgbClr val="2E4053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/>
            <a:r>
              <a:rPr lang="en-US" sz="2600" dirty="0">
                <a:solidFill>
                  <a:srgbClr val="2E4053"/>
                </a:solidFill>
                <a:latin typeface="Inter"/>
                <a:ea typeface="Inter"/>
                <a:cs typeface="Inter"/>
                <a:sym typeface="Inter"/>
              </a:rPr>
              <a:t>That distribution is important when defining the positive holdout used for recommendation evaluation.</a:t>
            </a:r>
          </a:p>
        </p:txBody>
      </p:sp>
      <p:sp>
        <p:nvSpPr>
          <p:cNvPr id="89" name="Freeform 89"/>
          <p:cNvSpPr/>
          <p:nvPr/>
        </p:nvSpPr>
        <p:spPr>
          <a:xfrm>
            <a:off x="795528" y="6718935"/>
            <a:ext cx="5760720" cy="411480"/>
          </a:xfrm>
          <a:custGeom>
            <a:avLst/>
            <a:gdLst/>
            <a:ahLst/>
            <a:cxnLst/>
            <a:rect l="l" t="t" r="r" b="b"/>
            <a:pathLst>
              <a:path w="7680960" h="548640">
                <a:moveTo>
                  <a:pt x="0" y="0"/>
                </a:moveTo>
                <a:lnTo>
                  <a:pt x="7680960" y="0"/>
                </a:lnTo>
                <a:lnTo>
                  <a:pt x="7680960" y="548640"/>
                </a:lnTo>
                <a:lnTo>
                  <a:pt x="0" y="548640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t="-222790" b="-222790"/>
            </a:stretch>
          </a:blipFill>
        </p:spPr>
      </p:sp>
      <p:sp>
        <p:nvSpPr>
          <p:cNvPr id="90" name="TextBox 90"/>
          <p:cNvSpPr txBox="1"/>
          <p:nvPr/>
        </p:nvSpPr>
        <p:spPr>
          <a:xfrm>
            <a:off x="795528" y="6718935"/>
            <a:ext cx="5760720" cy="41148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Leakage-safe modelling flow</a:t>
            </a:r>
          </a:p>
        </p:txBody>
      </p:sp>
      <p:sp>
        <p:nvSpPr>
          <p:cNvPr id="92" name="Freeform 92"/>
          <p:cNvSpPr/>
          <p:nvPr/>
        </p:nvSpPr>
        <p:spPr>
          <a:xfrm>
            <a:off x="786003" y="7258050"/>
            <a:ext cx="3228594" cy="1280922"/>
          </a:xfrm>
          <a:custGeom>
            <a:avLst/>
            <a:gdLst/>
            <a:ahLst/>
            <a:cxnLst/>
            <a:rect l="l" t="t" r="r" b="b"/>
            <a:pathLst>
              <a:path w="4304792" h="1707896">
                <a:moveTo>
                  <a:pt x="0" y="111379"/>
                </a:moveTo>
                <a:cubicBezTo>
                  <a:pt x="0" y="49911"/>
                  <a:pt x="49911" y="0"/>
                  <a:pt x="111379" y="0"/>
                </a:cubicBezTo>
                <a:lnTo>
                  <a:pt x="4193413" y="0"/>
                </a:lnTo>
                <a:cubicBezTo>
                  <a:pt x="4254881" y="0"/>
                  <a:pt x="4304792" y="49911"/>
                  <a:pt x="4304792" y="111379"/>
                </a:cubicBezTo>
                <a:lnTo>
                  <a:pt x="4304792" y="1596517"/>
                </a:lnTo>
                <a:cubicBezTo>
                  <a:pt x="4304792" y="1657985"/>
                  <a:pt x="4254881" y="1707896"/>
                  <a:pt x="4193413" y="1707896"/>
                </a:cubicBezTo>
                <a:lnTo>
                  <a:pt x="111379" y="1707896"/>
                </a:lnTo>
                <a:cubicBezTo>
                  <a:pt x="49911" y="1707896"/>
                  <a:pt x="0" y="1657985"/>
                  <a:pt x="0" y="1596517"/>
                </a:cubicBezTo>
                <a:close/>
              </a:path>
            </a:pathLst>
          </a:custGeom>
          <a:solidFill>
            <a:srgbClr val="FFFFFF"/>
          </a:solidFill>
          <a:ln w="19050" cap="sq">
            <a:solidFill>
              <a:srgbClr val="D9E2EA"/>
            </a:solidFill>
            <a:prstDash val="solid"/>
            <a:miter/>
          </a:ln>
        </p:spPr>
      </p:sp>
      <p:sp>
        <p:nvSpPr>
          <p:cNvPr id="94" name="Freeform 94"/>
          <p:cNvSpPr/>
          <p:nvPr/>
        </p:nvSpPr>
        <p:spPr>
          <a:xfrm>
            <a:off x="990600" y="7436358"/>
            <a:ext cx="396000" cy="288000"/>
          </a:xfrm>
          <a:custGeom>
            <a:avLst/>
            <a:gdLst/>
            <a:ahLst/>
            <a:cxnLst/>
            <a:rect l="l" t="t" r="r" b="b"/>
            <a:pathLst>
              <a:path w="793496" h="482600">
                <a:moveTo>
                  <a:pt x="0" y="77216"/>
                </a:moveTo>
                <a:cubicBezTo>
                  <a:pt x="0" y="34544"/>
                  <a:pt x="34544" y="0"/>
                  <a:pt x="77216" y="0"/>
                </a:cubicBezTo>
                <a:lnTo>
                  <a:pt x="716280" y="0"/>
                </a:lnTo>
                <a:cubicBezTo>
                  <a:pt x="758952" y="0"/>
                  <a:pt x="793496" y="34544"/>
                  <a:pt x="793496" y="77216"/>
                </a:cubicBezTo>
                <a:lnTo>
                  <a:pt x="793496" y="405384"/>
                </a:lnTo>
                <a:cubicBezTo>
                  <a:pt x="793496" y="448056"/>
                  <a:pt x="758952" y="482600"/>
                  <a:pt x="716280" y="482600"/>
                </a:cubicBezTo>
                <a:lnTo>
                  <a:pt x="77216" y="482600"/>
                </a:lnTo>
                <a:cubicBezTo>
                  <a:pt x="34544" y="482600"/>
                  <a:pt x="0" y="448056"/>
                  <a:pt x="0" y="405384"/>
                </a:cubicBezTo>
                <a:close/>
              </a:path>
            </a:pathLst>
          </a:custGeom>
          <a:solidFill>
            <a:srgbClr val="EAF4F4"/>
          </a:solidFill>
          <a:ln w="19050" cap="sq">
            <a:solidFill>
              <a:srgbClr val="EAF4F4"/>
            </a:solidFill>
            <a:prstDash val="solid"/>
            <a:miter/>
          </a:ln>
        </p:spPr>
      </p:sp>
      <p:sp>
        <p:nvSpPr>
          <p:cNvPr id="97" name="TextBox 97"/>
          <p:cNvSpPr txBox="1"/>
          <p:nvPr/>
        </p:nvSpPr>
        <p:spPr>
          <a:xfrm>
            <a:off x="1104811" y="7479168"/>
            <a:ext cx="189154" cy="207749"/>
          </a:xfrm>
          <a:prstGeom prst="rect">
            <a:avLst/>
          </a:prstGeom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350" b="1" dirty="0">
                <a:solidFill>
                  <a:srgbClr val="2A8C8C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</p:txBody>
      </p:sp>
      <p:sp>
        <p:nvSpPr>
          <p:cNvPr id="99" name="Freeform 99"/>
          <p:cNvSpPr/>
          <p:nvPr/>
        </p:nvSpPr>
        <p:spPr>
          <a:xfrm>
            <a:off x="987552" y="7912227"/>
            <a:ext cx="2825496" cy="301752"/>
          </a:xfrm>
          <a:custGeom>
            <a:avLst/>
            <a:gdLst/>
            <a:ahLst/>
            <a:cxnLst/>
            <a:rect l="l" t="t" r="r" b="b"/>
            <a:pathLst>
              <a:path w="3767328" h="402336">
                <a:moveTo>
                  <a:pt x="0" y="0"/>
                </a:moveTo>
                <a:lnTo>
                  <a:pt x="3767328" y="0"/>
                </a:lnTo>
                <a:lnTo>
                  <a:pt x="3767328" y="402336"/>
                </a:lnTo>
                <a:lnTo>
                  <a:pt x="0" y="402336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t="-132450" b="-132450"/>
            </a:stretch>
          </a:blipFill>
        </p:spPr>
      </p:sp>
      <p:sp>
        <p:nvSpPr>
          <p:cNvPr id="100" name="TextBox 100"/>
          <p:cNvSpPr txBox="1"/>
          <p:nvPr/>
        </p:nvSpPr>
        <p:spPr>
          <a:xfrm>
            <a:off x="987552" y="7786104"/>
            <a:ext cx="2825496" cy="553998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/>
            <a:r>
              <a:rPr lang="en-US" sz="1800" dirty="0">
                <a:solidFill>
                  <a:srgbClr val="2E4053"/>
                </a:solidFill>
                <a:latin typeface="Inter Bold" panose="020B0604020202020204" charset="0"/>
                <a:ea typeface="Inter Bold" panose="020B0604020202020204" charset="0"/>
                <a:cs typeface="Inter Bold"/>
                <a:sym typeface="Inter Bold"/>
              </a:rPr>
              <a:t>Users with ≥5 interactions</a:t>
            </a:r>
          </a:p>
        </p:txBody>
      </p:sp>
      <p:sp>
        <p:nvSpPr>
          <p:cNvPr id="103" name="Freeform 103"/>
          <p:cNvSpPr/>
          <p:nvPr/>
        </p:nvSpPr>
        <p:spPr>
          <a:xfrm>
            <a:off x="4160139" y="7258050"/>
            <a:ext cx="3228594" cy="1280922"/>
          </a:xfrm>
          <a:custGeom>
            <a:avLst/>
            <a:gdLst/>
            <a:ahLst/>
            <a:cxnLst/>
            <a:rect l="l" t="t" r="r" b="b"/>
            <a:pathLst>
              <a:path w="4304792" h="1707896">
                <a:moveTo>
                  <a:pt x="0" y="111379"/>
                </a:moveTo>
                <a:cubicBezTo>
                  <a:pt x="0" y="49911"/>
                  <a:pt x="49911" y="0"/>
                  <a:pt x="111379" y="0"/>
                </a:cubicBezTo>
                <a:lnTo>
                  <a:pt x="4193413" y="0"/>
                </a:lnTo>
                <a:cubicBezTo>
                  <a:pt x="4254881" y="0"/>
                  <a:pt x="4304792" y="49911"/>
                  <a:pt x="4304792" y="111379"/>
                </a:cubicBezTo>
                <a:lnTo>
                  <a:pt x="4304792" y="1596517"/>
                </a:lnTo>
                <a:cubicBezTo>
                  <a:pt x="4304792" y="1657985"/>
                  <a:pt x="4254881" y="1707896"/>
                  <a:pt x="4193413" y="1707896"/>
                </a:cubicBezTo>
                <a:lnTo>
                  <a:pt x="111379" y="1707896"/>
                </a:lnTo>
                <a:cubicBezTo>
                  <a:pt x="49911" y="1707896"/>
                  <a:pt x="0" y="1657985"/>
                  <a:pt x="0" y="1596517"/>
                </a:cubicBezTo>
                <a:close/>
              </a:path>
            </a:pathLst>
          </a:custGeom>
          <a:solidFill>
            <a:srgbClr val="FFFFFF"/>
          </a:solidFill>
          <a:ln w="19050" cap="sq">
            <a:solidFill>
              <a:srgbClr val="D9E2EA"/>
            </a:solidFill>
            <a:prstDash val="solid"/>
            <a:miter/>
          </a:ln>
        </p:spPr>
      </p:sp>
      <p:sp>
        <p:nvSpPr>
          <p:cNvPr id="105" name="Freeform 105"/>
          <p:cNvSpPr/>
          <p:nvPr/>
        </p:nvSpPr>
        <p:spPr>
          <a:xfrm>
            <a:off x="4364736" y="7436358"/>
            <a:ext cx="396000" cy="288000"/>
          </a:xfrm>
          <a:custGeom>
            <a:avLst/>
            <a:gdLst/>
            <a:ahLst/>
            <a:cxnLst/>
            <a:rect l="l" t="t" r="r" b="b"/>
            <a:pathLst>
              <a:path w="793496" h="482600">
                <a:moveTo>
                  <a:pt x="0" y="77216"/>
                </a:moveTo>
                <a:cubicBezTo>
                  <a:pt x="0" y="34544"/>
                  <a:pt x="34544" y="0"/>
                  <a:pt x="77216" y="0"/>
                </a:cubicBezTo>
                <a:lnTo>
                  <a:pt x="716280" y="0"/>
                </a:lnTo>
                <a:cubicBezTo>
                  <a:pt x="758952" y="0"/>
                  <a:pt x="793496" y="34544"/>
                  <a:pt x="793496" y="77216"/>
                </a:cubicBezTo>
                <a:lnTo>
                  <a:pt x="793496" y="405384"/>
                </a:lnTo>
                <a:cubicBezTo>
                  <a:pt x="793496" y="448056"/>
                  <a:pt x="758952" y="482600"/>
                  <a:pt x="716280" y="482600"/>
                </a:cubicBezTo>
                <a:lnTo>
                  <a:pt x="77216" y="482600"/>
                </a:lnTo>
                <a:cubicBezTo>
                  <a:pt x="34544" y="482600"/>
                  <a:pt x="0" y="448056"/>
                  <a:pt x="0" y="405384"/>
                </a:cubicBezTo>
                <a:close/>
              </a:path>
            </a:pathLst>
          </a:custGeom>
          <a:solidFill>
            <a:srgbClr val="EAF4F4"/>
          </a:solidFill>
          <a:ln w="19050" cap="sq">
            <a:solidFill>
              <a:srgbClr val="EAF4F4"/>
            </a:solidFill>
            <a:prstDash val="solid"/>
            <a:miter/>
          </a:ln>
        </p:spPr>
      </p:sp>
      <p:sp>
        <p:nvSpPr>
          <p:cNvPr id="108" name="TextBox 108"/>
          <p:cNvSpPr txBox="1"/>
          <p:nvPr/>
        </p:nvSpPr>
        <p:spPr>
          <a:xfrm>
            <a:off x="4462115" y="7479168"/>
            <a:ext cx="222818" cy="207749"/>
          </a:xfrm>
          <a:prstGeom prst="rect">
            <a:avLst/>
          </a:prstGeom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350" b="1" dirty="0">
                <a:solidFill>
                  <a:srgbClr val="2A8C8C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</p:txBody>
      </p:sp>
      <p:sp>
        <p:nvSpPr>
          <p:cNvPr id="110" name="Freeform 110"/>
          <p:cNvSpPr/>
          <p:nvPr/>
        </p:nvSpPr>
        <p:spPr>
          <a:xfrm>
            <a:off x="4361688" y="7912227"/>
            <a:ext cx="2825496" cy="301752"/>
          </a:xfrm>
          <a:custGeom>
            <a:avLst/>
            <a:gdLst/>
            <a:ahLst/>
            <a:cxnLst/>
            <a:rect l="l" t="t" r="r" b="b"/>
            <a:pathLst>
              <a:path w="3767328" h="402336">
                <a:moveTo>
                  <a:pt x="0" y="0"/>
                </a:moveTo>
                <a:lnTo>
                  <a:pt x="3767328" y="0"/>
                </a:lnTo>
                <a:lnTo>
                  <a:pt x="3767328" y="402336"/>
                </a:lnTo>
                <a:lnTo>
                  <a:pt x="0" y="402336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t="-132450" b="-132450"/>
            </a:stretch>
          </a:blipFill>
        </p:spPr>
      </p:sp>
      <p:sp>
        <p:nvSpPr>
          <p:cNvPr id="111" name="TextBox 111"/>
          <p:cNvSpPr txBox="1"/>
          <p:nvPr/>
        </p:nvSpPr>
        <p:spPr>
          <a:xfrm>
            <a:off x="4361688" y="7786104"/>
            <a:ext cx="2825496" cy="276999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/>
            <a:r>
              <a:rPr lang="en-US" sz="1800">
                <a:solidFill>
                  <a:srgbClr val="2E4053"/>
                </a:solidFill>
                <a:latin typeface="Inter Bold" panose="020B0604020202020204" charset="0"/>
                <a:ea typeface="Inter Bold" panose="020B0604020202020204" charset="0"/>
                <a:cs typeface="Inter Bold"/>
                <a:sym typeface="Inter Bold"/>
              </a:rPr>
              <a:t>Hold out 1 positive rating</a:t>
            </a:r>
          </a:p>
        </p:txBody>
      </p:sp>
      <p:sp>
        <p:nvSpPr>
          <p:cNvPr id="113" name="Freeform 113"/>
          <p:cNvSpPr/>
          <p:nvPr/>
        </p:nvSpPr>
        <p:spPr>
          <a:xfrm>
            <a:off x="4361688" y="8213979"/>
            <a:ext cx="2825496" cy="246888"/>
          </a:xfrm>
          <a:custGeom>
            <a:avLst/>
            <a:gdLst/>
            <a:ahLst/>
            <a:cxnLst/>
            <a:rect l="l" t="t" r="r" b="b"/>
            <a:pathLst>
              <a:path w="3767328" h="329184">
                <a:moveTo>
                  <a:pt x="0" y="0"/>
                </a:moveTo>
                <a:lnTo>
                  <a:pt x="3767328" y="0"/>
                </a:lnTo>
                <a:lnTo>
                  <a:pt x="3767328" y="329184"/>
                </a:lnTo>
                <a:lnTo>
                  <a:pt x="0" y="329184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t="-172995" b="-172995"/>
            </a:stretch>
          </a:blipFill>
        </p:spPr>
      </p:sp>
      <p:sp>
        <p:nvSpPr>
          <p:cNvPr id="114" name="TextBox 114"/>
          <p:cNvSpPr txBox="1"/>
          <p:nvPr/>
        </p:nvSpPr>
        <p:spPr>
          <a:xfrm>
            <a:off x="4361688" y="8218435"/>
            <a:ext cx="1054776" cy="23083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l"/>
            <a:r>
              <a:rPr lang="en-US" sz="150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(Rating ≥ 4)</a:t>
            </a:r>
          </a:p>
        </p:txBody>
      </p:sp>
      <p:sp>
        <p:nvSpPr>
          <p:cNvPr id="117" name="Freeform 117"/>
          <p:cNvSpPr/>
          <p:nvPr/>
        </p:nvSpPr>
        <p:spPr>
          <a:xfrm>
            <a:off x="7534275" y="7258050"/>
            <a:ext cx="3228594" cy="1280922"/>
          </a:xfrm>
          <a:custGeom>
            <a:avLst/>
            <a:gdLst/>
            <a:ahLst/>
            <a:cxnLst/>
            <a:rect l="l" t="t" r="r" b="b"/>
            <a:pathLst>
              <a:path w="4304792" h="1707896">
                <a:moveTo>
                  <a:pt x="0" y="111379"/>
                </a:moveTo>
                <a:cubicBezTo>
                  <a:pt x="0" y="49911"/>
                  <a:pt x="49911" y="0"/>
                  <a:pt x="111379" y="0"/>
                </a:cubicBezTo>
                <a:lnTo>
                  <a:pt x="4193413" y="0"/>
                </a:lnTo>
                <a:cubicBezTo>
                  <a:pt x="4254881" y="0"/>
                  <a:pt x="4304792" y="49911"/>
                  <a:pt x="4304792" y="111379"/>
                </a:cubicBezTo>
                <a:lnTo>
                  <a:pt x="4304792" y="1596517"/>
                </a:lnTo>
                <a:cubicBezTo>
                  <a:pt x="4304792" y="1657985"/>
                  <a:pt x="4254881" y="1707896"/>
                  <a:pt x="4193413" y="1707896"/>
                </a:cubicBezTo>
                <a:lnTo>
                  <a:pt x="111379" y="1707896"/>
                </a:lnTo>
                <a:cubicBezTo>
                  <a:pt x="49911" y="1707896"/>
                  <a:pt x="0" y="1657985"/>
                  <a:pt x="0" y="1596517"/>
                </a:cubicBezTo>
                <a:close/>
              </a:path>
            </a:pathLst>
          </a:custGeom>
          <a:solidFill>
            <a:srgbClr val="FFFFFF"/>
          </a:solidFill>
          <a:ln w="19050" cap="sq">
            <a:solidFill>
              <a:srgbClr val="D9E2EA"/>
            </a:solidFill>
            <a:prstDash val="solid"/>
            <a:miter/>
          </a:ln>
        </p:spPr>
      </p:sp>
      <p:sp>
        <p:nvSpPr>
          <p:cNvPr id="119" name="Freeform 119"/>
          <p:cNvSpPr/>
          <p:nvPr/>
        </p:nvSpPr>
        <p:spPr>
          <a:xfrm>
            <a:off x="7738872" y="7436358"/>
            <a:ext cx="396000" cy="288000"/>
          </a:xfrm>
          <a:custGeom>
            <a:avLst/>
            <a:gdLst/>
            <a:ahLst/>
            <a:cxnLst/>
            <a:rect l="l" t="t" r="r" b="b"/>
            <a:pathLst>
              <a:path w="793496" h="482600">
                <a:moveTo>
                  <a:pt x="0" y="77216"/>
                </a:moveTo>
                <a:cubicBezTo>
                  <a:pt x="0" y="34544"/>
                  <a:pt x="34544" y="0"/>
                  <a:pt x="77216" y="0"/>
                </a:cubicBezTo>
                <a:lnTo>
                  <a:pt x="716280" y="0"/>
                </a:lnTo>
                <a:cubicBezTo>
                  <a:pt x="758952" y="0"/>
                  <a:pt x="793496" y="34544"/>
                  <a:pt x="793496" y="77216"/>
                </a:cubicBezTo>
                <a:lnTo>
                  <a:pt x="793496" y="405384"/>
                </a:lnTo>
                <a:cubicBezTo>
                  <a:pt x="793496" y="448056"/>
                  <a:pt x="758952" y="482600"/>
                  <a:pt x="716280" y="482600"/>
                </a:cubicBezTo>
                <a:lnTo>
                  <a:pt x="77216" y="482600"/>
                </a:lnTo>
                <a:cubicBezTo>
                  <a:pt x="34544" y="482600"/>
                  <a:pt x="0" y="448056"/>
                  <a:pt x="0" y="405384"/>
                </a:cubicBezTo>
                <a:close/>
              </a:path>
            </a:pathLst>
          </a:custGeom>
          <a:solidFill>
            <a:srgbClr val="EAF4F4"/>
          </a:solidFill>
          <a:ln w="19050" cap="sq">
            <a:solidFill>
              <a:srgbClr val="EAF4F4"/>
            </a:solidFill>
            <a:prstDash val="solid"/>
            <a:miter/>
          </a:ln>
        </p:spPr>
      </p:sp>
      <p:sp>
        <p:nvSpPr>
          <p:cNvPr id="122" name="TextBox 122"/>
          <p:cNvSpPr txBox="1"/>
          <p:nvPr/>
        </p:nvSpPr>
        <p:spPr>
          <a:xfrm>
            <a:off x="7834648" y="7479168"/>
            <a:ext cx="226023" cy="207749"/>
          </a:xfrm>
          <a:prstGeom prst="rect">
            <a:avLst/>
          </a:prstGeom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350" b="1" dirty="0">
                <a:solidFill>
                  <a:srgbClr val="2A8C8C"/>
                </a:solidFill>
                <a:latin typeface="Inter Bold"/>
                <a:ea typeface="Inter Bold"/>
                <a:cs typeface="Inter Bold"/>
                <a:sym typeface="Inter Bold"/>
              </a:rPr>
              <a:t>03</a:t>
            </a:r>
          </a:p>
        </p:txBody>
      </p:sp>
      <p:sp>
        <p:nvSpPr>
          <p:cNvPr id="124" name="Freeform 124"/>
          <p:cNvSpPr/>
          <p:nvPr/>
        </p:nvSpPr>
        <p:spPr>
          <a:xfrm>
            <a:off x="7735824" y="7912227"/>
            <a:ext cx="2825496" cy="301752"/>
          </a:xfrm>
          <a:custGeom>
            <a:avLst/>
            <a:gdLst/>
            <a:ahLst/>
            <a:cxnLst/>
            <a:rect l="l" t="t" r="r" b="b"/>
            <a:pathLst>
              <a:path w="3767328" h="402336">
                <a:moveTo>
                  <a:pt x="0" y="0"/>
                </a:moveTo>
                <a:lnTo>
                  <a:pt x="3767328" y="0"/>
                </a:lnTo>
                <a:lnTo>
                  <a:pt x="3767328" y="402336"/>
                </a:lnTo>
                <a:lnTo>
                  <a:pt x="0" y="402336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t="-132450" b="-132450"/>
            </a:stretch>
          </a:blipFill>
        </p:spPr>
      </p:sp>
      <p:sp>
        <p:nvSpPr>
          <p:cNvPr id="125" name="TextBox 125"/>
          <p:cNvSpPr txBox="1"/>
          <p:nvPr/>
        </p:nvSpPr>
        <p:spPr>
          <a:xfrm>
            <a:off x="7735824" y="7786104"/>
            <a:ext cx="2825496" cy="553998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/>
            <a:r>
              <a:rPr lang="en-US" sz="1800" dirty="0">
                <a:solidFill>
                  <a:srgbClr val="2E4053"/>
                </a:solidFill>
                <a:latin typeface="Inter Bold" panose="020B0604020202020204" charset="0"/>
                <a:ea typeface="Inter Bold" panose="020B0604020202020204" charset="0"/>
                <a:cs typeface="Inter Bold"/>
                <a:sym typeface="Inter Bold"/>
              </a:rPr>
              <a:t>Build training-only features and rankings</a:t>
            </a:r>
          </a:p>
        </p:txBody>
      </p:sp>
      <p:sp>
        <p:nvSpPr>
          <p:cNvPr id="127" name="Freeform 127"/>
          <p:cNvSpPr/>
          <p:nvPr/>
        </p:nvSpPr>
        <p:spPr>
          <a:xfrm>
            <a:off x="7735824" y="8213979"/>
            <a:ext cx="2825496" cy="246888"/>
          </a:xfrm>
          <a:custGeom>
            <a:avLst/>
            <a:gdLst/>
            <a:ahLst/>
            <a:cxnLst/>
            <a:rect l="l" t="t" r="r" b="b"/>
            <a:pathLst>
              <a:path w="3767328" h="329184">
                <a:moveTo>
                  <a:pt x="0" y="0"/>
                </a:moveTo>
                <a:lnTo>
                  <a:pt x="3767328" y="0"/>
                </a:lnTo>
                <a:lnTo>
                  <a:pt x="3767328" y="329184"/>
                </a:lnTo>
                <a:lnTo>
                  <a:pt x="0" y="329184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t="-172995" b="-172995"/>
            </a:stretch>
          </a:blipFill>
        </p:spPr>
      </p:sp>
      <p:sp>
        <p:nvSpPr>
          <p:cNvPr id="131" name="Freeform 131"/>
          <p:cNvSpPr/>
          <p:nvPr/>
        </p:nvSpPr>
        <p:spPr>
          <a:xfrm>
            <a:off x="10908411" y="7258050"/>
            <a:ext cx="3228594" cy="1280922"/>
          </a:xfrm>
          <a:custGeom>
            <a:avLst/>
            <a:gdLst/>
            <a:ahLst/>
            <a:cxnLst/>
            <a:rect l="l" t="t" r="r" b="b"/>
            <a:pathLst>
              <a:path w="4304792" h="1707896">
                <a:moveTo>
                  <a:pt x="0" y="111379"/>
                </a:moveTo>
                <a:cubicBezTo>
                  <a:pt x="0" y="49911"/>
                  <a:pt x="49911" y="0"/>
                  <a:pt x="111379" y="0"/>
                </a:cubicBezTo>
                <a:lnTo>
                  <a:pt x="4193413" y="0"/>
                </a:lnTo>
                <a:cubicBezTo>
                  <a:pt x="4254881" y="0"/>
                  <a:pt x="4304792" y="49911"/>
                  <a:pt x="4304792" y="111379"/>
                </a:cubicBezTo>
                <a:lnTo>
                  <a:pt x="4304792" y="1596517"/>
                </a:lnTo>
                <a:cubicBezTo>
                  <a:pt x="4304792" y="1657985"/>
                  <a:pt x="4254881" y="1707896"/>
                  <a:pt x="4193413" y="1707896"/>
                </a:cubicBezTo>
                <a:lnTo>
                  <a:pt x="111379" y="1707896"/>
                </a:lnTo>
                <a:cubicBezTo>
                  <a:pt x="49911" y="1707896"/>
                  <a:pt x="0" y="1657985"/>
                  <a:pt x="0" y="1596517"/>
                </a:cubicBezTo>
                <a:close/>
              </a:path>
            </a:pathLst>
          </a:custGeom>
          <a:solidFill>
            <a:srgbClr val="FFFFFF"/>
          </a:solidFill>
          <a:ln w="19050" cap="sq">
            <a:solidFill>
              <a:srgbClr val="D9E2EA"/>
            </a:solidFill>
            <a:prstDash val="solid"/>
            <a:miter/>
          </a:ln>
        </p:spPr>
      </p:sp>
      <p:sp>
        <p:nvSpPr>
          <p:cNvPr id="177" name="Freeform 119">
            <a:extLst>
              <a:ext uri="{FF2B5EF4-FFF2-40B4-BE49-F238E27FC236}">
                <a16:creationId xmlns:a16="http://schemas.microsoft.com/office/drawing/2014/main" id="{323A35A3-9DDA-7BFC-9434-6BE68BE53720}"/>
              </a:ext>
            </a:extLst>
          </p:cNvPr>
          <p:cNvSpPr/>
          <p:nvPr/>
        </p:nvSpPr>
        <p:spPr>
          <a:xfrm>
            <a:off x="11101800" y="7436358"/>
            <a:ext cx="396000" cy="288000"/>
          </a:xfrm>
          <a:custGeom>
            <a:avLst/>
            <a:gdLst/>
            <a:ahLst/>
            <a:cxnLst/>
            <a:rect l="l" t="t" r="r" b="b"/>
            <a:pathLst>
              <a:path w="793496" h="482600">
                <a:moveTo>
                  <a:pt x="0" y="77216"/>
                </a:moveTo>
                <a:cubicBezTo>
                  <a:pt x="0" y="34544"/>
                  <a:pt x="34544" y="0"/>
                  <a:pt x="77216" y="0"/>
                </a:cubicBezTo>
                <a:lnTo>
                  <a:pt x="716280" y="0"/>
                </a:lnTo>
                <a:cubicBezTo>
                  <a:pt x="758952" y="0"/>
                  <a:pt x="793496" y="34544"/>
                  <a:pt x="793496" y="77216"/>
                </a:cubicBezTo>
                <a:lnTo>
                  <a:pt x="793496" y="405384"/>
                </a:lnTo>
                <a:cubicBezTo>
                  <a:pt x="793496" y="448056"/>
                  <a:pt x="758952" y="482600"/>
                  <a:pt x="716280" y="482600"/>
                </a:cubicBezTo>
                <a:lnTo>
                  <a:pt x="77216" y="482600"/>
                </a:lnTo>
                <a:cubicBezTo>
                  <a:pt x="34544" y="482600"/>
                  <a:pt x="0" y="448056"/>
                  <a:pt x="0" y="405384"/>
                </a:cubicBezTo>
                <a:close/>
              </a:path>
            </a:pathLst>
          </a:custGeom>
          <a:solidFill>
            <a:srgbClr val="EAF4F4"/>
          </a:solidFill>
          <a:ln w="19050" cap="sq">
            <a:solidFill>
              <a:srgbClr val="EAF4F4"/>
            </a:solidFill>
            <a:prstDash val="solid"/>
            <a:miter/>
          </a:ln>
        </p:spPr>
      </p:sp>
      <p:sp>
        <p:nvSpPr>
          <p:cNvPr id="136" name="TextBox 136"/>
          <p:cNvSpPr txBox="1"/>
          <p:nvPr/>
        </p:nvSpPr>
        <p:spPr>
          <a:xfrm>
            <a:off x="11205578" y="7479168"/>
            <a:ext cx="232435" cy="207749"/>
          </a:xfrm>
          <a:prstGeom prst="rect">
            <a:avLst/>
          </a:prstGeom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350" b="1" dirty="0">
                <a:solidFill>
                  <a:srgbClr val="2A8C8C"/>
                </a:solidFill>
                <a:latin typeface="Inter Bold"/>
                <a:ea typeface="Inter Bold"/>
                <a:cs typeface="Inter Bold"/>
                <a:sym typeface="Inter Bold"/>
              </a:rPr>
              <a:t>04</a:t>
            </a:r>
          </a:p>
        </p:txBody>
      </p:sp>
      <p:sp>
        <p:nvSpPr>
          <p:cNvPr id="138" name="Freeform 138"/>
          <p:cNvSpPr/>
          <p:nvPr/>
        </p:nvSpPr>
        <p:spPr>
          <a:xfrm>
            <a:off x="11109960" y="7912227"/>
            <a:ext cx="2825496" cy="301752"/>
          </a:xfrm>
          <a:custGeom>
            <a:avLst/>
            <a:gdLst/>
            <a:ahLst/>
            <a:cxnLst/>
            <a:rect l="l" t="t" r="r" b="b"/>
            <a:pathLst>
              <a:path w="3767328" h="402336">
                <a:moveTo>
                  <a:pt x="0" y="0"/>
                </a:moveTo>
                <a:lnTo>
                  <a:pt x="3767328" y="0"/>
                </a:lnTo>
                <a:lnTo>
                  <a:pt x="3767328" y="402336"/>
                </a:lnTo>
                <a:lnTo>
                  <a:pt x="0" y="402336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t="-132450" b="-132450"/>
            </a:stretch>
          </a:blipFill>
        </p:spPr>
      </p:sp>
      <p:sp>
        <p:nvSpPr>
          <p:cNvPr id="139" name="TextBox 139"/>
          <p:cNvSpPr txBox="1"/>
          <p:nvPr/>
        </p:nvSpPr>
        <p:spPr>
          <a:xfrm>
            <a:off x="11109960" y="7786104"/>
            <a:ext cx="2825496" cy="276999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/>
            <a:r>
              <a:rPr lang="en-US" sz="1800">
                <a:solidFill>
                  <a:srgbClr val="2E4053"/>
                </a:solidFill>
                <a:latin typeface="Inter Bold" panose="020B0604020202020204" charset="0"/>
                <a:ea typeface="Inter Bold" panose="020B0604020202020204" charset="0"/>
                <a:cs typeface="Inter Bold"/>
                <a:sym typeface="Inter Bold"/>
              </a:rPr>
              <a:t>Cluster users</a:t>
            </a:r>
          </a:p>
        </p:txBody>
      </p:sp>
      <p:sp>
        <p:nvSpPr>
          <p:cNvPr id="142" name="Freeform 142"/>
          <p:cNvSpPr/>
          <p:nvPr/>
        </p:nvSpPr>
        <p:spPr>
          <a:xfrm>
            <a:off x="14282547" y="7258050"/>
            <a:ext cx="3228594" cy="1280922"/>
          </a:xfrm>
          <a:custGeom>
            <a:avLst/>
            <a:gdLst/>
            <a:ahLst/>
            <a:cxnLst/>
            <a:rect l="l" t="t" r="r" b="b"/>
            <a:pathLst>
              <a:path w="4304792" h="1707896">
                <a:moveTo>
                  <a:pt x="0" y="111379"/>
                </a:moveTo>
                <a:cubicBezTo>
                  <a:pt x="0" y="49911"/>
                  <a:pt x="49911" y="0"/>
                  <a:pt x="111379" y="0"/>
                </a:cubicBezTo>
                <a:lnTo>
                  <a:pt x="4193413" y="0"/>
                </a:lnTo>
                <a:cubicBezTo>
                  <a:pt x="4254881" y="0"/>
                  <a:pt x="4304792" y="49911"/>
                  <a:pt x="4304792" y="111379"/>
                </a:cubicBezTo>
                <a:lnTo>
                  <a:pt x="4304792" y="1596517"/>
                </a:lnTo>
                <a:cubicBezTo>
                  <a:pt x="4304792" y="1657985"/>
                  <a:pt x="4254881" y="1707896"/>
                  <a:pt x="4193413" y="1707896"/>
                </a:cubicBezTo>
                <a:lnTo>
                  <a:pt x="111379" y="1707896"/>
                </a:lnTo>
                <a:cubicBezTo>
                  <a:pt x="49911" y="1707896"/>
                  <a:pt x="0" y="1657985"/>
                  <a:pt x="0" y="1596517"/>
                </a:cubicBezTo>
                <a:close/>
              </a:path>
            </a:pathLst>
          </a:custGeom>
          <a:solidFill>
            <a:srgbClr val="FFFFFF"/>
          </a:solidFill>
          <a:ln w="19050" cap="sq">
            <a:solidFill>
              <a:srgbClr val="D9E2EA"/>
            </a:solidFill>
            <a:prstDash val="solid"/>
            <a:miter/>
          </a:ln>
        </p:spPr>
      </p:sp>
      <p:sp>
        <p:nvSpPr>
          <p:cNvPr id="144" name="Freeform 144"/>
          <p:cNvSpPr/>
          <p:nvPr/>
        </p:nvSpPr>
        <p:spPr>
          <a:xfrm>
            <a:off x="14487144" y="7436358"/>
            <a:ext cx="396000" cy="288000"/>
          </a:xfrm>
          <a:custGeom>
            <a:avLst/>
            <a:gdLst/>
            <a:ahLst/>
            <a:cxnLst/>
            <a:rect l="l" t="t" r="r" b="b"/>
            <a:pathLst>
              <a:path w="793496" h="482600">
                <a:moveTo>
                  <a:pt x="0" y="77216"/>
                </a:moveTo>
                <a:cubicBezTo>
                  <a:pt x="0" y="34544"/>
                  <a:pt x="34544" y="0"/>
                  <a:pt x="77216" y="0"/>
                </a:cubicBezTo>
                <a:lnTo>
                  <a:pt x="716280" y="0"/>
                </a:lnTo>
                <a:cubicBezTo>
                  <a:pt x="758952" y="0"/>
                  <a:pt x="793496" y="34544"/>
                  <a:pt x="793496" y="77216"/>
                </a:cubicBezTo>
                <a:lnTo>
                  <a:pt x="793496" y="405384"/>
                </a:lnTo>
                <a:cubicBezTo>
                  <a:pt x="793496" y="448056"/>
                  <a:pt x="758952" y="482600"/>
                  <a:pt x="716280" y="482600"/>
                </a:cubicBezTo>
                <a:lnTo>
                  <a:pt x="77216" y="482600"/>
                </a:lnTo>
                <a:cubicBezTo>
                  <a:pt x="34544" y="482600"/>
                  <a:pt x="0" y="448056"/>
                  <a:pt x="0" y="405384"/>
                </a:cubicBezTo>
                <a:close/>
              </a:path>
            </a:pathLst>
          </a:custGeom>
          <a:solidFill>
            <a:srgbClr val="EAF4F4"/>
          </a:solidFill>
          <a:ln w="19050" cap="sq">
            <a:solidFill>
              <a:srgbClr val="EAF4F4"/>
            </a:solidFill>
            <a:prstDash val="solid"/>
            <a:miter/>
          </a:ln>
        </p:spPr>
      </p:sp>
      <p:sp>
        <p:nvSpPr>
          <p:cNvPr id="147" name="TextBox 147"/>
          <p:cNvSpPr txBox="1"/>
          <p:nvPr/>
        </p:nvSpPr>
        <p:spPr>
          <a:xfrm>
            <a:off x="14584523" y="7479168"/>
            <a:ext cx="222818" cy="207749"/>
          </a:xfrm>
          <a:prstGeom prst="rect">
            <a:avLst/>
          </a:prstGeom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350" b="1" dirty="0">
                <a:solidFill>
                  <a:srgbClr val="2A8C8C"/>
                </a:solidFill>
                <a:latin typeface="Inter Bold"/>
                <a:ea typeface="Inter Bold"/>
                <a:cs typeface="Inter Bold"/>
                <a:sym typeface="Inter Bold"/>
              </a:rPr>
              <a:t>05</a:t>
            </a:r>
          </a:p>
        </p:txBody>
      </p:sp>
      <p:sp>
        <p:nvSpPr>
          <p:cNvPr id="149" name="Freeform 149"/>
          <p:cNvSpPr/>
          <p:nvPr/>
        </p:nvSpPr>
        <p:spPr>
          <a:xfrm>
            <a:off x="14484096" y="7912227"/>
            <a:ext cx="2825496" cy="301752"/>
          </a:xfrm>
          <a:custGeom>
            <a:avLst/>
            <a:gdLst/>
            <a:ahLst/>
            <a:cxnLst/>
            <a:rect l="l" t="t" r="r" b="b"/>
            <a:pathLst>
              <a:path w="3767328" h="402336">
                <a:moveTo>
                  <a:pt x="0" y="0"/>
                </a:moveTo>
                <a:lnTo>
                  <a:pt x="3767328" y="0"/>
                </a:lnTo>
                <a:lnTo>
                  <a:pt x="3767328" y="402336"/>
                </a:lnTo>
                <a:lnTo>
                  <a:pt x="0" y="402336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t="-132450" b="-132450"/>
            </a:stretch>
          </a:blipFill>
        </p:spPr>
      </p:sp>
      <p:sp>
        <p:nvSpPr>
          <p:cNvPr id="150" name="TextBox 150"/>
          <p:cNvSpPr txBox="1"/>
          <p:nvPr/>
        </p:nvSpPr>
        <p:spPr>
          <a:xfrm>
            <a:off x="14484096" y="7786104"/>
            <a:ext cx="2825496" cy="553998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/>
            <a:r>
              <a:rPr lang="en-US" sz="1800">
                <a:solidFill>
                  <a:srgbClr val="2E4053"/>
                </a:solidFill>
                <a:latin typeface="Inter Bold" panose="020B0604020202020204" charset="0"/>
                <a:ea typeface="Inter Bold" panose="020B0604020202020204" charset="0"/>
                <a:cs typeface="Inter Bold"/>
                <a:sym typeface="Inter Bold"/>
              </a:rPr>
              <a:t>Recommend unseen Top-10</a:t>
            </a:r>
          </a:p>
        </p:txBody>
      </p:sp>
      <p:sp>
        <p:nvSpPr>
          <p:cNvPr id="152" name="Freeform 152"/>
          <p:cNvSpPr/>
          <p:nvPr/>
        </p:nvSpPr>
        <p:spPr>
          <a:xfrm>
            <a:off x="786003" y="8958834"/>
            <a:ext cx="5189982" cy="1061466"/>
          </a:xfrm>
          <a:custGeom>
            <a:avLst/>
            <a:gdLst/>
            <a:ahLst/>
            <a:cxnLst/>
            <a:rect l="l" t="t" r="r" b="b"/>
            <a:pathLst>
              <a:path w="6919976" h="1415288">
                <a:moveTo>
                  <a:pt x="0" y="111760"/>
                </a:moveTo>
                <a:cubicBezTo>
                  <a:pt x="0" y="50038"/>
                  <a:pt x="50038" y="0"/>
                  <a:pt x="111760" y="0"/>
                </a:cubicBezTo>
                <a:lnTo>
                  <a:pt x="6808216" y="0"/>
                </a:lnTo>
                <a:cubicBezTo>
                  <a:pt x="6869938" y="0"/>
                  <a:pt x="6919976" y="50038"/>
                  <a:pt x="6919976" y="111760"/>
                </a:cubicBezTo>
                <a:lnTo>
                  <a:pt x="6919976" y="1303528"/>
                </a:lnTo>
                <a:cubicBezTo>
                  <a:pt x="6919976" y="1365250"/>
                  <a:pt x="6869938" y="1415288"/>
                  <a:pt x="6808216" y="1415288"/>
                </a:cubicBezTo>
                <a:lnTo>
                  <a:pt x="111760" y="1415288"/>
                </a:lnTo>
                <a:cubicBezTo>
                  <a:pt x="50038" y="1415288"/>
                  <a:pt x="0" y="1365250"/>
                  <a:pt x="0" y="1303528"/>
                </a:cubicBezTo>
                <a:close/>
              </a:path>
            </a:pathLst>
          </a:custGeom>
          <a:solidFill>
            <a:srgbClr val="FFFFFF"/>
          </a:solidFill>
          <a:ln w="19050" cap="sq">
            <a:solidFill>
              <a:srgbClr val="D9E2EA"/>
            </a:solidFill>
            <a:prstDash val="solid"/>
            <a:miter/>
          </a:ln>
        </p:spPr>
      </p:sp>
      <p:sp>
        <p:nvSpPr>
          <p:cNvPr id="154" name="Freeform 154"/>
          <p:cNvSpPr/>
          <p:nvPr/>
        </p:nvSpPr>
        <p:spPr>
          <a:xfrm>
            <a:off x="1042416" y="9160383"/>
            <a:ext cx="2331720" cy="384048"/>
          </a:xfrm>
          <a:custGeom>
            <a:avLst/>
            <a:gdLst/>
            <a:ahLst/>
            <a:cxnLst/>
            <a:rect l="l" t="t" r="r" b="b"/>
            <a:pathLst>
              <a:path w="3108960" h="512064">
                <a:moveTo>
                  <a:pt x="0" y="0"/>
                </a:moveTo>
                <a:lnTo>
                  <a:pt x="3108960" y="0"/>
                </a:lnTo>
                <a:lnTo>
                  <a:pt x="3108960" y="512064"/>
                </a:lnTo>
                <a:lnTo>
                  <a:pt x="0" y="512064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t="-68302" b="-68302"/>
            </a:stretch>
          </a:blipFill>
        </p:spPr>
      </p:sp>
      <p:sp>
        <p:nvSpPr>
          <p:cNvPr id="155" name="TextBox 155"/>
          <p:cNvSpPr txBox="1"/>
          <p:nvPr/>
        </p:nvSpPr>
        <p:spPr>
          <a:xfrm>
            <a:off x="1042416" y="9160383"/>
            <a:ext cx="2331720" cy="38404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254,064</a:t>
            </a:r>
          </a:p>
        </p:txBody>
      </p:sp>
      <p:sp>
        <p:nvSpPr>
          <p:cNvPr id="157" name="Freeform 157"/>
          <p:cNvSpPr/>
          <p:nvPr/>
        </p:nvSpPr>
        <p:spPr>
          <a:xfrm>
            <a:off x="1042416" y="9599295"/>
            <a:ext cx="3771900" cy="274320"/>
          </a:xfrm>
          <a:custGeom>
            <a:avLst/>
            <a:gdLst/>
            <a:ahLst/>
            <a:cxnLst/>
            <a:rect l="l" t="t" r="r" b="b"/>
            <a:pathLst>
              <a:path w="5029200" h="365760">
                <a:moveTo>
                  <a:pt x="0" y="0"/>
                </a:moveTo>
                <a:lnTo>
                  <a:pt x="5029200" y="0"/>
                </a:lnTo>
                <a:lnTo>
                  <a:pt x="5029200" y="365760"/>
                </a:lnTo>
                <a:lnTo>
                  <a:pt x="0" y="365760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t="-217919" b="-217919"/>
            </a:stretch>
          </a:blipFill>
        </p:spPr>
      </p:sp>
      <p:sp>
        <p:nvSpPr>
          <p:cNvPr id="158" name="TextBox 158"/>
          <p:cNvSpPr txBox="1"/>
          <p:nvPr/>
        </p:nvSpPr>
        <p:spPr>
          <a:xfrm>
            <a:off x="1042416" y="9592151"/>
            <a:ext cx="3771900" cy="28146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Modelling population</a:t>
            </a:r>
          </a:p>
        </p:txBody>
      </p:sp>
      <p:sp>
        <p:nvSpPr>
          <p:cNvPr id="160" name="Freeform 160"/>
          <p:cNvSpPr/>
          <p:nvPr/>
        </p:nvSpPr>
        <p:spPr>
          <a:xfrm>
            <a:off x="6258687" y="8958834"/>
            <a:ext cx="5189982" cy="1061466"/>
          </a:xfrm>
          <a:custGeom>
            <a:avLst/>
            <a:gdLst/>
            <a:ahLst/>
            <a:cxnLst/>
            <a:rect l="l" t="t" r="r" b="b"/>
            <a:pathLst>
              <a:path w="6919976" h="1415288">
                <a:moveTo>
                  <a:pt x="0" y="111760"/>
                </a:moveTo>
                <a:cubicBezTo>
                  <a:pt x="0" y="50038"/>
                  <a:pt x="50038" y="0"/>
                  <a:pt x="111760" y="0"/>
                </a:cubicBezTo>
                <a:lnTo>
                  <a:pt x="6808216" y="0"/>
                </a:lnTo>
                <a:cubicBezTo>
                  <a:pt x="6869938" y="0"/>
                  <a:pt x="6919976" y="50038"/>
                  <a:pt x="6919976" y="111760"/>
                </a:cubicBezTo>
                <a:lnTo>
                  <a:pt x="6919976" y="1303528"/>
                </a:lnTo>
                <a:cubicBezTo>
                  <a:pt x="6919976" y="1365250"/>
                  <a:pt x="6869938" y="1415288"/>
                  <a:pt x="6808216" y="1415288"/>
                </a:cubicBezTo>
                <a:lnTo>
                  <a:pt x="111760" y="1415288"/>
                </a:lnTo>
                <a:cubicBezTo>
                  <a:pt x="50038" y="1415288"/>
                  <a:pt x="0" y="1365250"/>
                  <a:pt x="0" y="1303528"/>
                </a:cubicBezTo>
                <a:close/>
              </a:path>
            </a:pathLst>
          </a:custGeom>
          <a:solidFill>
            <a:srgbClr val="EDF4FA"/>
          </a:solidFill>
          <a:ln w="19050" cap="sq">
            <a:solidFill>
              <a:srgbClr val="D9E2EA"/>
            </a:solidFill>
            <a:prstDash val="solid"/>
            <a:miter/>
          </a:ln>
        </p:spPr>
      </p:sp>
      <p:sp>
        <p:nvSpPr>
          <p:cNvPr id="162" name="Freeform 162"/>
          <p:cNvSpPr/>
          <p:nvPr/>
        </p:nvSpPr>
        <p:spPr>
          <a:xfrm>
            <a:off x="6515100" y="9160383"/>
            <a:ext cx="2331720" cy="384048"/>
          </a:xfrm>
          <a:custGeom>
            <a:avLst/>
            <a:gdLst/>
            <a:ahLst/>
            <a:cxnLst/>
            <a:rect l="l" t="t" r="r" b="b"/>
            <a:pathLst>
              <a:path w="3108960" h="512064">
                <a:moveTo>
                  <a:pt x="0" y="0"/>
                </a:moveTo>
                <a:lnTo>
                  <a:pt x="3108960" y="0"/>
                </a:lnTo>
                <a:lnTo>
                  <a:pt x="3108960" y="512064"/>
                </a:lnTo>
                <a:lnTo>
                  <a:pt x="0" y="512064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t="-68302" b="-68302"/>
            </a:stretch>
          </a:blipFill>
        </p:spPr>
      </p:sp>
      <p:sp>
        <p:nvSpPr>
          <p:cNvPr id="163" name="TextBox 163"/>
          <p:cNvSpPr txBox="1"/>
          <p:nvPr/>
        </p:nvSpPr>
        <p:spPr>
          <a:xfrm>
            <a:off x="6515100" y="9160383"/>
            <a:ext cx="2331720" cy="38404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237,187</a:t>
            </a:r>
          </a:p>
        </p:txBody>
      </p:sp>
      <p:sp>
        <p:nvSpPr>
          <p:cNvPr id="165" name="Freeform 165"/>
          <p:cNvSpPr/>
          <p:nvPr/>
        </p:nvSpPr>
        <p:spPr>
          <a:xfrm>
            <a:off x="6515100" y="9599295"/>
            <a:ext cx="3771900" cy="274320"/>
          </a:xfrm>
          <a:custGeom>
            <a:avLst/>
            <a:gdLst/>
            <a:ahLst/>
            <a:cxnLst/>
            <a:rect l="l" t="t" r="r" b="b"/>
            <a:pathLst>
              <a:path w="5029200" h="365760">
                <a:moveTo>
                  <a:pt x="0" y="0"/>
                </a:moveTo>
                <a:lnTo>
                  <a:pt x="5029200" y="0"/>
                </a:lnTo>
                <a:lnTo>
                  <a:pt x="5029200" y="365760"/>
                </a:lnTo>
                <a:lnTo>
                  <a:pt x="0" y="365760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t="-217919" b="-217919"/>
            </a:stretch>
          </a:blipFill>
        </p:spPr>
      </p:sp>
      <p:sp>
        <p:nvSpPr>
          <p:cNvPr id="166" name="TextBox 166"/>
          <p:cNvSpPr txBox="1"/>
          <p:nvPr/>
        </p:nvSpPr>
        <p:spPr>
          <a:xfrm>
            <a:off x="6515100" y="9592151"/>
            <a:ext cx="3771900" cy="28146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Warm evaluation users</a:t>
            </a:r>
          </a:p>
        </p:txBody>
      </p:sp>
      <p:sp>
        <p:nvSpPr>
          <p:cNvPr id="168" name="Freeform 168"/>
          <p:cNvSpPr/>
          <p:nvPr/>
        </p:nvSpPr>
        <p:spPr>
          <a:xfrm>
            <a:off x="11731371" y="8958834"/>
            <a:ext cx="5189982" cy="1061466"/>
          </a:xfrm>
          <a:custGeom>
            <a:avLst/>
            <a:gdLst/>
            <a:ahLst/>
            <a:cxnLst/>
            <a:rect l="l" t="t" r="r" b="b"/>
            <a:pathLst>
              <a:path w="6919976" h="1415288">
                <a:moveTo>
                  <a:pt x="0" y="111760"/>
                </a:moveTo>
                <a:cubicBezTo>
                  <a:pt x="0" y="50038"/>
                  <a:pt x="50038" y="0"/>
                  <a:pt x="111760" y="0"/>
                </a:cubicBezTo>
                <a:lnTo>
                  <a:pt x="6808216" y="0"/>
                </a:lnTo>
                <a:cubicBezTo>
                  <a:pt x="6869938" y="0"/>
                  <a:pt x="6919976" y="50038"/>
                  <a:pt x="6919976" y="111760"/>
                </a:cubicBezTo>
                <a:lnTo>
                  <a:pt x="6919976" y="1303528"/>
                </a:lnTo>
                <a:cubicBezTo>
                  <a:pt x="6919976" y="1365250"/>
                  <a:pt x="6869938" y="1415288"/>
                  <a:pt x="6808216" y="1415288"/>
                </a:cubicBezTo>
                <a:lnTo>
                  <a:pt x="111760" y="1415288"/>
                </a:lnTo>
                <a:cubicBezTo>
                  <a:pt x="50038" y="1415288"/>
                  <a:pt x="0" y="1365250"/>
                  <a:pt x="0" y="1303528"/>
                </a:cubicBezTo>
                <a:close/>
              </a:path>
            </a:pathLst>
          </a:custGeom>
          <a:solidFill>
            <a:srgbClr val="FFFFFF"/>
          </a:solidFill>
          <a:ln w="19050" cap="sq">
            <a:solidFill>
              <a:srgbClr val="D9E2EA"/>
            </a:solidFill>
            <a:prstDash val="solid"/>
            <a:miter/>
          </a:ln>
        </p:spPr>
      </p:sp>
      <p:sp>
        <p:nvSpPr>
          <p:cNvPr id="170" name="Freeform 170"/>
          <p:cNvSpPr/>
          <p:nvPr/>
        </p:nvSpPr>
        <p:spPr>
          <a:xfrm>
            <a:off x="11987784" y="9160383"/>
            <a:ext cx="2331720" cy="384048"/>
          </a:xfrm>
          <a:custGeom>
            <a:avLst/>
            <a:gdLst/>
            <a:ahLst/>
            <a:cxnLst/>
            <a:rect l="l" t="t" r="r" b="b"/>
            <a:pathLst>
              <a:path w="3108960" h="512064">
                <a:moveTo>
                  <a:pt x="0" y="0"/>
                </a:moveTo>
                <a:lnTo>
                  <a:pt x="3108960" y="0"/>
                </a:lnTo>
                <a:lnTo>
                  <a:pt x="3108960" y="512064"/>
                </a:lnTo>
                <a:lnTo>
                  <a:pt x="0" y="512064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t="-68302" b="-68302"/>
            </a:stretch>
          </a:blipFill>
        </p:spPr>
      </p:sp>
      <p:sp>
        <p:nvSpPr>
          <p:cNvPr id="171" name="TextBox 171"/>
          <p:cNvSpPr txBox="1"/>
          <p:nvPr/>
        </p:nvSpPr>
        <p:spPr>
          <a:xfrm>
            <a:off x="11987784" y="9160383"/>
            <a:ext cx="2331720" cy="38404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6.15%</a:t>
            </a:r>
          </a:p>
        </p:txBody>
      </p:sp>
      <p:sp>
        <p:nvSpPr>
          <p:cNvPr id="173" name="Freeform 173"/>
          <p:cNvSpPr/>
          <p:nvPr/>
        </p:nvSpPr>
        <p:spPr>
          <a:xfrm>
            <a:off x="11987784" y="9599295"/>
            <a:ext cx="3771900" cy="274320"/>
          </a:xfrm>
          <a:custGeom>
            <a:avLst/>
            <a:gdLst/>
            <a:ahLst/>
            <a:cxnLst/>
            <a:rect l="l" t="t" r="r" b="b"/>
            <a:pathLst>
              <a:path w="5029200" h="365760">
                <a:moveTo>
                  <a:pt x="0" y="0"/>
                </a:moveTo>
                <a:lnTo>
                  <a:pt x="5029200" y="0"/>
                </a:lnTo>
                <a:lnTo>
                  <a:pt x="5029200" y="365760"/>
                </a:lnTo>
                <a:lnTo>
                  <a:pt x="0" y="365760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t="-217919" b="-217919"/>
            </a:stretch>
          </a:blipFill>
        </p:spPr>
      </p:sp>
      <p:sp>
        <p:nvSpPr>
          <p:cNvPr id="174" name="TextBox 174"/>
          <p:cNvSpPr txBox="1"/>
          <p:nvPr/>
        </p:nvSpPr>
        <p:spPr>
          <a:xfrm>
            <a:off x="11987784" y="9592151"/>
            <a:ext cx="3771900" cy="28146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Cold-item holdouts</a:t>
            </a:r>
          </a:p>
        </p:txBody>
      </p:sp>
      <p:pic>
        <p:nvPicPr>
          <p:cNvPr id="176" name="Picture 175">
            <a:extLst>
              <a:ext uri="{FF2B5EF4-FFF2-40B4-BE49-F238E27FC236}">
                <a16:creationId xmlns:a16="http://schemas.microsoft.com/office/drawing/2014/main" id="{A0C8BD31-C0FF-BCE7-B5E0-81280A7680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2224373"/>
            <a:ext cx="7753350" cy="4286250"/>
          </a:xfrm>
          <a:prstGeom prst="roundRect">
            <a:avLst>
              <a:gd name="adj" fmla="val 2572"/>
            </a:avLst>
          </a:prstGeom>
          <a:ln>
            <a:noFill/>
          </a:ln>
          <a:effectLst>
            <a:outerShdw blurRad="215900" algn="ctr" rotWithShape="0">
              <a:prstClr val="black">
                <a:alpha val="30000"/>
              </a:prst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E469FCA4-7AE8-615F-F49A-22F6129D2E36}"/>
              </a:ext>
            </a:extLst>
          </p:cNvPr>
          <p:cNvCxnSpPr>
            <a:cxnSpLocks/>
          </p:cNvCxnSpPr>
          <p:nvPr/>
        </p:nvCxnSpPr>
        <p:spPr>
          <a:xfrm>
            <a:off x="4014597" y="7908037"/>
            <a:ext cx="144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544C4ECB-AF68-1E96-9148-100455C3D95E}"/>
              </a:ext>
            </a:extLst>
          </p:cNvPr>
          <p:cNvCxnSpPr>
            <a:cxnSpLocks/>
          </p:cNvCxnSpPr>
          <p:nvPr/>
        </p:nvCxnSpPr>
        <p:spPr>
          <a:xfrm>
            <a:off x="7399800" y="7886700"/>
            <a:ext cx="144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66568FE0-E392-5CD8-7B94-4FBAF4EB3B1A}"/>
              </a:ext>
            </a:extLst>
          </p:cNvPr>
          <p:cNvCxnSpPr>
            <a:cxnSpLocks/>
          </p:cNvCxnSpPr>
          <p:nvPr/>
        </p:nvCxnSpPr>
        <p:spPr>
          <a:xfrm>
            <a:off x="10762869" y="7865363"/>
            <a:ext cx="1455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8F8481F2-A31A-BCB0-D4B8-9D2CB8B499FC}"/>
              </a:ext>
            </a:extLst>
          </p:cNvPr>
          <p:cNvCxnSpPr>
            <a:cxnSpLocks/>
          </p:cNvCxnSpPr>
          <p:nvPr/>
        </p:nvCxnSpPr>
        <p:spPr>
          <a:xfrm>
            <a:off x="14137005" y="7844026"/>
            <a:ext cx="1455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Audio 11">
            <a:hlinkClick r:id="" action="ppaction://media"/>
            <a:extLst>
              <a:ext uri="{FF2B5EF4-FFF2-40B4-BE49-F238E27FC236}">
                <a16:creationId xmlns:a16="http://schemas.microsoft.com/office/drawing/2014/main" id="{D983B028-A49A-4B6D-24CA-8DBC09447CC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329688" t="-329688" r="-329688" b="-329688"/>
          <a:stretch>
            <a:fillRect/>
          </a:stretch>
        </p:blipFill>
        <p:spPr>
          <a:xfrm>
            <a:off x="15078456" y="7077456"/>
            <a:ext cx="3086100" cy="30861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654"/>
    </mc:Choice>
    <mc:Fallback xmlns="">
      <p:transition spd="slow" advTm="286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789003" y="596827"/>
            <a:ext cx="1084993" cy="124111"/>
          </a:xfrm>
          <a:custGeom>
            <a:avLst/>
            <a:gdLst/>
            <a:ahLst/>
            <a:cxnLst/>
            <a:rect l="l" t="t" r="r" b="b"/>
            <a:pathLst>
              <a:path w="1446657" h="165481">
                <a:moveTo>
                  <a:pt x="0" y="27559"/>
                </a:moveTo>
                <a:cubicBezTo>
                  <a:pt x="0" y="12319"/>
                  <a:pt x="12319" y="0"/>
                  <a:pt x="27559" y="0"/>
                </a:cubicBezTo>
                <a:lnTo>
                  <a:pt x="1419098" y="0"/>
                </a:lnTo>
                <a:cubicBezTo>
                  <a:pt x="1434338" y="0"/>
                  <a:pt x="1446657" y="12319"/>
                  <a:pt x="1446657" y="27559"/>
                </a:cubicBezTo>
                <a:lnTo>
                  <a:pt x="1446657" y="137922"/>
                </a:lnTo>
                <a:cubicBezTo>
                  <a:pt x="1446657" y="153162"/>
                  <a:pt x="1434338" y="165481"/>
                  <a:pt x="1419098" y="165481"/>
                </a:cubicBezTo>
                <a:lnTo>
                  <a:pt x="27559" y="165481"/>
                </a:lnTo>
                <a:cubicBezTo>
                  <a:pt x="12319" y="165481"/>
                  <a:pt x="0" y="153162"/>
                  <a:pt x="0" y="137922"/>
                </a:cubicBezTo>
                <a:close/>
              </a:path>
            </a:pathLst>
          </a:custGeom>
          <a:solidFill>
            <a:srgbClr val="2A8C8C"/>
          </a:solidFill>
          <a:ln w="14299" cap="sq">
            <a:solidFill>
              <a:srgbClr val="2A8C8C"/>
            </a:solidFill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796147" y="978799"/>
            <a:ext cx="16197539" cy="668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Clustering Approaches and User Segments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96147" y="1767469"/>
            <a:ext cx="16472068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2176" dirty="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Multiple clustering paths were compared, then Behavioral </a:t>
            </a:r>
            <a:r>
              <a:rPr lang="en-US" sz="2176" dirty="0" err="1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KMeans</a:t>
            </a:r>
            <a:r>
              <a:rPr lang="en-US" sz="2176" dirty="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 was selected for interpretability and </a:t>
            </a:r>
            <a:r>
              <a:rPr lang="en-US" sz="2176" dirty="0" err="1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deployability</a:t>
            </a:r>
            <a:r>
              <a:rPr lang="en-US" sz="2176" dirty="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id="7" name="Freeform 7"/>
          <p:cNvSpPr/>
          <p:nvPr/>
        </p:nvSpPr>
        <p:spPr>
          <a:xfrm>
            <a:off x="786622" y="2324014"/>
            <a:ext cx="9133618" cy="5482304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9065" cap="sq">
            <a:solidFill>
              <a:srgbClr val="D9E2EA"/>
            </a:solidFill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Freeform 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81602" y="2324014"/>
            <a:ext cx="7129462" cy="5482304"/>
          </a:xfrm>
          <a:prstGeom prst="roundRect">
            <a:avLst>
              <a:gd name="adj" fmla="val 6540"/>
            </a:avLst>
          </a:prstGeom>
          <a:solidFill>
            <a:srgbClr val="FFFFFF"/>
          </a:solidFill>
          <a:ln w="19065" cap="sq">
            <a:solidFill>
              <a:srgbClr val="D9E2EA"/>
            </a:solidFill>
            <a:prstDash val="solid"/>
            <a:miter/>
          </a:ln>
        </p:spPr>
      </p:sp>
      <p:sp>
        <p:nvSpPr>
          <p:cNvPr id="10" name="TextBox 10"/>
          <p:cNvSpPr txBox="1"/>
          <p:nvPr/>
        </p:nvSpPr>
        <p:spPr>
          <a:xfrm>
            <a:off x="1221676" y="2745343"/>
            <a:ext cx="4804353" cy="411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Approaches compared</a:t>
            </a:r>
          </a:p>
        </p:txBody>
      </p:sp>
      <p:sp>
        <p:nvSpPr>
          <p:cNvPr id="12" name="Freeform 12"/>
          <p:cNvSpPr/>
          <p:nvPr/>
        </p:nvSpPr>
        <p:spPr>
          <a:xfrm>
            <a:off x="1214533" y="3328445"/>
            <a:ext cx="2402777" cy="535972"/>
          </a:xfrm>
          <a:custGeom>
            <a:avLst/>
            <a:gdLst/>
            <a:ahLst/>
            <a:cxnLst/>
            <a:rect l="l" t="t" r="r" b="b"/>
            <a:pathLst>
              <a:path w="3203702" h="714629">
                <a:moveTo>
                  <a:pt x="0" y="119126"/>
                </a:moveTo>
                <a:cubicBezTo>
                  <a:pt x="0" y="53340"/>
                  <a:pt x="53340" y="0"/>
                  <a:pt x="119126" y="0"/>
                </a:cubicBezTo>
                <a:lnTo>
                  <a:pt x="3084576" y="0"/>
                </a:lnTo>
                <a:cubicBezTo>
                  <a:pt x="3150362" y="0"/>
                  <a:pt x="3203702" y="53340"/>
                  <a:pt x="3203702" y="119126"/>
                </a:cubicBezTo>
                <a:lnTo>
                  <a:pt x="3203702" y="595503"/>
                </a:lnTo>
                <a:cubicBezTo>
                  <a:pt x="3203702" y="661289"/>
                  <a:pt x="3150362" y="714629"/>
                  <a:pt x="3084576" y="714629"/>
                </a:cubicBezTo>
                <a:lnTo>
                  <a:pt x="119126" y="714629"/>
                </a:lnTo>
                <a:cubicBezTo>
                  <a:pt x="53340" y="714502"/>
                  <a:pt x="0" y="661289"/>
                  <a:pt x="0" y="595503"/>
                </a:cubicBezTo>
                <a:close/>
              </a:path>
            </a:pathLst>
          </a:custGeom>
          <a:solidFill>
            <a:srgbClr val="EAF4F4"/>
          </a:solidFill>
          <a:ln w="14299" cap="sq">
            <a:solidFill>
              <a:srgbClr val="D9E2EA"/>
            </a:solidFill>
            <a:prstDash val="solid"/>
            <a:miter/>
          </a:ln>
        </p:spPr>
      </p:sp>
      <p:sp>
        <p:nvSpPr>
          <p:cNvPr id="13" name="TextBox 13"/>
          <p:cNvSpPr txBox="1"/>
          <p:nvPr/>
        </p:nvSpPr>
        <p:spPr>
          <a:xfrm>
            <a:off x="1372676" y="3472863"/>
            <a:ext cx="2141372" cy="247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Method</a:t>
            </a:r>
          </a:p>
        </p:txBody>
      </p:sp>
      <p:sp>
        <p:nvSpPr>
          <p:cNvPr id="15" name="Freeform 15"/>
          <p:cNvSpPr/>
          <p:nvPr/>
        </p:nvSpPr>
        <p:spPr>
          <a:xfrm>
            <a:off x="3602984" y="3328445"/>
            <a:ext cx="3404807" cy="535972"/>
          </a:xfrm>
          <a:custGeom>
            <a:avLst/>
            <a:gdLst/>
            <a:ahLst/>
            <a:cxnLst/>
            <a:rect l="l" t="t" r="r" b="b"/>
            <a:pathLst>
              <a:path w="4539742" h="714629">
                <a:moveTo>
                  <a:pt x="0" y="119126"/>
                </a:moveTo>
                <a:cubicBezTo>
                  <a:pt x="0" y="53340"/>
                  <a:pt x="53340" y="0"/>
                  <a:pt x="119126" y="0"/>
                </a:cubicBezTo>
                <a:lnTo>
                  <a:pt x="4420616" y="0"/>
                </a:lnTo>
                <a:cubicBezTo>
                  <a:pt x="4486402" y="0"/>
                  <a:pt x="4539742" y="53340"/>
                  <a:pt x="4539742" y="119126"/>
                </a:cubicBezTo>
                <a:lnTo>
                  <a:pt x="4539742" y="595503"/>
                </a:lnTo>
                <a:cubicBezTo>
                  <a:pt x="4539742" y="661289"/>
                  <a:pt x="4486402" y="714629"/>
                  <a:pt x="4420616" y="714629"/>
                </a:cubicBezTo>
                <a:lnTo>
                  <a:pt x="119126" y="714629"/>
                </a:lnTo>
                <a:cubicBezTo>
                  <a:pt x="53340" y="714502"/>
                  <a:pt x="0" y="661289"/>
                  <a:pt x="0" y="595503"/>
                </a:cubicBezTo>
                <a:close/>
              </a:path>
            </a:pathLst>
          </a:custGeom>
          <a:solidFill>
            <a:srgbClr val="EDF4FA"/>
          </a:solidFill>
          <a:ln w="14299" cap="sq">
            <a:solidFill>
              <a:srgbClr val="D9E2EA"/>
            </a:solidFill>
            <a:prstDash val="solid"/>
            <a:miter/>
          </a:ln>
        </p:spPr>
      </p:sp>
      <p:sp>
        <p:nvSpPr>
          <p:cNvPr id="16" name="TextBox 16"/>
          <p:cNvSpPr txBox="1"/>
          <p:nvPr/>
        </p:nvSpPr>
        <p:spPr>
          <a:xfrm>
            <a:off x="3761118" y="3472863"/>
            <a:ext cx="3143421" cy="247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Representation</a:t>
            </a:r>
          </a:p>
        </p:txBody>
      </p:sp>
      <p:sp>
        <p:nvSpPr>
          <p:cNvPr id="18" name="Freeform 18"/>
          <p:cNvSpPr/>
          <p:nvPr/>
        </p:nvSpPr>
        <p:spPr>
          <a:xfrm>
            <a:off x="6993484" y="3328445"/>
            <a:ext cx="2636139" cy="535972"/>
          </a:xfrm>
          <a:custGeom>
            <a:avLst/>
            <a:gdLst/>
            <a:ahLst/>
            <a:cxnLst/>
            <a:rect l="l" t="t" r="r" b="b"/>
            <a:pathLst>
              <a:path w="3514852" h="714629">
                <a:moveTo>
                  <a:pt x="0" y="119126"/>
                </a:moveTo>
                <a:cubicBezTo>
                  <a:pt x="0" y="53340"/>
                  <a:pt x="53340" y="0"/>
                  <a:pt x="119126" y="0"/>
                </a:cubicBezTo>
                <a:lnTo>
                  <a:pt x="3395726" y="0"/>
                </a:lnTo>
                <a:cubicBezTo>
                  <a:pt x="3461512" y="0"/>
                  <a:pt x="3514852" y="53340"/>
                  <a:pt x="3514852" y="119126"/>
                </a:cubicBezTo>
                <a:lnTo>
                  <a:pt x="3514852" y="595503"/>
                </a:lnTo>
                <a:cubicBezTo>
                  <a:pt x="3514852" y="661289"/>
                  <a:pt x="3461512" y="714629"/>
                  <a:pt x="3395726" y="714629"/>
                </a:cubicBezTo>
                <a:lnTo>
                  <a:pt x="119126" y="714629"/>
                </a:lnTo>
                <a:cubicBezTo>
                  <a:pt x="53340" y="714502"/>
                  <a:pt x="0" y="661289"/>
                  <a:pt x="0" y="595503"/>
                </a:cubicBezTo>
                <a:close/>
              </a:path>
            </a:pathLst>
          </a:custGeom>
          <a:solidFill>
            <a:srgbClr val="EDF4FA"/>
          </a:solidFill>
          <a:ln w="14299" cap="sq">
            <a:solidFill>
              <a:srgbClr val="D9E2EA"/>
            </a:solidFill>
            <a:prstDash val="solid"/>
            <a:miter/>
          </a:ln>
        </p:spPr>
      </p:sp>
      <p:sp>
        <p:nvSpPr>
          <p:cNvPr id="19" name="TextBox 19"/>
          <p:cNvSpPr txBox="1"/>
          <p:nvPr/>
        </p:nvSpPr>
        <p:spPr>
          <a:xfrm>
            <a:off x="7151627" y="3472863"/>
            <a:ext cx="2374725" cy="247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Model or role</a:t>
            </a:r>
          </a:p>
        </p:txBody>
      </p:sp>
      <p:sp>
        <p:nvSpPr>
          <p:cNvPr id="21" name="Freeform 21"/>
          <p:cNvSpPr/>
          <p:nvPr/>
        </p:nvSpPr>
        <p:spPr>
          <a:xfrm>
            <a:off x="1215962" y="3851491"/>
            <a:ext cx="2399918" cy="835057"/>
          </a:xfrm>
          <a:custGeom>
            <a:avLst/>
            <a:gdLst/>
            <a:ahLst/>
            <a:cxnLst/>
            <a:rect l="l" t="t" r="r" b="b"/>
            <a:pathLst>
              <a:path w="3199892" h="1113409">
                <a:moveTo>
                  <a:pt x="0" y="0"/>
                </a:moveTo>
                <a:lnTo>
                  <a:pt x="3199892" y="0"/>
                </a:lnTo>
                <a:lnTo>
                  <a:pt x="3199892" y="1113409"/>
                </a:lnTo>
                <a:lnTo>
                  <a:pt x="0" y="1113409"/>
                </a:lnTo>
                <a:close/>
              </a:path>
            </a:pathLst>
          </a:custGeom>
          <a:solidFill>
            <a:srgbClr val="FFFFFF"/>
          </a:solidFill>
          <a:ln w="11439" cap="sq">
            <a:solidFill>
              <a:srgbClr val="D9E2EA"/>
            </a:solidFill>
            <a:prstDash val="solid"/>
            <a:miter/>
          </a:ln>
        </p:spPr>
      </p:sp>
      <p:sp>
        <p:nvSpPr>
          <p:cNvPr id="22" name="TextBox 22"/>
          <p:cNvSpPr txBox="1"/>
          <p:nvPr/>
        </p:nvSpPr>
        <p:spPr>
          <a:xfrm>
            <a:off x="1372676" y="4012406"/>
            <a:ext cx="2113912" cy="613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Approach A</a:t>
            </a:r>
          </a:p>
        </p:txBody>
      </p:sp>
      <p:sp>
        <p:nvSpPr>
          <p:cNvPr id="24" name="Freeform 24"/>
          <p:cNvSpPr/>
          <p:nvPr/>
        </p:nvSpPr>
        <p:spPr>
          <a:xfrm>
            <a:off x="3604412" y="3851491"/>
            <a:ext cx="3401949" cy="835057"/>
          </a:xfrm>
          <a:custGeom>
            <a:avLst/>
            <a:gdLst/>
            <a:ahLst/>
            <a:cxnLst/>
            <a:rect l="l" t="t" r="r" b="b"/>
            <a:pathLst>
              <a:path w="4535932" h="1113409">
                <a:moveTo>
                  <a:pt x="0" y="0"/>
                </a:moveTo>
                <a:lnTo>
                  <a:pt x="4535932" y="0"/>
                </a:lnTo>
                <a:lnTo>
                  <a:pt x="4535932" y="1113409"/>
                </a:lnTo>
                <a:lnTo>
                  <a:pt x="0" y="1113409"/>
                </a:lnTo>
                <a:close/>
              </a:path>
            </a:pathLst>
          </a:custGeom>
          <a:solidFill>
            <a:srgbClr val="FFFFFF"/>
          </a:solidFill>
          <a:ln w="11439" cap="sq">
            <a:solidFill>
              <a:srgbClr val="D9E2EA"/>
            </a:solidFill>
            <a:prstDash val="solid"/>
            <a:miter/>
          </a:ln>
        </p:spPr>
      </p:sp>
      <p:sp>
        <p:nvSpPr>
          <p:cNvPr id="25" name="TextBox 25"/>
          <p:cNvSpPr txBox="1"/>
          <p:nvPr/>
        </p:nvSpPr>
        <p:spPr>
          <a:xfrm>
            <a:off x="3761118" y="4012406"/>
            <a:ext cx="3115970" cy="613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>
                <a:solidFill>
                  <a:srgbClr val="2E4053"/>
                </a:solidFill>
                <a:latin typeface="Inter"/>
                <a:ea typeface="Inter"/>
                <a:cs typeface="Inter"/>
                <a:sym typeface="Inter"/>
              </a:rPr>
              <a:t>5 behavioural features</a:t>
            </a:r>
          </a:p>
        </p:txBody>
      </p:sp>
      <p:sp>
        <p:nvSpPr>
          <p:cNvPr id="27" name="Freeform 27"/>
          <p:cNvSpPr/>
          <p:nvPr/>
        </p:nvSpPr>
        <p:spPr>
          <a:xfrm>
            <a:off x="6994912" y="3851491"/>
            <a:ext cx="2633281" cy="835057"/>
          </a:xfrm>
          <a:custGeom>
            <a:avLst/>
            <a:gdLst/>
            <a:ahLst/>
            <a:cxnLst/>
            <a:rect l="l" t="t" r="r" b="b"/>
            <a:pathLst>
              <a:path w="3511042" h="1113409">
                <a:moveTo>
                  <a:pt x="0" y="0"/>
                </a:moveTo>
                <a:lnTo>
                  <a:pt x="3511042" y="0"/>
                </a:lnTo>
                <a:lnTo>
                  <a:pt x="3511042" y="1113409"/>
                </a:lnTo>
                <a:lnTo>
                  <a:pt x="0" y="1113409"/>
                </a:lnTo>
                <a:close/>
              </a:path>
            </a:pathLst>
          </a:custGeom>
          <a:solidFill>
            <a:srgbClr val="FFFFFF"/>
          </a:solidFill>
          <a:ln w="11439" cap="sq">
            <a:solidFill>
              <a:srgbClr val="D9E2EA"/>
            </a:solidFill>
            <a:prstDash val="solid"/>
            <a:miter/>
          </a:ln>
        </p:spPr>
      </p:sp>
      <p:sp>
        <p:nvSpPr>
          <p:cNvPr id="28" name="TextBox 28"/>
          <p:cNvSpPr txBox="1"/>
          <p:nvPr/>
        </p:nvSpPr>
        <p:spPr>
          <a:xfrm>
            <a:off x="7151627" y="4012406"/>
            <a:ext cx="2347274" cy="613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>
                <a:solidFill>
                  <a:srgbClr val="2E4053"/>
                </a:solidFill>
                <a:latin typeface="Inter"/>
                <a:ea typeface="Inter"/>
                <a:cs typeface="Inter"/>
                <a:sym typeface="Inter"/>
              </a:rPr>
              <a:t>KMeans, k=4</a:t>
            </a:r>
          </a:p>
        </p:txBody>
      </p:sp>
      <p:sp>
        <p:nvSpPr>
          <p:cNvPr id="30" name="Freeform 30"/>
          <p:cNvSpPr/>
          <p:nvPr/>
        </p:nvSpPr>
        <p:spPr>
          <a:xfrm>
            <a:off x="1215962" y="4675089"/>
            <a:ext cx="2399918" cy="835057"/>
          </a:xfrm>
          <a:custGeom>
            <a:avLst/>
            <a:gdLst/>
            <a:ahLst/>
            <a:cxnLst/>
            <a:rect l="l" t="t" r="r" b="b"/>
            <a:pathLst>
              <a:path w="3199892" h="1113409">
                <a:moveTo>
                  <a:pt x="0" y="0"/>
                </a:moveTo>
                <a:lnTo>
                  <a:pt x="3199892" y="0"/>
                </a:lnTo>
                <a:lnTo>
                  <a:pt x="3199892" y="1113409"/>
                </a:lnTo>
                <a:lnTo>
                  <a:pt x="0" y="1113409"/>
                </a:lnTo>
                <a:close/>
              </a:path>
            </a:pathLst>
          </a:custGeom>
          <a:solidFill>
            <a:srgbClr val="FAFCFD"/>
          </a:solidFill>
          <a:ln w="11439" cap="sq">
            <a:solidFill>
              <a:srgbClr val="D9E2EA"/>
            </a:solidFill>
            <a:prstDash val="solid"/>
            <a:miter/>
          </a:ln>
        </p:spPr>
      </p:sp>
      <p:sp>
        <p:nvSpPr>
          <p:cNvPr id="31" name="TextBox 31"/>
          <p:cNvSpPr txBox="1"/>
          <p:nvPr/>
        </p:nvSpPr>
        <p:spPr>
          <a:xfrm>
            <a:off x="1372676" y="4836004"/>
            <a:ext cx="2113912" cy="613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Checks</a:t>
            </a:r>
          </a:p>
        </p:txBody>
      </p:sp>
      <p:sp>
        <p:nvSpPr>
          <p:cNvPr id="33" name="Freeform 33"/>
          <p:cNvSpPr/>
          <p:nvPr/>
        </p:nvSpPr>
        <p:spPr>
          <a:xfrm>
            <a:off x="3604412" y="4675089"/>
            <a:ext cx="3401949" cy="835057"/>
          </a:xfrm>
          <a:custGeom>
            <a:avLst/>
            <a:gdLst/>
            <a:ahLst/>
            <a:cxnLst/>
            <a:rect l="l" t="t" r="r" b="b"/>
            <a:pathLst>
              <a:path w="4535932" h="1113409">
                <a:moveTo>
                  <a:pt x="0" y="0"/>
                </a:moveTo>
                <a:lnTo>
                  <a:pt x="4535932" y="0"/>
                </a:lnTo>
                <a:lnTo>
                  <a:pt x="4535932" y="1113409"/>
                </a:lnTo>
                <a:lnTo>
                  <a:pt x="0" y="1113409"/>
                </a:lnTo>
                <a:close/>
              </a:path>
            </a:pathLst>
          </a:custGeom>
          <a:solidFill>
            <a:srgbClr val="FAFCFD"/>
          </a:solidFill>
          <a:ln w="11439" cap="sq">
            <a:solidFill>
              <a:srgbClr val="D9E2EA"/>
            </a:solidFill>
            <a:prstDash val="solid"/>
            <a:miter/>
          </a:ln>
        </p:spPr>
      </p:sp>
      <p:sp>
        <p:nvSpPr>
          <p:cNvPr id="34" name="TextBox 34"/>
          <p:cNvSpPr txBox="1"/>
          <p:nvPr/>
        </p:nvSpPr>
        <p:spPr>
          <a:xfrm>
            <a:off x="3761118" y="4836004"/>
            <a:ext cx="3115970" cy="613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>
                <a:solidFill>
                  <a:srgbClr val="2E4053"/>
                </a:solidFill>
                <a:latin typeface="Inter"/>
                <a:ea typeface="Inter"/>
                <a:cs typeface="Inter"/>
                <a:sym typeface="Inter"/>
              </a:rPr>
              <a:t>Behavioural features</a:t>
            </a:r>
          </a:p>
        </p:txBody>
      </p:sp>
      <p:sp>
        <p:nvSpPr>
          <p:cNvPr id="36" name="Freeform 36"/>
          <p:cNvSpPr/>
          <p:nvPr/>
        </p:nvSpPr>
        <p:spPr>
          <a:xfrm>
            <a:off x="6994912" y="4675089"/>
            <a:ext cx="2633281" cy="835057"/>
          </a:xfrm>
          <a:custGeom>
            <a:avLst/>
            <a:gdLst/>
            <a:ahLst/>
            <a:cxnLst/>
            <a:rect l="l" t="t" r="r" b="b"/>
            <a:pathLst>
              <a:path w="3511042" h="1113409">
                <a:moveTo>
                  <a:pt x="0" y="0"/>
                </a:moveTo>
                <a:lnTo>
                  <a:pt x="3511042" y="0"/>
                </a:lnTo>
                <a:lnTo>
                  <a:pt x="3511042" y="1113409"/>
                </a:lnTo>
                <a:lnTo>
                  <a:pt x="0" y="1113409"/>
                </a:lnTo>
                <a:close/>
              </a:path>
            </a:pathLst>
          </a:custGeom>
          <a:solidFill>
            <a:srgbClr val="FAFCFD"/>
          </a:solidFill>
          <a:ln w="11439" cap="sq">
            <a:solidFill>
              <a:srgbClr val="D9E2EA"/>
            </a:solidFill>
            <a:prstDash val="solid"/>
            <a:miter/>
          </a:ln>
        </p:spPr>
      </p:sp>
      <p:sp>
        <p:nvSpPr>
          <p:cNvPr id="37" name="TextBox 37"/>
          <p:cNvSpPr txBox="1"/>
          <p:nvPr/>
        </p:nvSpPr>
        <p:spPr>
          <a:xfrm>
            <a:off x="7151627" y="4836004"/>
            <a:ext cx="2347274" cy="613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>
                <a:solidFill>
                  <a:srgbClr val="2E4053"/>
                </a:solidFill>
                <a:latin typeface="Inter"/>
                <a:ea typeface="Inter"/>
                <a:cs typeface="Inter"/>
                <a:sym typeface="Inter"/>
              </a:rPr>
              <a:t>MiniBatchKMeans</a:t>
            </a:r>
          </a:p>
          <a:p>
            <a:pPr algn="l">
              <a:lnSpc>
                <a:spcPts val="1945"/>
              </a:lnSpc>
            </a:pPr>
            <a:r>
              <a:rPr lang="en-US" sz="1621">
                <a:solidFill>
                  <a:srgbClr val="2E4053"/>
                </a:solidFill>
                <a:latin typeface="Inter"/>
                <a:ea typeface="Inter"/>
                <a:cs typeface="Inter"/>
                <a:sym typeface="Inter"/>
              </a:rPr>
              <a:t>and DBSCAN</a:t>
            </a:r>
          </a:p>
        </p:txBody>
      </p:sp>
      <p:sp>
        <p:nvSpPr>
          <p:cNvPr id="39" name="Freeform 39"/>
          <p:cNvSpPr/>
          <p:nvPr/>
        </p:nvSpPr>
        <p:spPr>
          <a:xfrm>
            <a:off x="1215962" y="5498697"/>
            <a:ext cx="2399918" cy="835057"/>
          </a:xfrm>
          <a:custGeom>
            <a:avLst/>
            <a:gdLst/>
            <a:ahLst/>
            <a:cxnLst/>
            <a:rect l="l" t="t" r="r" b="b"/>
            <a:pathLst>
              <a:path w="3199892" h="1113409">
                <a:moveTo>
                  <a:pt x="0" y="0"/>
                </a:moveTo>
                <a:lnTo>
                  <a:pt x="3199892" y="0"/>
                </a:lnTo>
                <a:lnTo>
                  <a:pt x="3199892" y="1113409"/>
                </a:lnTo>
                <a:lnTo>
                  <a:pt x="0" y="1113409"/>
                </a:lnTo>
                <a:close/>
              </a:path>
            </a:pathLst>
          </a:custGeom>
          <a:solidFill>
            <a:srgbClr val="FFFFFF"/>
          </a:solidFill>
          <a:ln w="11439" cap="sq">
            <a:solidFill>
              <a:srgbClr val="D9E2EA"/>
            </a:solidFill>
            <a:prstDash val="solid"/>
            <a:miter/>
          </a:ln>
        </p:spPr>
      </p:sp>
      <p:sp>
        <p:nvSpPr>
          <p:cNvPr id="40" name="TextBox 40"/>
          <p:cNvSpPr txBox="1"/>
          <p:nvPr/>
        </p:nvSpPr>
        <p:spPr>
          <a:xfrm>
            <a:off x="1372676" y="5659612"/>
            <a:ext cx="2113912" cy="613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Approach B</a:t>
            </a:r>
          </a:p>
        </p:txBody>
      </p:sp>
      <p:sp>
        <p:nvSpPr>
          <p:cNvPr id="42" name="Freeform 42"/>
          <p:cNvSpPr/>
          <p:nvPr/>
        </p:nvSpPr>
        <p:spPr>
          <a:xfrm>
            <a:off x="3604412" y="5498697"/>
            <a:ext cx="3401949" cy="835057"/>
          </a:xfrm>
          <a:custGeom>
            <a:avLst/>
            <a:gdLst/>
            <a:ahLst/>
            <a:cxnLst/>
            <a:rect l="l" t="t" r="r" b="b"/>
            <a:pathLst>
              <a:path w="4535932" h="1113409">
                <a:moveTo>
                  <a:pt x="0" y="0"/>
                </a:moveTo>
                <a:lnTo>
                  <a:pt x="4535932" y="0"/>
                </a:lnTo>
                <a:lnTo>
                  <a:pt x="4535932" y="1113409"/>
                </a:lnTo>
                <a:lnTo>
                  <a:pt x="0" y="1113409"/>
                </a:lnTo>
                <a:close/>
              </a:path>
            </a:pathLst>
          </a:custGeom>
          <a:solidFill>
            <a:srgbClr val="FFFFFF"/>
          </a:solidFill>
          <a:ln w="11439" cap="sq">
            <a:solidFill>
              <a:srgbClr val="D9E2EA"/>
            </a:solidFill>
            <a:prstDash val="solid"/>
            <a:miter/>
          </a:ln>
        </p:spPr>
      </p:sp>
      <p:sp>
        <p:nvSpPr>
          <p:cNvPr id="43" name="TextBox 43"/>
          <p:cNvSpPr txBox="1"/>
          <p:nvPr/>
        </p:nvSpPr>
        <p:spPr>
          <a:xfrm>
            <a:off x="3761118" y="5659612"/>
            <a:ext cx="3115970" cy="613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>
                <a:solidFill>
                  <a:srgbClr val="2E4053"/>
                </a:solidFill>
                <a:latin typeface="Inter"/>
                <a:ea typeface="Inter"/>
                <a:cs typeface="Inter"/>
                <a:sym typeface="Inter"/>
              </a:rPr>
              <a:t>50 SVD latent features</a:t>
            </a:r>
          </a:p>
        </p:txBody>
      </p:sp>
      <p:sp>
        <p:nvSpPr>
          <p:cNvPr id="45" name="Freeform 45"/>
          <p:cNvSpPr/>
          <p:nvPr/>
        </p:nvSpPr>
        <p:spPr>
          <a:xfrm>
            <a:off x="6994912" y="5498697"/>
            <a:ext cx="2633281" cy="835057"/>
          </a:xfrm>
          <a:custGeom>
            <a:avLst/>
            <a:gdLst/>
            <a:ahLst/>
            <a:cxnLst/>
            <a:rect l="l" t="t" r="r" b="b"/>
            <a:pathLst>
              <a:path w="3511042" h="1113409">
                <a:moveTo>
                  <a:pt x="0" y="0"/>
                </a:moveTo>
                <a:lnTo>
                  <a:pt x="3511042" y="0"/>
                </a:lnTo>
                <a:lnTo>
                  <a:pt x="3511042" y="1113409"/>
                </a:lnTo>
                <a:lnTo>
                  <a:pt x="0" y="1113409"/>
                </a:lnTo>
                <a:close/>
              </a:path>
            </a:pathLst>
          </a:custGeom>
          <a:solidFill>
            <a:srgbClr val="FFFFFF"/>
          </a:solidFill>
          <a:ln w="11439" cap="sq">
            <a:solidFill>
              <a:srgbClr val="D9E2EA"/>
            </a:solidFill>
            <a:prstDash val="solid"/>
            <a:miter/>
          </a:ln>
        </p:spPr>
      </p:sp>
      <p:sp>
        <p:nvSpPr>
          <p:cNvPr id="46" name="TextBox 46"/>
          <p:cNvSpPr txBox="1"/>
          <p:nvPr/>
        </p:nvSpPr>
        <p:spPr>
          <a:xfrm>
            <a:off x="7151627" y="5659612"/>
            <a:ext cx="2347274" cy="613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>
                <a:solidFill>
                  <a:srgbClr val="2E4053"/>
                </a:solidFill>
                <a:latin typeface="Inter"/>
                <a:ea typeface="Inter"/>
                <a:cs typeface="Inter"/>
                <a:sym typeface="Inter"/>
              </a:rPr>
              <a:t>KMeans, k=6</a:t>
            </a:r>
          </a:p>
        </p:txBody>
      </p:sp>
      <p:sp>
        <p:nvSpPr>
          <p:cNvPr id="48" name="Freeform 48"/>
          <p:cNvSpPr/>
          <p:nvPr/>
        </p:nvSpPr>
        <p:spPr>
          <a:xfrm>
            <a:off x="1215962" y="6322295"/>
            <a:ext cx="2399918" cy="835057"/>
          </a:xfrm>
          <a:custGeom>
            <a:avLst/>
            <a:gdLst/>
            <a:ahLst/>
            <a:cxnLst/>
            <a:rect l="l" t="t" r="r" b="b"/>
            <a:pathLst>
              <a:path w="3199892" h="1113409">
                <a:moveTo>
                  <a:pt x="0" y="0"/>
                </a:moveTo>
                <a:lnTo>
                  <a:pt x="3199892" y="0"/>
                </a:lnTo>
                <a:lnTo>
                  <a:pt x="3199892" y="1113409"/>
                </a:lnTo>
                <a:lnTo>
                  <a:pt x="0" y="1113409"/>
                </a:lnTo>
                <a:close/>
              </a:path>
            </a:pathLst>
          </a:custGeom>
          <a:solidFill>
            <a:srgbClr val="FAFCFD"/>
          </a:solidFill>
          <a:ln w="11439" cap="sq">
            <a:solidFill>
              <a:srgbClr val="D9E2EA"/>
            </a:solidFill>
            <a:prstDash val="solid"/>
            <a:miter/>
          </a:ln>
        </p:spPr>
      </p:sp>
      <p:sp>
        <p:nvSpPr>
          <p:cNvPr id="49" name="TextBox 49"/>
          <p:cNvSpPr txBox="1"/>
          <p:nvPr/>
        </p:nvSpPr>
        <p:spPr>
          <a:xfrm>
            <a:off x="1372676" y="6483220"/>
            <a:ext cx="2113912" cy="613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Benchmark</a:t>
            </a:r>
          </a:p>
        </p:txBody>
      </p:sp>
      <p:sp>
        <p:nvSpPr>
          <p:cNvPr id="51" name="Freeform 51"/>
          <p:cNvSpPr/>
          <p:nvPr/>
        </p:nvSpPr>
        <p:spPr>
          <a:xfrm>
            <a:off x="3604412" y="6322295"/>
            <a:ext cx="3401949" cy="835057"/>
          </a:xfrm>
          <a:custGeom>
            <a:avLst/>
            <a:gdLst/>
            <a:ahLst/>
            <a:cxnLst/>
            <a:rect l="l" t="t" r="r" b="b"/>
            <a:pathLst>
              <a:path w="4535932" h="1113409">
                <a:moveTo>
                  <a:pt x="0" y="0"/>
                </a:moveTo>
                <a:lnTo>
                  <a:pt x="4535932" y="0"/>
                </a:lnTo>
                <a:lnTo>
                  <a:pt x="4535932" y="1113409"/>
                </a:lnTo>
                <a:lnTo>
                  <a:pt x="0" y="1113409"/>
                </a:lnTo>
                <a:close/>
              </a:path>
            </a:pathLst>
          </a:custGeom>
          <a:solidFill>
            <a:srgbClr val="FAFCFD"/>
          </a:solidFill>
          <a:ln w="11439" cap="sq">
            <a:solidFill>
              <a:srgbClr val="D9E2EA"/>
            </a:solidFill>
            <a:prstDash val="solid"/>
            <a:miter/>
          </a:ln>
        </p:spPr>
      </p:sp>
      <p:sp>
        <p:nvSpPr>
          <p:cNvPr id="52" name="TextBox 52"/>
          <p:cNvSpPr txBox="1"/>
          <p:nvPr/>
        </p:nvSpPr>
        <p:spPr>
          <a:xfrm>
            <a:off x="3761118" y="6483220"/>
            <a:ext cx="3115970" cy="613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>
                <a:solidFill>
                  <a:srgbClr val="2E4053"/>
                </a:solidFill>
                <a:latin typeface="Inter"/>
                <a:ea typeface="Inter"/>
                <a:cs typeface="Inter"/>
                <a:sym typeface="Inter"/>
              </a:rPr>
              <a:t>Product popularity</a:t>
            </a:r>
          </a:p>
        </p:txBody>
      </p:sp>
      <p:sp>
        <p:nvSpPr>
          <p:cNvPr id="54" name="Freeform 54"/>
          <p:cNvSpPr/>
          <p:nvPr/>
        </p:nvSpPr>
        <p:spPr>
          <a:xfrm>
            <a:off x="6994912" y="6322295"/>
            <a:ext cx="2633281" cy="835057"/>
          </a:xfrm>
          <a:custGeom>
            <a:avLst/>
            <a:gdLst/>
            <a:ahLst/>
            <a:cxnLst/>
            <a:rect l="l" t="t" r="r" b="b"/>
            <a:pathLst>
              <a:path w="3511042" h="1113409">
                <a:moveTo>
                  <a:pt x="0" y="0"/>
                </a:moveTo>
                <a:lnTo>
                  <a:pt x="3511042" y="0"/>
                </a:lnTo>
                <a:lnTo>
                  <a:pt x="3511042" y="1113409"/>
                </a:lnTo>
                <a:lnTo>
                  <a:pt x="0" y="1113409"/>
                </a:lnTo>
                <a:close/>
              </a:path>
            </a:pathLst>
          </a:custGeom>
          <a:solidFill>
            <a:srgbClr val="FAFCFD"/>
          </a:solidFill>
          <a:ln w="11439" cap="sq">
            <a:solidFill>
              <a:srgbClr val="D9E2EA"/>
            </a:solidFill>
            <a:prstDash val="solid"/>
            <a:miter/>
          </a:ln>
        </p:spPr>
      </p:sp>
      <p:sp>
        <p:nvSpPr>
          <p:cNvPr id="55" name="TextBox 55"/>
          <p:cNvSpPr txBox="1"/>
          <p:nvPr/>
        </p:nvSpPr>
        <p:spPr>
          <a:xfrm>
            <a:off x="7151627" y="6483220"/>
            <a:ext cx="2347274" cy="613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>
                <a:solidFill>
                  <a:srgbClr val="2E4053"/>
                </a:solidFill>
                <a:latin typeface="Inter"/>
                <a:ea typeface="Inter"/>
                <a:cs typeface="Inter"/>
                <a:sym typeface="Inter"/>
              </a:rPr>
              <a:t>Global Popularity</a:t>
            </a:r>
          </a:p>
        </p:txBody>
      </p:sp>
      <p:sp>
        <p:nvSpPr>
          <p:cNvPr id="57" name="Freeform 57"/>
          <p:cNvSpPr/>
          <p:nvPr/>
        </p:nvSpPr>
        <p:spPr>
          <a:xfrm>
            <a:off x="1214533" y="7020935"/>
            <a:ext cx="8413660" cy="648000"/>
          </a:xfrm>
          <a:custGeom>
            <a:avLst/>
            <a:gdLst/>
            <a:ahLst/>
            <a:cxnLst/>
            <a:rect l="l" t="t" r="r" b="b"/>
            <a:pathLst>
              <a:path w="11055350" h="641350">
                <a:moveTo>
                  <a:pt x="0" y="106934"/>
                </a:moveTo>
                <a:cubicBezTo>
                  <a:pt x="0" y="47879"/>
                  <a:pt x="47879" y="0"/>
                  <a:pt x="106934" y="0"/>
                </a:cubicBezTo>
                <a:lnTo>
                  <a:pt x="10948416" y="0"/>
                </a:lnTo>
                <a:cubicBezTo>
                  <a:pt x="11007472" y="0"/>
                  <a:pt x="11055350" y="47879"/>
                  <a:pt x="11055350" y="106934"/>
                </a:cubicBezTo>
                <a:lnTo>
                  <a:pt x="11055350" y="534416"/>
                </a:lnTo>
                <a:cubicBezTo>
                  <a:pt x="11055350" y="593471"/>
                  <a:pt x="11007472" y="641350"/>
                  <a:pt x="10948416" y="641350"/>
                </a:cubicBezTo>
                <a:lnTo>
                  <a:pt x="106934" y="641350"/>
                </a:lnTo>
                <a:cubicBezTo>
                  <a:pt x="47879" y="641350"/>
                  <a:pt x="0" y="593471"/>
                  <a:pt x="0" y="534416"/>
                </a:cubicBezTo>
                <a:close/>
              </a:path>
            </a:pathLst>
          </a:custGeom>
          <a:solidFill>
            <a:srgbClr val="EDF4FA"/>
          </a:solidFill>
          <a:ln w="14299" cap="sq">
            <a:solidFill>
              <a:srgbClr val="D9E2EA"/>
            </a:solidFill>
            <a:prstDash val="solid"/>
            <a:miter/>
          </a:ln>
        </p:spPr>
      </p:sp>
      <p:sp>
        <p:nvSpPr>
          <p:cNvPr id="58" name="TextBox 58"/>
          <p:cNvSpPr txBox="1"/>
          <p:nvPr/>
        </p:nvSpPr>
        <p:spPr>
          <a:xfrm>
            <a:off x="1455029" y="7124700"/>
            <a:ext cx="7686961" cy="470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1529" dirty="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The benchmark is used for comparison and fallback, not as the deployed clustering model.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816657" y="2745343"/>
            <a:ext cx="4941618" cy="411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1" dirty="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Selected </a:t>
            </a:r>
            <a:r>
              <a:rPr lang="en-US" sz="2551" b="1" dirty="0" err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behavioural</a:t>
            </a:r>
            <a:r>
              <a:rPr lang="en-US" sz="2551" b="1" dirty="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 segments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0816657" y="3223444"/>
            <a:ext cx="343167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dirty="0" err="1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KMeans</a:t>
            </a:r>
            <a:r>
              <a:rPr lang="en-US" dirty="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 k=4 cluster shares</a:t>
            </a:r>
          </a:p>
        </p:txBody>
      </p:sp>
      <p:sp>
        <p:nvSpPr>
          <p:cNvPr id="62" name="Freeform 62"/>
          <p:cNvSpPr/>
          <p:nvPr/>
        </p:nvSpPr>
        <p:spPr>
          <a:xfrm>
            <a:off x="10809513" y="3795426"/>
            <a:ext cx="2394871" cy="357474"/>
          </a:xfrm>
          <a:custGeom>
            <a:avLst/>
            <a:gdLst/>
            <a:ahLst/>
            <a:cxnLst/>
            <a:rect l="l" t="t" r="r" b="b"/>
            <a:pathLst>
              <a:path w="3193161" h="476631">
                <a:moveTo>
                  <a:pt x="0" y="0"/>
                </a:moveTo>
                <a:lnTo>
                  <a:pt x="3193161" y="0"/>
                </a:lnTo>
                <a:lnTo>
                  <a:pt x="3193161" y="476631"/>
                </a:lnTo>
                <a:lnTo>
                  <a:pt x="0" y="476631"/>
                </a:lnTo>
                <a:close/>
              </a:path>
            </a:pathLst>
          </a:custGeom>
          <a:solidFill>
            <a:srgbClr val="2A8C8C"/>
          </a:solidFill>
          <a:ln w="14299" cap="sq">
            <a:solidFill>
              <a:srgbClr val="2A8C8C"/>
            </a:solidFill>
            <a:prstDash val="solid"/>
            <a:miter/>
          </a:ln>
        </p:spPr>
      </p:sp>
      <p:sp>
        <p:nvSpPr>
          <p:cNvPr id="64" name="Freeform 64"/>
          <p:cNvSpPr/>
          <p:nvPr/>
        </p:nvSpPr>
        <p:spPr>
          <a:xfrm>
            <a:off x="13190087" y="3795426"/>
            <a:ext cx="1979200" cy="357474"/>
          </a:xfrm>
          <a:custGeom>
            <a:avLst/>
            <a:gdLst/>
            <a:ahLst/>
            <a:cxnLst/>
            <a:rect l="l" t="t" r="r" b="b"/>
            <a:pathLst>
              <a:path w="2638933" h="476631">
                <a:moveTo>
                  <a:pt x="0" y="0"/>
                </a:moveTo>
                <a:lnTo>
                  <a:pt x="2638933" y="0"/>
                </a:lnTo>
                <a:lnTo>
                  <a:pt x="2638933" y="476631"/>
                </a:lnTo>
                <a:lnTo>
                  <a:pt x="0" y="476631"/>
                </a:lnTo>
                <a:close/>
              </a:path>
            </a:pathLst>
          </a:custGeom>
          <a:solidFill>
            <a:srgbClr val="5D86A6"/>
          </a:solidFill>
          <a:ln w="14299" cap="sq">
            <a:solidFill>
              <a:srgbClr val="5D86A6"/>
            </a:solidFill>
            <a:prstDash val="solid"/>
            <a:miter/>
          </a:ln>
        </p:spPr>
      </p:sp>
      <p:sp>
        <p:nvSpPr>
          <p:cNvPr id="66" name="Freeform 66"/>
          <p:cNvSpPr/>
          <p:nvPr/>
        </p:nvSpPr>
        <p:spPr>
          <a:xfrm>
            <a:off x="15155008" y="3795426"/>
            <a:ext cx="983933" cy="357474"/>
          </a:xfrm>
          <a:custGeom>
            <a:avLst/>
            <a:gdLst/>
            <a:ahLst/>
            <a:cxnLst/>
            <a:rect l="l" t="t" r="r" b="b"/>
            <a:pathLst>
              <a:path w="1311910" h="476631">
                <a:moveTo>
                  <a:pt x="0" y="0"/>
                </a:moveTo>
                <a:lnTo>
                  <a:pt x="1311910" y="0"/>
                </a:lnTo>
                <a:lnTo>
                  <a:pt x="1311910" y="476631"/>
                </a:lnTo>
                <a:lnTo>
                  <a:pt x="0" y="476631"/>
                </a:lnTo>
                <a:close/>
              </a:path>
            </a:pathLst>
          </a:custGeom>
          <a:solidFill>
            <a:srgbClr val="F29F05"/>
          </a:solidFill>
          <a:ln w="14299" cap="sq">
            <a:solidFill>
              <a:srgbClr val="F29F05"/>
            </a:solidFill>
            <a:prstDash val="solid"/>
            <a:miter/>
          </a:ln>
        </p:spPr>
      </p:sp>
      <p:sp>
        <p:nvSpPr>
          <p:cNvPr id="68" name="Freeform 68"/>
          <p:cNvSpPr/>
          <p:nvPr/>
        </p:nvSpPr>
        <p:spPr>
          <a:xfrm>
            <a:off x="16124663" y="3795426"/>
            <a:ext cx="793814" cy="357474"/>
          </a:xfrm>
          <a:custGeom>
            <a:avLst/>
            <a:gdLst/>
            <a:ahLst/>
            <a:cxnLst/>
            <a:rect l="l" t="t" r="r" b="b"/>
            <a:pathLst>
              <a:path w="1058418" h="476631">
                <a:moveTo>
                  <a:pt x="0" y="0"/>
                </a:moveTo>
                <a:lnTo>
                  <a:pt x="1058418" y="0"/>
                </a:lnTo>
                <a:lnTo>
                  <a:pt x="1058418" y="476631"/>
                </a:lnTo>
                <a:lnTo>
                  <a:pt x="0" y="476631"/>
                </a:lnTo>
                <a:close/>
              </a:path>
            </a:pathLst>
          </a:custGeom>
          <a:solidFill>
            <a:srgbClr val="7E52E2"/>
          </a:solidFill>
          <a:ln w="14299" cap="sq">
            <a:solidFill>
              <a:srgbClr val="7E52E2"/>
            </a:solidFill>
            <a:prstDash val="solid"/>
            <a:miter/>
          </a:ln>
        </p:spPr>
      </p:sp>
      <p:sp>
        <p:nvSpPr>
          <p:cNvPr id="72" name="Freeform 72"/>
          <p:cNvSpPr/>
          <p:nvPr/>
        </p:nvSpPr>
        <p:spPr>
          <a:xfrm>
            <a:off x="10807122" y="4567610"/>
            <a:ext cx="2833021" cy="1227010"/>
          </a:xfrm>
          <a:custGeom>
            <a:avLst/>
            <a:gdLst/>
            <a:ahLst/>
            <a:cxnLst/>
            <a:rect l="l" t="t" r="r" b="b"/>
            <a:pathLst>
              <a:path w="3777361" h="1636014">
                <a:moveTo>
                  <a:pt x="0" y="272669"/>
                </a:moveTo>
                <a:cubicBezTo>
                  <a:pt x="0" y="122047"/>
                  <a:pt x="122047" y="0"/>
                  <a:pt x="272669" y="0"/>
                </a:cubicBezTo>
                <a:lnTo>
                  <a:pt x="3504692" y="0"/>
                </a:lnTo>
                <a:cubicBezTo>
                  <a:pt x="3655314" y="0"/>
                  <a:pt x="3777361" y="122047"/>
                  <a:pt x="3777361" y="272669"/>
                </a:cubicBezTo>
                <a:lnTo>
                  <a:pt x="3777361" y="1363345"/>
                </a:lnTo>
                <a:cubicBezTo>
                  <a:pt x="3777361" y="1513967"/>
                  <a:pt x="3655314" y="1636014"/>
                  <a:pt x="3504692" y="1636014"/>
                </a:cubicBezTo>
                <a:lnTo>
                  <a:pt x="272669" y="1636014"/>
                </a:lnTo>
                <a:cubicBezTo>
                  <a:pt x="122047" y="1636014"/>
                  <a:pt x="0" y="1513967"/>
                  <a:pt x="0" y="1363345"/>
                </a:cubicBezTo>
                <a:close/>
              </a:path>
            </a:pathLst>
          </a:custGeom>
          <a:solidFill>
            <a:srgbClr val="FFFFFF"/>
          </a:solidFill>
          <a:ln w="19065" cap="sq">
            <a:solidFill>
              <a:srgbClr val="D9E2EA"/>
            </a:solidFill>
            <a:prstDash val="solid"/>
            <a:miter/>
          </a:ln>
        </p:spPr>
      </p:sp>
      <p:sp>
        <p:nvSpPr>
          <p:cNvPr id="74" name="Freeform 74"/>
          <p:cNvSpPr/>
          <p:nvPr/>
        </p:nvSpPr>
        <p:spPr>
          <a:xfrm>
            <a:off x="10809513" y="4569991"/>
            <a:ext cx="110395" cy="1222248"/>
          </a:xfrm>
          <a:custGeom>
            <a:avLst/>
            <a:gdLst/>
            <a:ahLst/>
            <a:cxnLst/>
            <a:rect l="l" t="t" r="r" b="b"/>
            <a:pathLst>
              <a:path w="147193" h="1629664">
                <a:moveTo>
                  <a:pt x="0" y="0"/>
                </a:moveTo>
                <a:lnTo>
                  <a:pt x="147193" y="0"/>
                </a:lnTo>
                <a:lnTo>
                  <a:pt x="147193" y="1629664"/>
                </a:lnTo>
                <a:lnTo>
                  <a:pt x="0" y="1629664"/>
                </a:lnTo>
                <a:close/>
              </a:path>
            </a:pathLst>
          </a:custGeom>
          <a:solidFill>
            <a:srgbClr val="2A8C8C"/>
          </a:solidFill>
          <a:ln w="14299" cap="sq">
            <a:solidFill>
              <a:srgbClr val="2A8C8C"/>
            </a:solidFill>
            <a:prstDash val="solid"/>
            <a:miter/>
          </a:ln>
        </p:spPr>
      </p:sp>
      <p:sp>
        <p:nvSpPr>
          <p:cNvPr id="75" name="TextBox 75"/>
          <p:cNvSpPr txBox="1"/>
          <p:nvPr/>
        </p:nvSpPr>
        <p:spPr>
          <a:xfrm>
            <a:off x="11091196" y="4796772"/>
            <a:ext cx="2059010" cy="343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2"/>
              </a:lnSpc>
            </a:pPr>
            <a:r>
              <a:rPr lang="en-US" sz="3077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39.06%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1091196" y="5281404"/>
            <a:ext cx="2196274" cy="380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9"/>
              </a:lnSpc>
            </a:pPr>
            <a:r>
              <a:rPr lang="en-US" sz="1591">
                <a:solidFill>
                  <a:srgbClr val="2E4053"/>
                </a:solidFill>
                <a:latin typeface="Inter"/>
                <a:ea typeface="Inter"/>
                <a:cs typeface="Inter"/>
                <a:sym typeface="Inter"/>
              </a:rPr>
              <a:t>Lower-activity /</a:t>
            </a:r>
          </a:p>
          <a:p>
            <a:pPr algn="l">
              <a:lnSpc>
                <a:spcPts val="1909"/>
              </a:lnSpc>
            </a:pPr>
            <a:r>
              <a:rPr lang="en-US" sz="1591">
                <a:solidFill>
                  <a:srgbClr val="2E4053"/>
                </a:solidFill>
                <a:latin typeface="Inter"/>
                <a:ea typeface="Inter"/>
                <a:cs typeface="Inter"/>
                <a:sym typeface="Inter"/>
              </a:rPr>
              <a:t>positive</a:t>
            </a:r>
          </a:p>
        </p:txBody>
      </p:sp>
      <p:sp>
        <p:nvSpPr>
          <p:cNvPr id="78" name="Freeform 78"/>
          <p:cNvSpPr/>
          <p:nvPr/>
        </p:nvSpPr>
        <p:spPr>
          <a:xfrm>
            <a:off x="13909367" y="4567610"/>
            <a:ext cx="2833021" cy="1227010"/>
          </a:xfrm>
          <a:custGeom>
            <a:avLst/>
            <a:gdLst/>
            <a:ahLst/>
            <a:cxnLst/>
            <a:rect l="l" t="t" r="r" b="b"/>
            <a:pathLst>
              <a:path w="3777361" h="1636014">
                <a:moveTo>
                  <a:pt x="0" y="272669"/>
                </a:moveTo>
                <a:cubicBezTo>
                  <a:pt x="0" y="122047"/>
                  <a:pt x="122047" y="0"/>
                  <a:pt x="272669" y="0"/>
                </a:cubicBezTo>
                <a:lnTo>
                  <a:pt x="3504692" y="0"/>
                </a:lnTo>
                <a:cubicBezTo>
                  <a:pt x="3655314" y="0"/>
                  <a:pt x="3777361" y="122047"/>
                  <a:pt x="3777361" y="272669"/>
                </a:cubicBezTo>
                <a:lnTo>
                  <a:pt x="3777361" y="1363345"/>
                </a:lnTo>
                <a:cubicBezTo>
                  <a:pt x="3777361" y="1513967"/>
                  <a:pt x="3655314" y="1636014"/>
                  <a:pt x="3504692" y="1636014"/>
                </a:cubicBezTo>
                <a:lnTo>
                  <a:pt x="272669" y="1636014"/>
                </a:lnTo>
                <a:cubicBezTo>
                  <a:pt x="122047" y="1636014"/>
                  <a:pt x="0" y="1513967"/>
                  <a:pt x="0" y="1363345"/>
                </a:cubicBezTo>
                <a:close/>
              </a:path>
            </a:pathLst>
          </a:custGeom>
          <a:solidFill>
            <a:srgbClr val="FFFFFF"/>
          </a:solidFill>
          <a:ln w="19065" cap="sq">
            <a:solidFill>
              <a:srgbClr val="D9E2EA"/>
            </a:solidFill>
            <a:prstDash val="solid"/>
            <a:miter/>
          </a:ln>
        </p:spPr>
      </p:sp>
      <p:sp>
        <p:nvSpPr>
          <p:cNvPr id="80" name="Freeform 80"/>
          <p:cNvSpPr/>
          <p:nvPr/>
        </p:nvSpPr>
        <p:spPr>
          <a:xfrm>
            <a:off x="13911748" y="4569991"/>
            <a:ext cx="110395" cy="1222248"/>
          </a:xfrm>
          <a:custGeom>
            <a:avLst/>
            <a:gdLst/>
            <a:ahLst/>
            <a:cxnLst/>
            <a:rect l="l" t="t" r="r" b="b"/>
            <a:pathLst>
              <a:path w="147193" h="1629664">
                <a:moveTo>
                  <a:pt x="0" y="0"/>
                </a:moveTo>
                <a:lnTo>
                  <a:pt x="147193" y="0"/>
                </a:lnTo>
                <a:lnTo>
                  <a:pt x="147193" y="1629664"/>
                </a:lnTo>
                <a:lnTo>
                  <a:pt x="0" y="1629664"/>
                </a:lnTo>
                <a:close/>
              </a:path>
            </a:pathLst>
          </a:custGeom>
          <a:solidFill>
            <a:srgbClr val="5D86A6"/>
          </a:solidFill>
          <a:ln w="14299" cap="sq">
            <a:solidFill>
              <a:srgbClr val="5D86A6"/>
            </a:solidFill>
            <a:prstDash val="solid"/>
            <a:miter/>
          </a:ln>
        </p:spPr>
      </p:sp>
      <p:sp>
        <p:nvSpPr>
          <p:cNvPr id="81" name="TextBox 81"/>
          <p:cNvSpPr txBox="1"/>
          <p:nvPr/>
        </p:nvSpPr>
        <p:spPr>
          <a:xfrm>
            <a:off x="14193431" y="4796772"/>
            <a:ext cx="2059010" cy="343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2"/>
              </a:lnSpc>
            </a:pPr>
            <a:r>
              <a:rPr lang="en-US" sz="3077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32.24%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4193431" y="5281404"/>
            <a:ext cx="2196274" cy="380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9"/>
              </a:lnSpc>
            </a:pPr>
            <a:r>
              <a:rPr lang="en-US" sz="1591">
                <a:solidFill>
                  <a:srgbClr val="2E4053"/>
                </a:solidFill>
                <a:latin typeface="Inter"/>
                <a:ea typeface="Inter"/>
                <a:cs typeface="Inter"/>
                <a:sym typeface="Inter"/>
              </a:rPr>
              <a:t>Lower-activity /</a:t>
            </a:r>
          </a:p>
          <a:p>
            <a:pPr algn="l">
              <a:lnSpc>
                <a:spcPts val="1909"/>
              </a:lnSpc>
            </a:pPr>
            <a:r>
              <a:rPr lang="en-US" sz="1591">
                <a:solidFill>
                  <a:srgbClr val="2E4053"/>
                </a:solidFill>
                <a:latin typeface="Inter"/>
                <a:ea typeface="Inter"/>
                <a:cs typeface="Inter"/>
                <a:sym typeface="Inter"/>
              </a:rPr>
              <a:t>mixed</a:t>
            </a:r>
          </a:p>
        </p:txBody>
      </p:sp>
      <p:sp>
        <p:nvSpPr>
          <p:cNvPr id="84" name="Freeform 84"/>
          <p:cNvSpPr/>
          <p:nvPr/>
        </p:nvSpPr>
        <p:spPr>
          <a:xfrm>
            <a:off x="10807122" y="6050090"/>
            <a:ext cx="2833021" cy="1227010"/>
          </a:xfrm>
          <a:custGeom>
            <a:avLst/>
            <a:gdLst/>
            <a:ahLst/>
            <a:cxnLst/>
            <a:rect l="l" t="t" r="r" b="b"/>
            <a:pathLst>
              <a:path w="3777361" h="1636014">
                <a:moveTo>
                  <a:pt x="0" y="272669"/>
                </a:moveTo>
                <a:cubicBezTo>
                  <a:pt x="0" y="122047"/>
                  <a:pt x="122047" y="0"/>
                  <a:pt x="272669" y="0"/>
                </a:cubicBezTo>
                <a:lnTo>
                  <a:pt x="3504692" y="0"/>
                </a:lnTo>
                <a:cubicBezTo>
                  <a:pt x="3655314" y="0"/>
                  <a:pt x="3777361" y="122047"/>
                  <a:pt x="3777361" y="272669"/>
                </a:cubicBezTo>
                <a:lnTo>
                  <a:pt x="3777361" y="1363345"/>
                </a:lnTo>
                <a:cubicBezTo>
                  <a:pt x="3777361" y="1513967"/>
                  <a:pt x="3655314" y="1636014"/>
                  <a:pt x="3504692" y="1636014"/>
                </a:cubicBezTo>
                <a:lnTo>
                  <a:pt x="272669" y="1636014"/>
                </a:lnTo>
                <a:cubicBezTo>
                  <a:pt x="122047" y="1636014"/>
                  <a:pt x="0" y="1513967"/>
                  <a:pt x="0" y="1363345"/>
                </a:cubicBezTo>
                <a:close/>
              </a:path>
            </a:pathLst>
          </a:custGeom>
          <a:solidFill>
            <a:srgbClr val="FFFFFF"/>
          </a:solidFill>
          <a:ln w="19065" cap="sq">
            <a:solidFill>
              <a:srgbClr val="D9E2EA"/>
            </a:solidFill>
            <a:prstDash val="solid"/>
            <a:miter/>
          </a:ln>
        </p:spPr>
      </p:sp>
      <p:sp>
        <p:nvSpPr>
          <p:cNvPr id="86" name="Freeform 86"/>
          <p:cNvSpPr/>
          <p:nvPr/>
        </p:nvSpPr>
        <p:spPr>
          <a:xfrm>
            <a:off x="10809513" y="6052481"/>
            <a:ext cx="110395" cy="1222248"/>
          </a:xfrm>
          <a:custGeom>
            <a:avLst/>
            <a:gdLst/>
            <a:ahLst/>
            <a:cxnLst/>
            <a:rect l="l" t="t" r="r" b="b"/>
            <a:pathLst>
              <a:path w="147193" h="1629664">
                <a:moveTo>
                  <a:pt x="0" y="0"/>
                </a:moveTo>
                <a:lnTo>
                  <a:pt x="147193" y="0"/>
                </a:lnTo>
                <a:lnTo>
                  <a:pt x="147193" y="1629664"/>
                </a:lnTo>
                <a:lnTo>
                  <a:pt x="0" y="1629664"/>
                </a:lnTo>
                <a:close/>
              </a:path>
            </a:pathLst>
          </a:custGeom>
          <a:solidFill>
            <a:srgbClr val="F29F05"/>
          </a:solidFill>
          <a:ln w="14299" cap="sq">
            <a:solidFill>
              <a:srgbClr val="F29F05"/>
            </a:solidFill>
            <a:prstDash val="solid"/>
            <a:miter/>
          </a:ln>
        </p:spPr>
      </p:sp>
      <p:sp>
        <p:nvSpPr>
          <p:cNvPr id="87" name="TextBox 87"/>
          <p:cNvSpPr txBox="1"/>
          <p:nvPr/>
        </p:nvSpPr>
        <p:spPr>
          <a:xfrm>
            <a:off x="11091196" y="6279252"/>
            <a:ext cx="2059010" cy="343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2"/>
              </a:lnSpc>
            </a:pPr>
            <a:r>
              <a:rPr lang="en-US" sz="3077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15.91%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1091196" y="6763894"/>
            <a:ext cx="2196274" cy="380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9"/>
              </a:lnSpc>
            </a:pPr>
            <a:r>
              <a:rPr lang="en-US" sz="1591">
                <a:solidFill>
                  <a:srgbClr val="2E4053"/>
                </a:solidFill>
                <a:latin typeface="Inter"/>
                <a:ea typeface="Inter"/>
                <a:cs typeface="Inter"/>
                <a:sym typeface="Inter"/>
              </a:rPr>
              <a:t>Higher-activity /</a:t>
            </a:r>
          </a:p>
          <a:p>
            <a:pPr algn="l">
              <a:lnSpc>
                <a:spcPts val="1909"/>
              </a:lnSpc>
            </a:pPr>
            <a:r>
              <a:rPr lang="en-US" sz="1591">
                <a:solidFill>
                  <a:srgbClr val="2E4053"/>
                </a:solidFill>
                <a:latin typeface="Inter"/>
                <a:ea typeface="Inter"/>
                <a:cs typeface="Inter"/>
                <a:sym typeface="Inter"/>
              </a:rPr>
              <a:t>positive</a:t>
            </a:r>
          </a:p>
        </p:txBody>
      </p:sp>
      <p:sp>
        <p:nvSpPr>
          <p:cNvPr id="90" name="Freeform 90"/>
          <p:cNvSpPr/>
          <p:nvPr/>
        </p:nvSpPr>
        <p:spPr>
          <a:xfrm>
            <a:off x="13909367" y="6050090"/>
            <a:ext cx="2833021" cy="1227010"/>
          </a:xfrm>
          <a:custGeom>
            <a:avLst/>
            <a:gdLst/>
            <a:ahLst/>
            <a:cxnLst/>
            <a:rect l="l" t="t" r="r" b="b"/>
            <a:pathLst>
              <a:path w="3777361" h="1636014">
                <a:moveTo>
                  <a:pt x="0" y="272669"/>
                </a:moveTo>
                <a:cubicBezTo>
                  <a:pt x="0" y="122047"/>
                  <a:pt x="122047" y="0"/>
                  <a:pt x="272669" y="0"/>
                </a:cubicBezTo>
                <a:lnTo>
                  <a:pt x="3504692" y="0"/>
                </a:lnTo>
                <a:cubicBezTo>
                  <a:pt x="3655314" y="0"/>
                  <a:pt x="3777361" y="122047"/>
                  <a:pt x="3777361" y="272669"/>
                </a:cubicBezTo>
                <a:lnTo>
                  <a:pt x="3777361" y="1363345"/>
                </a:lnTo>
                <a:cubicBezTo>
                  <a:pt x="3777361" y="1513967"/>
                  <a:pt x="3655314" y="1636014"/>
                  <a:pt x="3504692" y="1636014"/>
                </a:cubicBezTo>
                <a:lnTo>
                  <a:pt x="272669" y="1636014"/>
                </a:lnTo>
                <a:cubicBezTo>
                  <a:pt x="122047" y="1636014"/>
                  <a:pt x="0" y="1513967"/>
                  <a:pt x="0" y="1363345"/>
                </a:cubicBezTo>
                <a:close/>
              </a:path>
            </a:pathLst>
          </a:custGeom>
          <a:solidFill>
            <a:srgbClr val="FFFFFF"/>
          </a:solidFill>
          <a:ln w="19065" cap="sq">
            <a:solidFill>
              <a:srgbClr val="D9E2EA"/>
            </a:solidFill>
            <a:prstDash val="solid"/>
            <a:miter/>
          </a:ln>
        </p:spPr>
      </p:sp>
      <p:sp>
        <p:nvSpPr>
          <p:cNvPr id="92" name="Freeform 92"/>
          <p:cNvSpPr/>
          <p:nvPr/>
        </p:nvSpPr>
        <p:spPr>
          <a:xfrm>
            <a:off x="13911748" y="6052481"/>
            <a:ext cx="110395" cy="1222248"/>
          </a:xfrm>
          <a:custGeom>
            <a:avLst/>
            <a:gdLst/>
            <a:ahLst/>
            <a:cxnLst/>
            <a:rect l="l" t="t" r="r" b="b"/>
            <a:pathLst>
              <a:path w="147193" h="1629664">
                <a:moveTo>
                  <a:pt x="0" y="0"/>
                </a:moveTo>
                <a:lnTo>
                  <a:pt x="147193" y="0"/>
                </a:lnTo>
                <a:lnTo>
                  <a:pt x="147193" y="1629664"/>
                </a:lnTo>
                <a:lnTo>
                  <a:pt x="0" y="1629664"/>
                </a:lnTo>
                <a:close/>
              </a:path>
            </a:pathLst>
          </a:custGeom>
          <a:solidFill>
            <a:srgbClr val="7E52E2"/>
          </a:solidFill>
          <a:ln w="14299" cap="sq">
            <a:solidFill>
              <a:srgbClr val="7E52E2"/>
            </a:solidFill>
            <a:prstDash val="solid"/>
            <a:miter/>
          </a:ln>
        </p:spPr>
      </p:sp>
      <p:sp>
        <p:nvSpPr>
          <p:cNvPr id="93" name="TextBox 93"/>
          <p:cNvSpPr txBox="1"/>
          <p:nvPr/>
        </p:nvSpPr>
        <p:spPr>
          <a:xfrm>
            <a:off x="14193431" y="6279252"/>
            <a:ext cx="2059010" cy="343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2"/>
              </a:lnSpc>
            </a:pPr>
            <a:r>
              <a:rPr lang="en-US" sz="3077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12.79%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4193431" y="6763894"/>
            <a:ext cx="2196274" cy="380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9"/>
              </a:lnSpc>
            </a:pPr>
            <a:r>
              <a:rPr lang="en-US" sz="1591">
                <a:solidFill>
                  <a:srgbClr val="2E4053"/>
                </a:solidFill>
                <a:latin typeface="Inter"/>
                <a:ea typeface="Inter"/>
                <a:cs typeface="Inter"/>
                <a:sym typeface="Inter"/>
              </a:rPr>
              <a:t>Lower-activity /</a:t>
            </a:r>
          </a:p>
          <a:p>
            <a:pPr algn="l">
              <a:lnSpc>
                <a:spcPts val="1909"/>
              </a:lnSpc>
            </a:pPr>
            <a:r>
              <a:rPr lang="en-US" sz="1591">
                <a:solidFill>
                  <a:srgbClr val="2E4053"/>
                </a:solidFill>
                <a:latin typeface="Inter"/>
                <a:ea typeface="Inter"/>
                <a:cs typeface="Inter"/>
                <a:sym typeface="Inter"/>
              </a:rPr>
              <a:t>critical</a:t>
            </a:r>
          </a:p>
        </p:txBody>
      </p:sp>
      <p:sp>
        <p:nvSpPr>
          <p:cNvPr id="96" name="Freeform 96"/>
          <p:cNvSpPr/>
          <p:nvPr/>
        </p:nvSpPr>
        <p:spPr>
          <a:xfrm>
            <a:off x="786622" y="8281406"/>
            <a:ext cx="16724471" cy="1336834"/>
          </a:xfrm>
          <a:custGeom>
            <a:avLst/>
            <a:gdLst/>
            <a:ahLst/>
            <a:cxnLst/>
            <a:rect l="l" t="t" r="r" b="b"/>
            <a:pathLst>
              <a:path w="22299295" h="1782445">
                <a:moveTo>
                  <a:pt x="0" y="297053"/>
                </a:moveTo>
                <a:cubicBezTo>
                  <a:pt x="0" y="132969"/>
                  <a:pt x="132969" y="0"/>
                  <a:pt x="297053" y="0"/>
                </a:cubicBezTo>
                <a:lnTo>
                  <a:pt x="22002242" y="0"/>
                </a:lnTo>
                <a:cubicBezTo>
                  <a:pt x="22166326" y="0"/>
                  <a:pt x="22299295" y="132969"/>
                  <a:pt x="22299295" y="297053"/>
                </a:cubicBezTo>
                <a:lnTo>
                  <a:pt x="22299295" y="1485392"/>
                </a:lnTo>
                <a:cubicBezTo>
                  <a:pt x="22299295" y="1649476"/>
                  <a:pt x="22166326" y="1782445"/>
                  <a:pt x="22002242" y="1782445"/>
                </a:cubicBezTo>
                <a:lnTo>
                  <a:pt x="297053" y="1782445"/>
                </a:lnTo>
                <a:cubicBezTo>
                  <a:pt x="132969" y="1782445"/>
                  <a:pt x="0" y="1649476"/>
                  <a:pt x="0" y="1485392"/>
                </a:cubicBezTo>
                <a:close/>
              </a:path>
            </a:pathLst>
          </a:custGeom>
          <a:solidFill>
            <a:srgbClr val="EDF4FA"/>
          </a:solidFill>
          <a:ln w="19065" cap="sq">
            <a:solidFill>
              <a:srgbClr val="D9E2EA"/>
            </a:solidFill>
            <a:prstDash val="solid"/>
            <a:miter/>
          </a:ln>
        </p:spPr>
      </p:sp>
      <p:sp>
        <p:nvSpPr>
          <p:cNvPr id="98" name="Freeform 98"/>
          <p:cNvSpPr/>
          <p:nvPr/>
        </p:nvSpPr>
        <p:spPr>
          <a:xfrm>
            <a:off x="789003" y="8283788"/>
            <a:ext cx="165259" cy="1332072"/>
          </a:xfrm>
          <a:custGeom>
            <a:avLst/>
            <a:gdLst/>
            <a:ahLst/>
            <a:cxnLst/>
            <a:rect l="l" t="t" r="r" b="b"/>
            <a:pathLst>
              <a:path w="220345" h="1776095">
                <a:moveTo>
                  <a:pt x="0" y="0"/>
                </a:moveTo>
                <a:lnTo>
                  <a:pt x="220345" y="0"/>
                </a:lnTo>
                <a:lnTo>
                  <a:pt x="220345" y="1776095"/>
                </a:lnTo>
                <a:lnTo>
                  <a:pt x="0" y="1776095"/>
                </a:lnTo>
                <a:close/>
              </a:path>
            </a:pathLst>
          </a:custGeom>
          <a:solidFill>
            <a:srgbClr val="2A8C8C"/>
          </a:solidFill>
          <a:ln w="14299" cap="sq">
            <a:solidFill>
              <a:srgbClr val="2A8C8C"/>
            </a:solidFill>
            <a:prstDash val="solid"/>
            <a:miter/>
          </a:ln>
        </p:spPr>
      </p:sp>
      <p:sp>
        <p:nvSpPr>
          <p:cNvPr id="99" name="TextBox 99"/>
          <p:cNvSpPr txBox="1"/>
          <p:nvPr/>
        </p:nvSpPr>
        <p:spPr>
          <a:xfrm>
            <a:off x="1221676" y="8583406"/>
            <a:ext cx="7549696" cy="393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Final choice: Behavioural KMeans, k=4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221676" y="9022661"/>
            <a:ext cx="14824862" cy="338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3"/>
              </a:lnSpc>
            </a:pPr>
            <a:r>
              <a:rPr lang="en-US" sz="2011">
                <a:solidFill>
                  <a:srgbClr val="2E4053"/>
                </a:solidFill>
                <a:latin typeface="Inter"/>
                <a:ea typeface="Inter"/>
                <a:cs typeface="Inter"/>
                <a:sym typeface="Inter"/>
              </a:rPr>
              <a:t>Selected because it produced useful and interpretable behavioural segments while keeping the serving flow simple.</a:t>
            </a:r>
          </a:p>
        </p:txBody>
      </p: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855811FF-2AAA-850A-E5F5-787E0F07B56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329688" t="-329688" r="-329688" b="-329688"/>
          <a:stretch>
            <a:fillRect/>
          </a:stretch>
        </p:blipFill>
        <p:spPr>
          <a:xfrm>
            <a:off x="15078456" y="7077456"/>
            <a:ext cx="3086100" cy="30861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616"/>
    </mc:Choice>
    <mc:Fallback xmlns="">
      <p:transition spd="slow" advTm="266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800100" y="605790"/>
            <a:ext cx="1062990" cy="114300"/>
          </a:xfrm>
          <a:custGeom>
            <a:avLst/>
            <a:gdLst/>
            <a:ahLst/>
            <a:cxnLst/>
            <a:rect l="l" t="t" r="r" b="b"/>
            <a:pathLst>
              <a:path w="1417320" h="152400">
                <a:moveTo>
                  <a:pt x="0" y="25400"/>
                </a:moveTo>
                <a:cubicBezTo>
                  <a:pt x="0" y="11430"/>
                  <a:pt x="11430" y="0"/>
                  <a:pt x="25400" y="0"/>
                </a:cubicBezTo>
                <a:lnTo>
                  <a:pt x="1391920" y="0"/>
                </a:lnTo>
                <a:cubicBezTo>
                  <a:pt x="1405890" y="0"/>
                  <a:pt x="1417320" y="11430"/>
                  <a:pt x="1417320" y="25400"/>
                </a:cubicBezTo>
                <a:lnTo>
                  <a:pt x="1417320" y="127000"/>
                </a:lnTo>
                <a:cubicBezTo>
                  <a:pt x="1417320" y="140970"/>
                  <a:pt x="1405890" y="152400"/>
                  <a:pt x="1391920" y="152400"/>
                </a:cubicBezTo>
                <a:lnTo>
                  <a:pt x="25400" y="152400"/>
                </a:lnTo>
                <a:cubicBezTo>
                  <a:pt x="11430" y="152400"/>
                  <a:pt x="0" y="140970"/>
                  <a:pt x="0" y="127000"/>
                </a:cubicBezTo>
                <a:close/>
              </a:path>
            </a:pathLst>
          </a:custGeom>
          <a:solidFill>
            <a:srgbClr val="2A8C8C"/>
          </a:solidFill>
        </p:spPr>
      </p:sp>
      <p:sp>
        <p:nvSpPr>
          <p:cNvPr id="4" name="TextBox 4"/>
          <p:cNvSpPr txBox="1"/>
          <p:nvPr/>
        </p:nvSpPr>
        <p:spPr>
          <a:xfrm>
            <a:off x="800100" y="992505"/>
            <a:ext cx="16687800" cy="53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9"/>
              </a:lnSpc>
            </a:pPr>
            <a:r>
              <a:rPr lang="en-US" sz="4749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Recommendation Performance and Final Model Selection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0100" y="1706880"/>
            <a:ext cx="16344900" cy="38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 dirty="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Popularity is the strongest benchmark, but </a:t>
            </a:r>
            <a:r>
              <a:rPr lang="en-US" sz="2124" dirty="0" err="1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Behavioural</a:t>
            </a:r>
            <a:r>
              <a:rPr lang="en-US" sz="2124" dirty="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24" dirty="0" err="1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KMeans</a:t>
            </a:r>
            <a:r>
              <a:rPr lang="en-US" sz="2124" dirty="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 was selected for interpretable and deployable clustering.</a:t>
            </a:r>
          </a:p>
        </p:txBody>
      </p:sp>
      <p:sp>
        <p:nvSpPr>
          <p:cNvPr id="7" name="Freeform 7"/>
          <p:cNvSpPr/>
          <p:nvPr/>
        </p:nvSpPr>
        <p:spPr>
          <a:xfrm>
            <a:off x="792166" y="2232346"/>
            <a:ext cx="8995371" cy="4633626"/>
          </a:xfrm>
          <a:prstGeom prst="roundRect">
            <a:avLst>
              <a:gd name="adj" fmla="val 8210"/>
            </a:avLst>
          </a:prstGeom>
          <a:solidFill>
            <a:srgbClr val="FFFFFF"/>
          </a:solidFill>
          <a:ln w="15875" cap="sq">
            <a:solidFill>
              <a:srgbClr val="D9E2EA"/>
            </a:solidFill>
            <a:prstDash val="solid"/>
            <a:miter/>
          </a:ln>
        </p:spPr>
      </p:sp>
      <p:sp>
        <p:nvSpPr>
          <p:cNvPr id="9" name="Freeform 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564816" y="2232346"/>
            <a:ext cx="6931057" cy="4633626"/>
          </a:xfrm>
          <a:prstGeom prst="roundRect">
            <a:avLst>
              <a:gd name="adj" fmla="val 5390"/>
            </a:avLst>
          </a:prstGeom>
          <a:solidFill>
            <a:srgbClr val="FFFFFF"/>
          </a:solidFill>
          <a:ln w="15875" cap="sq">
            <a:solidFill>
              <a:srgbClr val="D9E2EA"/>
            </a:solidFill>
            <a:prstDash val="solid"/>
            <a:miter/>
          </a:ln>
        </p:spPr>
      </p:sp>
      <p:sp>
        <p:nvSpPr>
          <p:cNvPr id="10" name="TextBox 10"/>
          <p:cNvSpPr txBox="1"/>
          <p:nvPr/>
        </p:nvSpPr>
        <p:spPr>
          <a:xfrm>
            <a:off x="1223010" y="2638425"/>
            <a:ext cx="365760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Evaluation results</a:t>
            </a:r>
          </a:p>
        </p:txBody>
      </p:sp>
      <p:sp>
        <p:nvSpPr>
          <p:cNvPr id="12" name="Freeform 12"/>
          <p:cNvSpPr/>
          <p:nvPr/>
        </p:nvSpPr>
        <p:spPr>
          <a:xfrm>
            <a:off x="1215076" y="3226756"/>
            <a:ext cx="3250596" cy="530256"/>
          </a:xfrm>
          <a:custGeom>
            <a:avLst/>
            <a:gdLst/>
            <a:ahLst/>
            <a:cxnLst/>
            <a:rect l="l" t="t" r="r" b="b"/>
            <a:pathLst>
              <a:path w="4334129" h="707009">
                <a:moveTo>
                  <a:pt x="0" y="117856"/>
                </a:moveTo>
                <a:cubicBezTo>
                  <a:pt x="0" y="52705"/>
                  <a:pt x="52705" y="0"/>
                  <a:pt x="117856" y="0"/>
                </a:cubicBezTo>
                <a:lnTo>
                  <a:pt x="4216273" y="0"/>
                </a:lnTo>
                <a:cubicBezTo>
                  <a:pt x="4281297" y="0"/>
                  <a:pt x="4334129" y="52705"/>
                  <a:pt x="4334129" y="117856"/>
                </a:cubicBezTo>
                <a:lnTo>
                  <a:pt x="4334129" y="589153"/>
                </a:lnTo>
                <a:cubicBezTo>
                  <a:pt x="4334129" y="654177"/>
                  <a:pt x="4281424" y="707009"/>
                  <a:pt x="4216273" y="707009"/>
                </a:cubicBezTo>
                <a:lnTo>
                  <a:pt x="117856" y="707009"/>
                </a:lnTo>
                <a:cubicBezTo>
                  <a:pt x="52705" y="707009"/>
                  <a:pt x="0" y="654177"/>
                  <a:pt x="0" y="589153"/>
                </a:cubicBezTo>
                <a:close/>
              </a:path>
            </a:pathLst>
          </a:custGeom>
          <a:solidFill>
            <a:srgbClr val="EAF4F4"/>
          </a:solidFill>
          <a:ln w="15875" cap="sq">
            <a:solidFill>
              <a:srgbClr val="D9E2EA"/>
            </a:solidFill>
            <a:prstDash val="solid"/>
            <a:miter/>
          </a:ln>
        </p:spPr>
      </p:sp>
      <p:sp>
        <p:nvSpPr>
          <p:cNvPr id="13" name="TextBox 13"/>
          <p:cNvSpPr txBox="1"/>
          <p:nvPr/>
        </p:nvSpPr>
        <p:spPr>
          <a:xfrm>
            <a:off x="1371600" y="3383280"/>
            <a:ext cx="300609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Model</a:t>
            </a:r>
          </a:p>
        </p:txBody>
      </p:sp>
      <p:sp>
        <p:nvSpPr>
          <p:cNvPr id="15" name="Freeform 15"/>
          <p:cNvSpPr/>
          <p:nvPr/>
        </p:nvSpPr>
        <p:spPr>
          <a:xfrm>
            <a:off x="4449766" y="3226756"/>
            <a:ext cx="2393346" cy="530256"/>
          </a:xfrm>
          <a:custGeom>
            <a:avLst/>
            <a:gdLst/>
            <a:ahLst/>
            <a:cxnLst/>
            <a:rect l="l" t="t" r="r" b="b"/>
            <a:pathLst>
              <a:path w="3191129" h="707009">
                <a:moveTo>
                  <a:pt x="0" y="117856"/>
                </a:moveTo>
                <a:cubicBezTo>
                  <a:pt x="0" y="52705"/>
                  <a:pt x="52705" y="0"/>
                  <a:pt x="117856" y="0"/>
                </a:cubicBezTo>
                <a:lnTo>
                  <a:pt x="3073273" y="0"/>
                </a:lnTo>
                <a:cubicBezTo>
                  <a:pt x="3138297" y="0"/>
                  <a:pt x="3191129" y="52705"/>
                  <a:pt x="3191129" y="117856"/>
                </a:cubicBezTo>
                <a:lnTo>
                  <a:pt x="3191129" y="589153"/>
                </a:lnTo>
                <a:cubicBezTo>
                  <a:pt x="3191129" y="654177"/>
                  <a:pt x="3138424" y="707009"/>
                  <a:pt x="3073273" y="707009"/>
                </a:cubicBezTo>
                <a:lnTo>
                  <a:pt x="117856" y="707009"/>
                </a:lnTo>
                <a:cubicBezTo>
                  <a:pt x="52705" y="707009"/>
                  <a:pt x="0" y="654177"/>
                  <a:pt x="0" y="589153"/>
                </a:cubicBezTo>
                <a:close/>
              </a:path>
            </a:pathLst>
          </a:custGeom>
          <a:solidFill>
            <a:srgbClr val="EDF4FA"/>
          </a:solidFill>
          <a:ln w="15875" cap="sq">
            <a:solidFill>
              <a:srgbClr val="D9E2EA"/>
            </a:solidFill>
            <a:prstDash val="solid"/>
            <a:miter/>
          </a:ln>
        </p:spPr>
      </p:sp>
      <p:sp>
        <p:nvSpPr>
          <p:cNvPr id="16" name="TextBox 16"/>
          <p:cNvSpPr txBox="1"/>
          <p:nvPr/>
        </p:nvSpPr>
        <p:spPr>
          <a:xfrm>
            <a:off x="4606290" y="3383280"/>
            <a:ext cx="214884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Warm HR@10</a:t>
            </a:r>
          </a:p>
        </p:txBody>
      </p:sp>
      <p:sp>
        <p:nvSpPr>
          <p:cNvPr id="18" name="Freeform 18"/>
          <p:cNvSpPr/>
          <p:nvPr/>
        </p:nvSpPr>
        <p:spPr>
          <a:xfrm>
            <a:off x="6827206" y="3226756"/>
            <a:ext cx="2496216" cy="530256"/>
          </a:xfrm>
          <a:custGeom>
            <a:avLst/>
            <a:gdLst/>
            <a:ahLst/>
            <a:cxnLst/>
            <a:rect l="l" t="t" r="r" b="b"/>
            <a:pathLst>
              <a:path w="3328289" h="707009">
                <a:moveTo>
                  <a:pt x="0" y="117856"/>
                </a:moveTo>
                <a:cubicBezTo>
                  <a:pt x="0" y="52705"/>
                  <a:pt x="52705" y="0"/>
                  <a:pt x="117856" y="0"/>
                </a:cubicBezTo>
                <a:lnTo>
                  <a:pt x="3210433" y="0"/>
                </a:lnTo>
                <a:cubicBezTo>
                  <a:pt x="3275457" y="0"/>
                  <a:pt x="3328289" y="52705"/>
                  <a:pt x="3328289" y="117856"/>
                </a:cubicBezTo>
                <a:lnTo>
                  <a:pt x="3328289" y="589153"/>
                </a:lnTo>
                <a:cubicBezTo>
                  <a:pt x="3328289" y="654177"/>
                  <a:pt x="3275584" y="707009"/>
                  <a:pt x="3210433" y="707009"/>
                </a:cubicBezTo>
                <a:lnTo>
                  <a:pt x="117856" y="707009"/>
                </a:lnTo>
                <a:cubicBezTo>
                  <a:pt x="52705" y="707009"/>
                  <a:pt x="0" y="654177"/>
                  <a:pt x="0" y="589153"/>
                </a:cubicBezTo>
                <a:close/>
              </a:path>
            </a:pathLst>
          </a:custGeom>
          <a:solidFill>
            <a:srgbClr val="EDF4FA"/>
          </a:solidFill>
          <a:ln w="15875" cap="sq">
            <a:solidFill>
              <a:srgbClr val="D9E2EA"/>
            </a:solidFill>
            <a:prstDash val="solid"/>
            <a:miter/>
          </a:ln>
        </p:spPr>
      </p:sp>
      <p:sp>
        <p:nvSpPr>
          <p:cNvPr id="19" name="TextBox 19"/>
          <p:cNvSpPr txBox="1"/>
          <p:nvPr/>
        </p:nvSpPr>
        <p:spPr>
          <a:xfrm>
            <a:off x="6983730" y="3383280"/>
            <a:ext cx="225171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Catalog coverage</a:t>
            </a:r>
          </a:p>
        </p:txBody>
      </p:sp>
      <p:sp>
        <p:nvSpPr>
          <p:cNvPr id="21" name="Freeform 21"/>
          <p:cNvSpPr/>
          <p:nvPr/>
        </p:nvSpPr>
        <p:spPr>
          <a:xfrm>
            <a:off x="1217057" y="3743087"/>
            <a:ext cx="3246596" cy="743426"/>
          </a:xfrm>
          <a:custGeom>
            <a:avLst/>
            <a:gdLst/>
            <a:ahLst/>
            <a:cxnLst/>
            <a:rect l="l" t="t" r="r" b="b"/>
            <a:pathLst>
              <a:path w="4328795" h="991235">
                <a:moveTo>
                  <a:pt x="0" y="0"/>
                </a:moveTo>
                <a:lnTo>
                  <a:pt x="4328795" y="0"/>
                </a:lnTo>
                <a:lnTo>
                  <a:pt x="4328795" y="991235"/>
                </a:lnTo>
                <a:lnTo>
                  <a:pt x="0" y="991235"/>
                </a:lnTo>
                <a:close/>
              </a:path>
            </a:pathLst>
          </a:custGeom>
          <a:solidFill>
            <a:srgbClr val="FFFFFF"/>
          </a:solidFill>
          <a:ln w="11906" cap="sq">
            <a:solidFill>
              <a:srgbClr val="D9E2EA"/>
            </a:solidFill>
            <a:prstDash val="solid"/>
            <a:miter/>
          </a:ln>
        </p:spPr>
      </p:sp>
      <p:sp>
        <p:nvSpPr>
          <p:cNvPr id="22" name="TextBox 22"/>
          <p:cNvSpPr txBox="1"/>
          <p:nvPr/>
        </p:nvSpPr>
        <p:spPr>
          <a:xfrm>
            <a:off x="1371600" y="3977640"/>
            <a:ext cx="3006090" cy="26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Behavioural KMeans</a:t>
            </a:r>
          </a:p>
        </p:txBody>
      </p:sp>
      <p:sp>
        <p:nvSpPr>
          <p:cNvPr id="24" name="Freeform 24"/>
          <p:cNvSpPr/>
          <p:nvPr/>
        </p:nvSpPr>
        <p:spPr>
          <a:xfrm>
            <a:off x="4451747" y="3743087"/>
            <a:ext cx="2389346" cy="743426"/>
          </a:xfrm>
          <a:custGeom>
            <a:avLst/>
            <a:gdLst/>
            <a:ahLst/>
            <a:cxnLst/>
            <a:rect l="l" t="t" r="r" b="b"/>
            <a:pathLst>
              <a:path w="3185795" h="991235">
                <a:moveTo>
                  <a:pt x="0" y="0"/>
                </a:moveTo>
                <a:lnTo>
                  <a:pt x="3185795" y="0"/>
                </a:lnTo>
                <a:lnTo>
                  <a:pt x="3185795" y="991235"/>
                </a:lnTo>
                <a:lnTo>
                  <a:pt x="0" y="991235"/>
                </a:lnTo>
                <a:close/>
              </a:path>
            </a:pathLst>
          </a:custGeom>
          <a:solidFill>
            <a:srgbClr val="FFFFFF"/>
          </a:solidFill>
          <a:ln w="11906" cap="sq">
            <a:solidFill>
              <a:srgbClr val="D9E2EA"/>
            </a:solidFill>
            <a:prstDash val="solid"/>
            <a:miter/>
          </a:ln>
        </p:spPr>
      </p:sp>
      <p:sp>
        <p:nvSpPr>
          <p:cNvPr id="25" name="TextBox 25"/>
          <p:cNvSpPr txBox="1"/>
          <p:nvPr/>
        </p:nvSpPr>
        <p:spPr>
          <a:xfrm>
            <a:off x="4606290" y="3977640"/>
            <a:ext cx="2148840" cy="26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1.8133%</a:t>
            </a:r>
          </a:p>
        </p:txBody>
      </p:sp>
      <p:sp>
        <p:nvSpPr>
          <p:cNvPr id="27" name="Freeform 27"/>
          <p:cNvSpPr/>
          <p:nvPr/>
        </p:nvSpPr>
        <p:spPr>
          <a:xfrm>
            <a:off x="6829187" y="3743087"/>
            <a:ext cx="2492216" cy="743426"/>
          </a:xfrm>
          <a:custGeom>
            <a:avLst/>
            <a:gdLst/>
            <a:ahLst/>
            <a:cxnLst/>
            <a:rect l="l" t="t" r="r" b="b"/>
            <a:pathLst>
              <a:path w="3322955" h="991235">
                <a:moveTo>
                  <a:pt x="0" y="0"/>
                </a:moveTo>
                <a:lnTo>
                  <a:pt x="3322955" y="0"/>
                </a:lnTo>
                <a:lnTo>
                  <a:pt x="3322955" y="991235"/>
                </a:lnTo>
                <a:lnTo>
                  <a:pt x="0" y="991235"/>
                </a:lnTo>
                <a:close/>
              </a:path>
            </a:pathLst>
          </a:custGeom>
          <a:solidFill>
            <a:srgbClr val="FFFFFF"/>
          </a:solidFill>
          <a:ln w="11906" cap="sq">
            <a:solidFill>
              <a:srgbClr val="D9E2EA"/>
            </a:solidFill>
            <a:prstDash val="solid"/>
            <a:miter/>
          </a:ln>
        </p:spPr>
      </p:sp>
      <p:sp>
        <p:nvSpPr>
          <p:cNvPr id="28" name="TextBox 28"/>
          <p:cNvSpPr txBox="1"/>
          <p:nvPr/>
        </p:nvSpPr>
        <p:spPr>
          <a:xfrm>
            <a:off x="6983730" y="3977640"/>
            <a:ext cx="2251710" cy="26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2E4053"/>
                </a:solidFill>
                <a:latin typeface="Inter"/>
                <a:ea typeface="Inter"/>
                <a:cs typeface="Inter"/>
                <a:sym typeface="Inter"/>
              </a:rPr>
              <a:t>0.0115%</a:t>
            </a:r>
          </a:p>
        </p:txBody>
      </p:sp>
      <p:sp>
        <p:nvSpPr>
          <p:cNvPr id="30" name="Freeform 30"/>
          <p:cNvSpPr/>
          <p:nvPr/>
        </p:nvSpPr>
        <p:spPr>
          <a:xfrm>
            <a:off x="1217057" y="4474607"/>
            <a:ext cx="3246596" cy="743426"/>
          </a:xfrm>
          <a:custGeom>
            <a:avLst/>
            <a:gdLst/>
            <a:ahLst/>
            <a:cxnLst/>
            <a:rect l="l" t="t" r="r" b="b"/>
            <a:pathLst>
              <a:path w="4328795" h="991235">
                <a:moveTo>
                  <a:pt x="0" y="0"/>
                </a:moveTo>
                <a:lnTo>
                  <a:pt x="4328795" y="0"/>
                </a:lnTo>
                <a:lnTo>
                  <a:pt x="4328795" y="991235"/>
                </a:lnTo>
                <a:lnTo>
                  <a:pt x="0" y="991235"/>
                </a:lnTo>
                <a:close/>
              </a:path>
            </a:pathLst>
          </a:custGeom>
          <a:solidFill>
            <a:srgbClr val="FAFCFD"/>
          </a:solidFill>
          <a:ln w="11906" cap="sq">
            <a:solidFill>
              <a:srgbClr val="D9E2EA"/>
            </a:solidFill>
            <a:prstDash val="solid"/>
            <a:miter/>
          </a:ln>
        </p:spPr>
      </p:sp>
      <p:sp>
        <p:nvSpPr>
          <p:cNvPr id="31" name="TextBox 31"/>
          <p:cNvSpPr txBox="1"/>
          <p:nvPr/>
        </p:nvSpPr>
        <p:spPr>
          <a:xfrm>
            <a:off x="1371600" y="4709160"/>
            <a:ext cx="3006090" cy="26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2E4053"/>
                </a:solidFill>
                <a:latin typeface="Inter"/>
                <a:ea typeface="Inter"/>
                <a:cs typeface="Inter"/>
                <a:sym typeface="Inter"/>
              </a:rPr>
              <a:t>SVD + KMeans</a:t>
            </a:r>
          </a:p>
        </p:txBody>
      </p:sp>
      <p:sp>
        <p:nvSpPr>
          <p:cNvPr id="33" name="Freeform 33"/>
          <p:cNvSpPr/>
          <p:nvPr/>
        </p:nvSpPr>
        <p:spPr>
          <a:xfrm>
            <a:off x="4451747" y="4474607"/>
            <a:ext cx="2389346" cy="743426"/>
          </a:xfrm>
          <a:custGeom>
            <a:avLst/>
            <a:gdLst/>
            <a:ahLst/>
            <a:cxnLst/>
            <a:rect l="l" t="t" r="r" b="b"/>
            <a:pathLst>
              <a:path w="3185795" h="991235">
                <a:moveTo>
                  <a:pt x="0" y="0"/>
                </a:moveTo>
                <a:lnTo>
                  <a:pt x="3185795" y="0"/>
                </a:lnTo>
                <a:lnTo>
                  <a:pt x="3185795" y="991235"/>
                </a:lnTo>
                <a:lnTo>
                  <a:pt x="0" y="991235"/>
                </a:lnTo>
                <a:close/>
              </a:path>
            </a:pathLst>
          </a:custGeom>
          <a:solidFill>
            <a:srgbClr val="FAFCFD"/>
          </a:solidFill>
          <a:ln w="11906" cap="sq">
            <a:solidFill>
              <a:srgbClr val="D9E2EA"/>
            </a:solidFill>
            <a:prstDash val="solid"/>
            <a:miter/>
          </a:ln>
        </p:spPr>
      </p:sp>
      <p:sp>
        <p:nvSpPr>
          <p:cNvPr id="34" name="TextBox 34"/>
          <p:cNvSpPr txBox="1"/>
          <p:nvPr/>
        </p:nvSpPr>
        <p:spPr>
          <a:xfrm>
            <a:off x="4606290" y="4709160"/>
            <a:ext cx="2148840" cy="26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2E4053"/>
                </a:solidFill>
                <a:latin typeface="Inter"/>
                <a:ea typeface="Inter"/>
                <a:cs typeface="Inter"/>
                <a:sym typeface="Inter"/>
              </a:rPr>
              <a:t>1.3550%</a:t>
            </a:r>
          </a:p>
        </p:txBody>
      </p:sp>
      <p:sp>
        <p:nvSpPr>
          <p:cNvPr id="36" name="Freeform 36"/>
          <p:cNvSpPr/>
          <p:nvPr/>
        </p:nvSpPr>
        <p:spPr>
          <a:xfrm>
            <a:off x="6829187" y="4474607"/>
            <a:ext cx="2492216" cy="743426"/>
          </a:xfrm>
          <a:custGeom>
            <a:avLst/>
            <a:gdLst/>
            <a:ahLst/>
            <a:cxnLst/>
            <a:rect l="l" t="t" r="r" b="b"/>
            <a:pathLst>
              <a:path w="3322955" h="991235">
                <a:moveTo>
                  <a:pt x="0" y="0"/>
                </a:moveTo>
                <a:lnTo>
                  <a:pt x="3322955" y="0"/>
                </a:lnTo>
                <a:lnTo>
                  <a:pt x="3322955" y="991235"/>
                </a:lnTo>
                <a:lnTo>
                  <a:pt x="0" y="991235"/>
                </a:lnTo>
                <a:close/>
              </a:path>
            </a:pathLst>
          </a:custGeom>
          <a:solidFill>
            <a:srgbClr val="FAFCFD"/>
          </a:solidFill>
          <a:ln w="11906" cap="sq">
            <a:solidFill>
              <a:srgbClr val="D9E2EA"/>
            </a:solidFill>
            <a:prstDash val="solid"/>
            <a:miter/>
          </a:ln>
        </p:spPr>
      </p:sp>
      <p:sp>
        <p:nvSpPr>
          <p:cNvPr id="37" name="TextBox 37"/>
          <p:cNvSpPr txBox="1"/>
          <p:nvPr/>
        </p:nvSpPr>
        <p:spPr>
          <a:xfrm>
            <a:off x="6983730" y="4709160"/>
            <a:ext cx="2251710" cy="26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2E4053"/>
                </a:solidFill>
                <a:latin typeface="Inter"/>
                <a:ea typeface="Inter"/>
                <a:cs typeface="Inter"/>
                <a:sym typeface="Inter"/>
              </a:rPr>
              <a:t>0.0367%</a:t>
            </a:r>
          </a:p>
        </p:txBody>
      </p:sp>
      <p:sp>
        <p:nvSpPr>
          <p:cNvPr id="39" name="Freeform 39"/>
          <p:cNvSpPr/>
          <p:nvPr/>
        </p:nvSpPr>
        <p:spPr>
          <a:xfrm>
            <a:off x="1217057" y="5206127"/>
            <a:ext cx="3246596" cy="743426"/>
          </a:xfrm>
          <a:custGeom>
            <a:avLst/>
            <a:gdLst/>
            <a:ahLst/>
            <a:cxnLst/>
            <a:rect l="l" t="t" r="r" b="b"/>
            <a:pathLst>
              <a:path w="4328795" h="991235">
                <a:moveTo>
                  <a:pt x="0" y="0"/>
                </a:moveTo>
                <a:lnTo>
                  <a:pt x="4328795" y="0"/>
                </a:lnTo>
                <a:lnTo>
                  <a:pt x="4328795" y="991235"/>
                </a:lnTo>
                <a:lnTo>
                  <a:pt x="0" y="991235"/>
                </a:lnTo>
                <a:close/>
              </a:path>
            </a:pathLst>
          </a:custGeom>
          <a:solidFill>
            <a:srgbClr val="FFFFFF"/>
          </a:solidFill>
          <a:ln w="11906" cap="sq">
            <a:solidFill>
              <a:srgbClr val="D9E2EA"/>
            </a:solidFill>
            <a:prstDash val="solid"/>
            <a:miter/>
          </a:ln>
        </p:spPr>
      </p:sp>
      <p:sp>
        <p:nvSpPr>
          <p:cNvPr id="40" name="TextBox 40"/>
          <p:cNvSpPr txBox="1"/>
          <p:nvPr/>
        </p:nvSpPr>
        <p:spPr>
          <a:xfrm>
            <a:off x="1371600" y="5440680"/>
            <a:ext cx="3006090" cy="26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2E4053"/>
                </a:solidFill>
                <a:latin typeface="Inter"/>
                <a:ea typeface="Inter"/>
                <a:cs typeface="Inter"/>
                <a:sym typeface="Inter"/>
              </a:rPr>
              <a:t>Global Popularity</a:t>
            </a:r>
          </a:p>
        </p:txBody>
      </p:sp>
      <p:sp>
        <p:nvSpPr>
          <p:cNvPr id="42" name="Freeform 42"/>
          <p:cNvSpPr/>
          <p:nvPr/>
        </p:nvSpPr>
        <p:spPr>
          <a:xfrm>
            <a:off x="4451747" y="5206127"/>
            <a:ext cx="2389346" cy="743426"/>
          </a:xfrm>
          <a:custGeom>
            <a:avLst/>
            <a:gdLst/>
            <a:ahLst/>
            <a:cxnLst/>
            <a:rect l="l" t="t" r="r" b="b"/>
            <a:pathLst>
              <a:path w="3185795" h="991235">
                <a:moveTo>
                  <a:pt x="0" y="0"/>
                </a:moveTo>
                <a:lnTo>
                  <a:pt x="3185795" y="0"/>
                </a:lnTo>
                <a:lnTo>
                  <a:pt x="3185795" y="991235"/>
                </a:lnTo>
                <a:lnTo>
                  <a:pt x="0" y="991235"/>
                </a:lnTo>
                <a:close/>
              </a:path>
            </a:pathLst>
          </a:custGeom>
          <a:solidFill>
            <a:srgbClr val="FFFFFF"/>
          </a:solidFill>
          <a:ln w="11906" cap="sq">
            <a:solidFill>
              <a:srgbClr val="D9E2EA"/>
            </a:solidFill>
            <a:prstDash val="solid"/>
            <a:miter/>
          </a:ln>
        </p:spPr>
      </p:sp>
      <p:sp>
        <p:nvSpPr>
          <p:cNvPr id="43" name="TextBox 43"/>
          <p:cNvSpPr txBox="1"/>
          <p:nvPr/>
        </p:nvSpPr>
        <p:spPr>
          <a:xfrm>
            <a:off x="4606290" y="5440680"/>
            <a:ext cx="2148840" cy="26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1.8606%</a:t>
            </a:r>
          </a:p>
        </p:txBody>
      </p:sp>
      <p:sp>
        <p:nvSpPr>
          <p:cNvPr id="45" name="Freeform 45"/>
          <p:cNvSpPr/>
          <p:nvPr/>
        </p:nvSpPr>
        <p:spPr>
          <a:xfrm>
            <a:off x="6829187" y="5206127"/>
            <a:ext cx="2492216" cy="743426"/>
          </a:xfrm>
          <a:custGeom>
            <a:avLst/>
            <a:gdLst/>
            <a:ahLst/>
            <a:cxnLst/>
            <a:rect l="l" t="t" r="r" b="b"/>
            <a:pathLst>
              <a:path w="3322955" h="991235">
                <a:moveTo>
                  <a:pt x="0" y="0"/>
                </a:moveTo>
                <a:lnTo>
                  <a:pt x="3322955" y="0"/>
                </a:lnTo>
                <a:lnTo>
                  <a:pt x="3322955" y="991235"/>
                </a:lnTo>
                <a:lnTo>
                  <a:pt x="0" y="991235"/>
                </a:lnTo>
                <a:close/>
              </a:path>
            </a:pathLst>
          </a:custGeom>
          <a:solidFill>
            <a:srgbClr val="FFFFFF"/>
          </a:solidFill>
          <a:ln w="11906" cap="sq">
            <a:solidFill>
              <a:srgbClr val="D9E2EA"/>
            </a:solidFill>
            <a:prstDash val="solid"/>
            <a:miter/>
          </a:ln>
        </p:spPr>
      </p:sp>
      <p:sp>
        <p:nvSpPr>
          <p:cNvPr id="46" name="TextBox 46"/>
          <p:cNvSpPr txBox="1"/>
          <p:nvPr/>
        </p:nvSpPr>
        <p:spPr>
          <a:xfrm>
            <a:off x="6983730" y="5440680"/>
            <a:ext cx="2251710" cy="26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2E4053"/>
                </a:solidFill>
                <a:latin typeface="Inter"/>
                <a:ea typeface="Inter"/>
                <a:cs typeface="Inter"/>
                <a:sym typeface="Inter"/>
              </a:rPr>
              <a:t>0.0067%</a:t>
            </a:r>
          </a:p>
        </p:txBody>
      </p:sp>
      <p:sp>
        <p:nvSpPr>
          <p:cNvPr id="48" name="Freeform 48"/>
          <p:cNvSpPr/>
          <p:nvPr/>
        </p:nvSpPr>
        <p:spPr>
          <a:xfrm>
            <a:off x="1215076" y="5905500"/>
            <a:ext cx="8136000" cy="576000"/>
          </a:xfrm>
          <a:custGeom>
            <a:avLst/>
            <a:gdLst/>
            <a:ahLst/>
            <a:cxnLst/>
            <a:rect l="l" t="t" r="r" b="b"/>
            <a:pathLst>
              <a:path w="11298810" h="539369">
                <a:moveTo>
                  <a:pt x="0" y="89916"/>
                </a:moveTo>
                <a:cubicBezTo>
                  <a:pt x="0" y="40259"/>
                  <a:pt x="40259" y="0"/>
                  <a:pt x="89916" y="0"/>
                </a:cubicBezTo>
                <a:lnTo>
                  <a:pt x="11208893" y="0"/>
                </a:lnTo>
                <a:cubicBezTo>
                  <a:pt x="11258550" y="0"/>
                  <a:pt x="11298810" y="40259"/>
                  <a:pt x="11298810" y="89916"/>
                </a:cubicBezTo>
                <a:lnTo>
                  <a:pt x="11298810" y="449453"/>
                </a:lnTo>
                <a:cubicBezTo>
                  <a:pt x="11298810" y="499110"/>
                  <a:pt x="11258550" y="539369"/>
                  <a:pt x="11208893" y="539369"/>
                </a:cubicBezTo>
                <a:lnTo>
                  <a:pt x="89916" y="539369"/>
                </a:lnTo>
                <a:cubicBezTo>
                  <a:pt x="40259" y="539369"/>
                  <a:pt x="0" y="499110"/>
                  <a:pt x="0" y="449453"/>
                </a:cubicBezTo>
                <a:close/>
              </a:path>
            </a:pathLst>
          </a:custGeom>
          <a:solidFill>
            <a:srgbClr val="EDF4FA"/>
          </a:solidFill>
          <a:ln w="15875" cap="sq">
            <a:solidFill>
              <a:srgbClr val="D9E2EA"/>
            </a:solidFill>
            <a:prstDash val="solid"/>
            <a:miter/>
          </a:ln>
        </p:spPr>
      </p:sp>
      <p:sp>
        <p:nvSpPr>
          <p:cNvPr id="49" name="TextBox 49"/>
          <p:cNvSpPr txBox="1"/>
          <p:nvPr/>
        </p:nvSpPr>
        <p:spPr>
          <a:xfrm>
            <a:off x="1428750" y="6059805"/>
            <a:ext cx="7956000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1500" dirty="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Observed HR@10 gap: Global Popularity leads </a:t>
            </a:r>
            <a:r>
              <a:rPr lang="en-US" sz="1500" dirty="0" err="1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Behavioural</a:t>
            </a:r>
            <a:r>
              <a:rPr lang="en-US" sz="1500" dirty="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KMeans</a:t>
            </a:r>
            <a:r>
              <a:rPr lang="en-US" sz="1500" dirty="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 by 0.0472 percentage points.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029950" y="2562225"/>
            <a:ext cx="5943600" cy="32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 dirty="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Warm Hit Rate@10</a:t>
            </a:r>
          </a:p>
        </p:txBody>
      </p:sp>
      <p:sp>
        <p:nvSpPr>
          <p:cNvPr id="51" name="AutoShape 51"/>
          <p:cNvSpPr/>
          <p:nvPr/>
        </p:nvSpPr>
        <p:spPr>
          <a:xfrm rot="18120">
            <a:off x="11014034" y="6054727"/>
            <a:ext cx="6032583" cy="0"/>
          </a:xfrm>
          <a:prstGeom prst="line">
            <a:avLst/>
          </a:prstGeom>
          <a:ln w="19050" cap="rnd">
            <a:solidFill>
              <a:srgbClr val="BEC8D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2" name="AutoShape 52"/>
          <p:cNvSpPr/>
          <p:nvPr/>
        </p:nvSpPr>
        <p:spPr>
          <a:xfrm rot="5364360">
            <a:off x="9499521" y="4540252"/>
            <a:ext cx="3060868" cy="0"/>
          </a:xfrm>
          <a:prstGeom prst="line">
            <a:avLst/>
          </a:prstGeom>
          <a:ln w="19050" cap="rnd">
            <a:solidFill>
              <a:srgbClr val="BEC8D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3" name="AutoShape 53"/>
          <p:cNvSpPr/>
          <p:nvPr/>
        </p:nvSpPr>
        <p:spPr>
          <a:xfrm rot="4560">
            <a:off x="11025978" y="6059490"/>
            <a:ext cx="6008694" cy="0"/>
          </a:xfrm>
          <a:prstGeom prst="line">
            <a:avLst/>
          </a:prstGeom>
          <a:ln w="9525" cap="rnd">
            <a:solidFill>
              <a:srgbClr val="E6EB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4" name="TextBox 54"/>
          <p:cNvSpPr txBox="1"/>
          <p:nvPr/>
        </p:nvSpPr>
        <p:spPr>
          <a:xfrm>
            <a:off x="10595610" y="5972812"/>
            <a:ext cx="342900" cy="171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99"/>
              </a:lnSpc>
            </a:pPr>
            <a:r>
              <a:rPr lang="en-US" sz="999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0.0</a:t>
            </a:r>
          </a:p>
        </p:txBody>
      </p:sp>
      <p:sp>
        <p:nvSpPr>
          <p:cNvPr id="55" name="AutoShape 55"/>
          <p:cNvSpPr/>
          <p:nvPr/>
        </p:nvSpPr>
        <p:spPr>
          <a:xfrm rot="4560">
            <a:off x="11025978" y="5371089"/>
            <a:ext cx="6008694" cy="0"/>
          </a:xfrm>
          <a:prstGeom prst="line">
            <a:avLst/>
          </a:prstGeom>
          <a:ln w="9525" cap="rnd">
            <a:solidFill>
              <a:srgbClr val="E6EB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6" name="TextBox 56"/>
          <p:cNvSpPr txBox="1"/>
          <p:nvPr/>
        </p:nvSpPr>
        <p:spPr>
          <a:xfrm>
            <a:off x="10595610" y="5284412"/>
            <a:ext cx="342900" cy="171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99"/>
              </a:lnSpc>
            </a:pPr>
            <a:r>
              <a:rPr lang="en-US" sz="999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0.5</a:t>
            </a:r>
          </a:p>
        </p:txBody>
      </p:sp>
      <p:sp>
        <p:nvSpPr>
          <p:cNvPr id="57" name="AutoShape 57"/>
          <p:cNvSpPr/>
          <p:nvPr/>
        </p:nvSpPr>
        <p:spPr>
          <a:xfrm rot="4560">
            <a:off x="11025978" y="4682689"/>
            <a:ext cx="6008694" cy="0"/>
          </a:xfrm>
          <a:prstGeom prst="line">
            <a:avLst/>
          </a:prstGeom>
          <a:ln w="9525" cap="rnd">
            <a:solidFill>
              <a:srgbClr val="E6EB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8" name="TextBox 58"/>
          <p:cNvSpPr txBox="1"/>
          <p:nvPr/>
        </p:nvSpPr>
        <p:spPr>
          <a:xfrm>
            <a:off x="10595610" y="4596011"/>
            <a:ext cx="342900" cy="171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99"/>
              </a:lnSpc>
            </a:pPr>
            <a:r>
              <a:rPr lang="en-US" sz="999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1.0</a:t>
            </a:r>
          </a:p>
        </p:txBody>
      </p:sp>
      <p:sp>
        <p:nvSpPr>
          <p:cNvPr id="59" name="AutoShape 59"/>
          <p:cNvSpPr/>
          <p:nvPr/>
        </p:nvSpPr>
        <p:spPr>
          <a:xfrm rot="4560">
            <a:off x="11025978" y="3994298"/>
            <a:ext cx="6008694" cy="0"/>
          </a:xfrm>
          <a:prstGeom prst="line">
            <a:avLst/>
          </a:prstGeom>
          <a:ln w="9525" cap="rnd">
            <a:solidFill>
              <a:srgbClr val="E6EB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0" name="TextBox 60"/>
          <p:cNvSpPr txBox="1"/>
          <p:nvPr/>
        </p:nvSpPr>
        <p:spPr>
          <a:xfrm>
            <a:off x="10595610" y="3907621"/>
            <a:ext cx="342900" cy="171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99"/>
              </a:lnSpc>
            </a:pPr>
            <a:r>
              <a:rPr lang="en-US" sz="999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1.5</a:t>
            </a:r>
          </a:p>
        </p:txBody>
      </p:sp>
      <p:sp>
        <p:nvSpPr>
          <p:cNvPr id="61" name="AutoShape 61"/>
          <p:cNvSpPr/>
          <p:nvPr/>
        </p:nvSpPr>
        <p:spPr>
          <a:xfrm rot="4560">
            <a:off x="11025978" y="3305898"/>
            <a:ext cx="6008694" cy="0"/>
          </a:xfrm>
          <a:prstGeom prst="line">
            <a:avLst/>
          </a:prstGeom>
          <a:ln w="9525" cap="rnd">
            <a:solidFill>
              <a:srgbClr val="E6EB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2" name="TextBox 62"/>
          <p:cNvSpPr txBox="1"/>
          <p:nvPr/>
        </p:nvSpPr>
        <p:spPr>
          <a:xfrm>
            <a:off x="10595610" y="3219220"/>
            <a:ext cx="342900" cy="171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99"/>
              </a:lnSpc>
            </a:pPr>
            <a:r>
              <a:rPr lang="en-US" sz="999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2.0</a:t>
            </a:r>
          </a:p>
        </p:txBody>
      </p:sp>
      <p:sp>
        <p:nvSpPr>
          <p:cNvPr id="64" name="Freeform 64"/>
          <p:cNvSpPr/>
          <p:nvPr/>
        </p:nvSpPr>
        <p:spPr>
          <a:xfrm>
            <a:off x="11658600" y="3567711"/>
            <a:ext cx="742950" cy="2496503"/>
          </a:xfrm>
          <a:custGeom>
            <a:avLst/>
            <a:gdLst/>
            <a:ahLst/>
            <a:cxnLst/>
            <a:rect l="l" t="t" r="r" b="b"/>
            <a:pathLst>
              <a:path w="990600" h="3328670">
                <a:moveTo>
                  <a:pt x="0" y="0"/>
                </a:moveTo>
                <a:lnTo>
                  <a:pt x="990600" y="0"/>
                </a:lnTo>
                <a:lnTo>
                  <a:pt x="990600" y="3328670"/>
                </a:lnTo>
                <a:lnTo>
                  <a:pt x="0" y="3328670"/>
                </a:lnTo>
                <a:close/>
              </a:path>
            </a:pathLst>
          </a:custGeom>
          <a:solidFill>
            <a:srgbClr val="2A8C8C"/>
          </a:solidFill>
        </p:spPr>
      </p:sp>
      <p:sp>
        <p:nvSpPr>
          <p:cNvPr id="65" name="TextBox 65"/>
          <p:cNvSpPr txBox="1"/>
          <p:nvPr/>
        </p:nvSpPr>
        <p:spPr>
          <a:xfrm>
            <a:off x="11401425" y="3304821"/>
            <a:ext cx="1257300" cy="205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9"/>
              </a:lnSpc>
            </a:pPr>
            <a:r>
              <a:rPr lang="en-US" sz="999">
                <a:solidFill>
                  <a:srgbClr val="17324D"/>
                </a:solidFill>
                <a:latin typeface="Inter"/>
                <a:ea typeface="Inter"/>
                <a:cs typeface="Inter"/>
                <a:sym typeface="Inter"/>
              </a:rPr>
              <a:t>1.8133%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287125" y="6210300"/>
            <a:ext cx="1485900" cy="434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9"/>
              </a:lnSpc>
            </a:pPr>
            <a:r>
              <a:rPr lang="en-US" sz="999" dirty="0" err="1">
                <a:solidFill>
                  <a:srgbClr val="2E4053"/>
                </a:solidFill>
                <a:latin typeface="Inter"/>
                <a:ea typeface="Inter"/>
                <a:cs typeface="Inter"/>
                <a:sym typeface="Inter"/>
              </a:rPr>
              <a:t>Behavioural</a:t>
            </a:r>
            <a:endParaRPr lang="en-US" sz="999" dirty="0">
              <a:solidFill>
                <a:srgbClr val="2E4053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1199"/>
              </a:lnSpc>
            </a:pPr>
            <a:r>
              <a:rPr lang="en-US" sz="999" dirty="0" err="1">
                <a:solidFill>
                  <a:srgbClr val="2E4053"/>
                </a:solidFill>
                <a:latin typeface="Inter"/>
                <a:ea typeface="Inter"/>
                <a:cs typeface="Inter"/>
                <a:sym typeface="Inter"/>
              </a:rPr>
              <a:t>KMeans</a:t>
            </a:r>
            <a:endParaRPr lang="en-US" sz="999" dirty="0">
              <a:solidFill>
                <a:srgbClr val="2E405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" name="Freeform 68"/>
          <p:cNvSpPr/>
          <p:nvPr/>
        </p:nvSpPr>
        <p:spPr>
          <a:xfrm>
            <a:off x="13658850" y="4198695"/>
            <a:ext cx="742950" cy="1865567"/>
          </a:xfrm>
          <a:custGeom>
            <a:avLst/>
            <a:gdLst/>
            <a:ahLst/>
            <a:cxnLst/>
            <a:rect l="l" t="t" r="r" b="b"/>
            <a:pathLst>
              <a:path w="990600" h="2487422">
                <a:moveTo>
                  <a:pt x="0" y="0"/>
                </a:moveTo>
                <a:lnTo>
                  <a:pt x="990600" y="0"/>
                </a:lnTo>
                <a:lnTo>
                  <a:pt x="990600" y="2487422"/>
                </a:lnTo>
                <a:lnTo>
                  <a:pt x="0" y="2487422"/>
                </a:lnTo>
                <a:close/>
              </a:path>
            </a:pathLst>
          </a:custGeom>
          <a:solidFill>
            <a:srgbClr val="5D86A6"/>
          </a:solidFill>
        </p:spPr>
      </p:sp>
      <p:sp>
        <p:nvSpPr>
          <p:cNvPr id="69" name="TextBox 69"/>
          <p:cNvSpPr txBox="1"/>
          <p:nvPr/>
        </p:nvSpPr>
        <p:spPr>
          <a:xfrm>
            <a:off x="13401675" y="3935805"/>
            <a:ext cx="1257300" cy="205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9"/>
              </a:lnSpc>
            </a:pPr>
            <a:r>
              <a:rPr lang="en-US" sz="999">
                <a:solidFill>
                  <a:srgbClr val="17324D"/>
                </a:solidFill>
                <a:latin typeface="Inter"/>
                <a:ea typeface="Inter"/>
                <a:cs typeface="Inter"/>
                <a:sym typeface="Inter"/>
              </a:rPr>
              <a:t>1.3550%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3287375" y="6210300"/>
            <a:ext cx="1485900" cy="434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9"/>
              </a:lnSpc>
            </a:pPr>
            <a:r>
              <a:rPr lang="en-US" sz="999">
                <a:solidFill>
                  <a:srgbClr val="2E4053"/>
                </a:solidFill>
                <a:latin typeface="Inter"/>
                <a:ea typeface="Inter"/>
                <a:cs typeface="Inter"/>
                <a:sym typeface="Inter"/>
              </a:rPr>
              <a:t>SVD +</a:t>
            </a:r>
          </a:p>
          <a:p>
            <a:pPr algn="ctr">
              <a:lnSpc>
                <a:spcPts val="1199"/>
              </a:lnSpc>
            </a:pPr>
            <a:r>
              <a:rPr lang="en-US" sz="999">
                <a:solidFill>
                  <a:srgbClr val="2E4053"/>
                </a:solidFill>
                <a:latin typeface="Inter"/>
                <a:ea typeface="Inter"/>
                <a:cs typeface="Inter"/>
                <a:sym typeface="Inter"/>
              </a:rPr>
              <a:t>KMeans</a:t>
            </a:r>
          </a:p>
        </p:txBody>
      </p:sp>
      <p:sp>
        <p:nvSpPr>
          <p:cNvPr id="72" name="Freeform 72"/>
          <p:cNvSpPr/>
          <p:nvPr/>
        </p:nvSpPr>
        <p:spPr>
          <a:xfrm>
            <a:off x="15659100" y="3502589"/>
            <a:ext cx="742950" cy="2561653"/>
          </a:xfrm>
          <a:custGeom>
            <a:avLst/>
            <a:gdLst/>
            <a:ahLst/>
            <a:cxnLst/>
            <a:rect l="l" t="t" r="r" b="b"/>
            <a:pathLst>
              <a:path w="990600" h="3415538">
                <a:moveTo>
                  <a:pt x="0" y="0"/>
                </a:moveTo>
                <a:lnTo>
                  <a:pt x="990600" y="0"/>
                </a:lnTo>
                <a:lnTo>
                  <a:pt x="990600" y="3415538"/>
                </a:lnTo>
                <a:lnTo>
                  <a:pt x="0" y="3415538"/>
                </a:lnTo>
                <a:close/>
              </a:path>
            </a:pathLst>
          </a:custGeom>
          <a:solidFill>
            <a:srgbClr val="55A868"/>
          </a:solidFill>
        </p:spPr>
      </p:sp>
      <p:sp>
        <p:nvSpPr>
          <p:cNvPr id="73" name="TextBox 73"/>
          <p:cNvSpPr txBox="1"/>
          <p:nvPr/>
        </p:nvSpPr>
        <p:spPr>
          <a:xfrm>
            <a:off x="15401925" y="3239699"/>
            <a:ext cx="1257300" cy="205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9"/>
              </a:lnSpc>
            </a:pPr>
            <a:r>
              <a:rPr lang="en-US" sz="999">
                <a:solidFill>
                  <a:srgbClr val="17324D"/>
                </a:solidFill>
                <a:latin typeface="Inter"/>
                <a:ea typeface="Inter"/>
                <a:cs typeface="Inter"/>
                <a:sym typeface="Inter"/>
              </a:rPr>
              <a:t>1.8606%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5287625" y="6210300"/>
            <a:ext cx="1485900" cy="434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9"/>
              </a:lnSpc>
            </a:pPr>
            <a:r>
              <a:rPr lang="en-US" sz="999">
                <a:solidFill>
                  <a:srgbClr val="2E4053"/>
                </a:solidFill>
                <a:latin typeface="Inter"/>
                <a:ea typeface="Inter"/>
                <a:cs typeface="Inter"/>
                <a:sym typeface="Inter"/>
              </a:rPr>
              <a:t>Global</a:t>
            </a:r>
          </a:p>
          <a:p>
            <a:pPr algn="ctr">
              <a:lnSpc>
                <a:spcPts val="1199"/>
              </a:lnSpc>
            </a:pPr>
            <a:r>
              <a:rPr lang="en-US" sz="999">
                <a:solidFill>
                  <a:srgbClr val="2E4053"/>
                </a:solidFill>
                <a:latin typeface="Inter"/>
                <a:ea typeface="Inter"/>
                <a:cs typeface="Inter"/>
                <a:sym typeface="Inter"/>
              </a:rPr>
              <a:t>Popularity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035612" y="6591300"/>
            <a:ext cx="5652188" cy="230832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1500" dirty="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The gap is small in observed results, but not statistically tested.</a:t>
            </a:r>
          </a:p>
        </p:txBody>
      </p:sp>
      <p:sp>
        <p:nvSpPr>
          <p:cNvPr id="77" name="Freeform 77"/>
          <p:cNvSpPr/>
          <p:nvPr/>
        </p:nvSpPr>
        <p:spPr>
          <a:xfrm>
            <a:off x="792166" y="7227256"/>
            <a:ext cx="16703707" cy="238191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5875" cap="sq">
            <a:solidFill>
              <a:srgbClr val="D9E2EA"/>
            </a:solidFill>
            <a:prstDash val="solid"/>
            <a:miter/>
          </a:ln>
        </p:spPr>
      </p:sp>
      <p:sp>
        <p:nvSpPr>
          <p:cNvPr id="79" name="Freeform 79"/>
          <p:cNvSpPr/>
          <p:nvPr/>
        </p:nvSpPr>
        <p:spPr>
          <a:xfrm>
            <a:off x="800100" y="7235190"/>
            <a:ext cx="148590" cy="2366010"/>
          </a:xfrm>
          <a:custGeom>
            <a:avLst/>
            <a:gdLst/>
            <a:ahLst/>
            <a:cxnLst/>
            <a:rect l="l" t="t" r="r" b="b"/>
            <a:pathLst>
              <a:path w="198120" h="3154680">
                <a:moveTo>
                  <a:pt x="0" y="33020"/>
                </a:moveTo>
                <a:cubicBezTo>
                  <a:pt x="0" y="14732"/>
                  <a:pt x="14732" y="0"/>
                  <a:pt x="33020" y="0"/>
                </a:cubicBezTo>
                <a:lnTo>
                  <a:pt x="165100" y="0"/>
                </a:lnTo>
                <a:cubicBezTo>
                  <a:pt x="183388" y="0"/>
                  <a:pt x="198120" y="14732"/>
                  <a:pt x="198120" y="33020"/>
                </a:cubicBezTo>
                <a:lnTo>
                  <a:pt x="198120" y="3121660"/>
                </a:lnTo>
                <a:cubicBezTo>
                  <a:pt x="198120" y="3139948"/>
                  <a:pt x="183388" y="3154680"/>
                  <a:pt x="165100" y="3154680"/>
                </a:cubicBezTo>
                <a:lnTo>
                  <a:pt x="33020" y="3154680"/>
                </a:lnTo>
                <a:cubicBezTo>
                  <a:pt x="14732" y="3154680"/>
                  <a:pt x="0" y="3139948"/>
                  <a:pt x="0" y="3121660"/>
                </a:cubicBezTo>
                <a:close/>
              </a:path>
            </a:pathLst>
          </a:custGeom>
          <a:solidFill>
            <a:srgbClr val="2A8C8C"/>
          </a:solidFill>
        </p:spPr>
      </p:sp>
      <p:sp>
        <p:nvSpPr>
          <p:cNvPr id="80" name="TextBox 80"/>
          <p:cNvSpPr txBox="1"/>
          <p:nvPr/>
        </p:nvSpPr>
        <p:spPr>
          <a:xfrm>
            <a:off x="1223010" y="7505700"/>
            <a:ext cx="8895064" cy="403957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2625" b="1" dirty="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Selected deployment model: </a:t>
            </a:r>
            <a:r>
              <a:rPr lang="en-US" sz="2625" b="1" dirty="0" err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Behavioural</a:t>
            </a:r>
            <a:r>
              <a:rPr lang="en-US" sz="2625" b="1" dirty="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625" b="1" dirty="0" err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KMeans</a:t>
            </a:r>
            <a:r>
              <a:rPr lang="en-US" sz="2625" b="1" dirty="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, k=4</a:t>
            </a:r>
          </a:p>
        </p:txBody>
      </p:sp>
      <p:sp>
        <p:nvSpPr>
          <p:cNvPr id="82" name="Freeform 82"/>
          <p:cNvSpPr/>
          <p:nvPr/>
        </p:nvSpPr>
        <p:spPr>
          <a:xfrm>
            <a:off x="1215076" y="8141656"/>
            <a:ext cx="3021996" cy="987456"/>
          </a:xfrm>
          <a:custGeom>
            <a:avLst/>
            <a:gdLst/>
            <a:ahLst/>
            <a:cxnLst/>
            <a:rect l="l" t="t" r="r" b="b"/>
            <a:pathLst>
              <a:path w="4029329" h="1316609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3809873" y="0"/>
                </a:lnTo>
                <a:cubicBezTo>
                  <a:pt x="3931031" y="0"/>
                  <a:pt x="4029329" y="98298"/>
                  <a:pt x="4029329" y="219456"/>
                </a:cubicBezTo>
                <a:lnTo>
                  <a:pt x="4029329" y="1097153"/>
                </a:lnTo>
                <a:cubicBezTo>
                  <a:pt x="4029329" y="1218311"/>
                  <a:pt x="3931031" y="1316609"/>
                  <a:pt x="3809873" y="1316609"/>
                </a:cubicBezTo>
                <a:lnTo>
                  <a:pt x="219456" y="1316609"/>
                </a:lnTo>
                <a:cubicBezTo>
                  <a:pt x="98298" y="1316609"/>
                  <a:pt x="0" y="1218311"/>
                  <a:pt x="0" y="1097153"/>
                </a:cubicBezTo>
                <a:close/>
              </a:path>
            </a:pathLst>
          </a:custGeom>
          <a:solidFill>
            <a:srgbClr val="EDF4FA"/>
          </a:solidFill>
          <a:ln w="15875" cap="sq">
            <a:solidFill>
              <a:srgbClr val="D9E2EA"/>
            </a:solidFill>
            <a:prstDash val="solid"/>
            <a:miter/>
          </a:ln>
        </p:spPr>
      </p:sp>
      <p:sp>
        <p:nvSpPr>
          <p:cNvPr id="83" name="TextBox 83"/>
          <p:cNvSpPr txBox="1"/>
          <p:nvPr/>
        </p:nvSpPr>
        <p:spPr>
          <a:xfrm>
            <a:off x="1417320" y="8321040"/>
            <a:ext cx="260604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Interpretable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417320" y="8631555"/>
            <a:ext cx="260604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2E4053"/>
                </a:solidFill>
                <a:latin typeface="Inter"/>
                <a:ea typeface="Inter"/>
                <a:cs typeface="Inter"/>
                <a:sym typeface="Inter"/>
              </a:rPr>
              <a:t>4 behavioural user segments</a:t>
            </a:r>
          </a:p>
        </p:txBody>
      </p:sp>
      <p:sp>
        <p:nvSpPr>
          <p:cNvPr id="86" name="Freeform 86"/>
          <p:cNvSpPr/>
          <p:nvPr/>
        </p:nvSpPr>
        <p:spPr>
          <a:xfrm>
            <a:off x="4461196" y="8141656"/>
            <a:ext cx="3021996" cy="987456"/>
          </a:xfrm>
          <a:custGeom>
            <a:avLst/>
            <a:gdLst/>
            <a:ahLst/>
            <a:cxnLst/>
            <a:rect l="l" t="t" r="r" b="b"/>
            <a:pathLst>
              <a:path w="4029329" h="1316609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3809873" y="0"/>
                </a:lnTo>
                <a:cubicBezTo>
                  <a:pt x="3931031" y="0"/>
                  <a:pt x="4029329" y="98298"/>
                  <a:pt x="4029329" y="219456"/>
                </a:cubicBezTo>
                <a:lnTo>
                  <a:pt x="4029329" y="1097153"/>
                </a:lnTo>
                <a:cubicBezTo>
                  <a:pt x="4029329" y="1218311"/>
                  <a:pt x="3931031" y="1316609"/>
                  <a:pt x="3809873" y="1316609"/>
                </a:cubicBezTo>
                <a:lnTo>
                  <a:pt x="219456" y="1316609"/>
                </a:lnTo>
                <a:cubicBezTo>
                  <a:pt x="98298" y="1316609"/>
                  <a:pt x="0" y="1218311"/>
                  <a:pt x="0" y="1097153"/>
                </a:cubicBezTo>
                <a:close/>
              </a:path>
            </a:pathLst>
          </a:custGeom>
          <a:solidFill>
            <a:srgbClr val="FFFFFF"/>
          </a:solidFill>
          <a:ln w="15875" cap="sq">
            <a:solidFill>
              <a:srgbClr val="D9E2EA"/>
            </a:solidFill>
            <a:prstDash val="solid"/>
            <a:miter/>
          </a:ln>
        </p:spPr>
      </p:sp>
      <p:sp>
        <p:nvSpPr>
          <p:cNvPr id="87" name="TextBox 87"/>
          <p:cNvSpPr txBox="1"/>
          <p:nvPr/>
        </p:nvSpPr>
        <p:spPr>
          <a:xfrm>
            <a:off x="4663440" y="8321040"/>
            <a:ext cx="260604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Competitive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4663440" y="8631555"/>
            <a:ext cx="260604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2E4053"/>
                </a:solidFill>
                <a:latin typeface="Inter"/>
                <a:ea typeface="Inter"/>
                <a:cs typeface="Inter"/>
                <a:sym typeface="Inter"/>
              </a:rPr>
              <a:t>Close to popularity benchmark</a:t>
            </a:r>
          </a:p>
        </p:txBody>
      </p:sp>
      <p:sp>
        <p:nvSpPr>
          <p:cNvPr id="90" name="Freeform 90"/>
          <p:cNvSpPr/>
          <p:nvPr/>
        </p:nvSpPr>
        <p:spPr>
          <a:xfrm>
            <a:off x="7707316" y="8141656"/>
            <a:ext cx="3021996" cy="987456"/>
          </a:xfrm>
          <a:custGeom>
            <a:avLst/>
            <a:gdLst/>
            <a:ahLst/>
            <a:cxnLst/>
            <a:rect l="l" t="t" r="r" b="b"/>
            <a:pathLst>
              <a:path w="4029329" h="1316609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3809873" y="0"/>
                </a:lnTo>
                <a:cubicBezTo>
                  <a:pt x="3931031" y="0"/>
                  <a:pt x="4029329" y="98298"/>
                  <a:pt x="4029329" y="219456"/>
                </a:cubicBezTo>
                <a:lnTo>
                  <a:pt x="4029329" y="1097153"/>
                </a:lnTo>
                <a:cubicBezTo>
                  <a:pt x="4029329" y="1218311"/>
                  <a:pt x="3931031" y="1316609"/>
                  <a:pt x="3809873" y="1316609"/>
                </a:cubicBezTo>
                <a:lnTo>
                  <a:pt x="219456" y="1316609"/>
                </a:lnTo>
                <a:cubicBezTo>
                  <a:pt x="98298" y="1316609"/>
                  <a:pt x="0" y="1218311"/>
                  <a:pt x="0" y="1097153"/>
                </a:cubicBezTo>
                <a:close/>
              </a:path>
            </a:pathLst>
          </a:custGeom>
          <a:solidFill>
            <a:srgbClr val="FFFFFF"/>
          </a:solidFill>
          <a:ln w="15875" cap="sq">
            <a:solidFill>
              <a:srgbClr val="D9E2EA"/>
            </a:solidFill>
            <a:prstDash val="solid"/>
            <a:miter/>
          </a:ln>
        </p:spPr>
      </p:sp>
      <p:sp>
        <p:nvSpPr>
          <p:cNvPr id="91" name="TextBox 91"/>
          <p:cNvSpPr txBox="1"/>
          <p:nvPr/>
        </p:nvSpPr>
        <p:spPr>
          <a:xfrm>
            <a:off x="7909560" y="8321040"/>
            <a:ext cx="2606040" cy="2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1600" b="1" dirty="0"/>
              <a:t>Higher warm HR@10</a:t>
            </a:r>
            <a:endParaRPr lang="en-US" sz="1749" b="1" dirty="0">
              <a:solidFill>
                <a:srgbClr val="17324D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92" name="TextBox 92"/>
          <p:cNvSpPr txBox="1"/>
          <p:nvPr/>
        </p:nvSpPr>
        <p:spPr>
          <a:xfrm>
            <a:off x="7909560" y="8631555"/>
            <a:ext cx="2606040" cy="2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1600" dirty="0"/>
              <a:t>Than SVD + </a:t>
            </a:r>
            <a:r>
              <a:rPr lang="en-IN" sz="1600" dirty="0" err="1"/>
              <a:t>KMeans</a:t>
            </a:r>
            <a:endParaRPr lang="en-US" sz="1500" dirty="0">
              <a:solidFill>
                <a:srgbClr val="2E405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Freeform 94"/>
          <p:cNvSpPr/>
          <p:nvPr/>
        </p:nvSpPr>
        <p:spPr>
          <a:xfrm>
            <a:off x="10953436" y="8141656"/>
            <a:ext cx="3021996" cy="987456"/>
          </a:xfrm>
          <a:custGeom>
            <a:avLst/>
            <a:gdLst/>
            <a:ahLst/>
            <a:cxnLst/>
            <a:rect l="l" t="t" r="r" b="b"/>
            <a:pathLst>
              <a:path w="4029329" h="1316609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3809873" y="0"/>
                </a:lnTo>
                <a:cubicBezTo>
                  <a:pt x="3931031" y="0"/>
                  <a:pt x="4029329" y="98298"/>
                  <a:pt x="4029329" y="219456"/>
                </a:cubicBezTo>
                <a:lnTo>
                  <a:pt x="4029329" y="1097153"/>
                </a:lnTo>
                <a:cubicBezTo>
                  <a:pt x="4029329" y="1218311"/>
                  <a:pt x="3931031" y="1316609"/>
                  <a:pt x="3809873" y="1316609"/>
                </a:cubicBezTo>
                <a:lnTo>
                  <a:pt x="219456" y="1316609"/>
                </a:lnTo>
                <a:cubicBezTo>
                  <a:pt x="98298" y="1316609"/>
                  <a:pt x="0" y="1218311"/>
                  <a:pt x="0" y="1097153"/>
                </a:cubicBezTo>
                <a:close/>
              </a:path>
            </a:pathLst>
          </a:custGeom>
          <a:solidFill>
            <a:srgbClr val="EDF4FA"/>
          </a:solidFill>
          <a:ln w="15875" cap="sq">
            <a:solidFill>
              <a:srgbClr val="D9E2EA"/>
            </a:solidFill>
            <a:prstDash val="solid"/>
            <a:miter/>
          </a:ln>
        </p:spPr>
      </p:sp>
      <p:sp>
        <p:nvSpPr>
          <p:cNvPr id="95" name="TextBox 95"/>
          <p:cNvSpPr txBox="1"/>
          <p:nvPr/>
        </p:nvSpPr>
        <p:spPr>
          <a:xfrm>
            <a:off x="11155680" y="8321040"/>
            <a:ext cx="260604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Deployable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11155680" y="8631555"/>
            <a:ext cx="260604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2E4053"/>
                </a:solidFill>
                <a:latin typeface="Inter"/>
                <a:ea typeface="Inter"/>
                <a:cs typeface="Inter"/>
                <a:sym typeface="Inter"/>
              </a:rPr>
              <a:t>Simpler serving architecture</a:t>
            </a:r>
          </a:p>
        </p:txBody>
      </p:sp>
      <p:sp>
        <p:nvSpPr>
          <p:cNvPr id="98" name="Freeform 98"/>
          <p:cNvSpPr/>
          <p:nvPr/>
        </p:nvSpPr>
        <p:spPr>
          <a:xfrm>
            <a:off x="14199556" y="8141656"/>
            <a:ext cx="3021996" cy="987456"/>
          </a:xfrm>
          <a:custGeom>
            <a:avLst/>
            <a:gdLst/>
            <a:ahLst/>
            <a:cxnLst/>
            <a:rect l="l" t="t" r="r" b="b"/>
            <a:pathLst>
              <a:path w="4029329" h="1316609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3809873" y="0"/>
                </a:lnTo>
                <a:cubicBezTo>
                  <a:pt x="3931031" y="0"/>
                  <a:pt x="4029329" y="98298"/>
                  <a:pt x="4029329" y="219456"/>
                </a:cubicBezTo>
                <a:lnTo>
                  <a:pt x="4029329" y="1097153"/>
                </a:lnTo>
                <a:cubicBezTo>
                  <a:pt x="4029329" y="1218311"/>
                  <a:pt x="3931031" y="1316609"/>
                  <a:pt x="3809873" y="1316609"/>
                </a:cubicBezTo>
                <a:lnTo>
                  <a:pt x="219456" y="1316609"/>
                </a:lnTo>
                <a:cubicBezTo>
                  <a:pt x="98298" y="1316609"/>
                  <a:pt x="0" y="1218311"/>
                  <a:pt x="0" y="1097153"/>
                </a:cubicBezTo>
                <a:close/>
              </a:path>
            </a:pathLst>
          </a:custGeom>
          <a:solidFill>
            <a:srgbClr val="FFFFFF"/>
          </a:solidFill>
          <a:ln w="15875" cap="sq">
            <a:solidFill>
              <a:srgbClr val="D9E2EA"/>
            </a:solidFill>
            <a:prstDash val="solid"/>
            <a:miter/>
          </a:ln>
        </p:spPr>
      </p:sp>
      <p:sp>
        <p:nvSpPr>
          <p:cNvPr id="99" name="TextBox 99"/>
          <p:cNvSpPr txBox="1"/>
          <p:nvPr/>
        </p:nvSpPr>
        <p:spPr>
          <a:xfrm>
            <a:off x="14401800" y="8321040"/>
            <a:ext cx="2606040" cy="255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 b="1" dirty="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Project fit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4401800" y="8631555"/>
            <a:ext cx="260604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2E4053"/>
                </a:solidFill>
                <a:latin typeface="Inter"/>
                <a:ea typeface="Inter"/>
                <a:cs typeface="Inter"/>
                <a:sym typeface="Inter"/>
              </a:rPr>
              <a:t>Satisfies clustering-deployment goal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792166" y="9797415"/>
            <a:ext cx="15087600" cy="215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dirty="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Global Popularity remains the benchmark and fallback. Statistical significance of the small HR@10 difference was not tested.</a:t>
            </a:r>
          </a:p>
        </p:txBody>
      </p: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784EB250-EDF0-45DC-B0A1-DB555B02D10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329688" t="-329688" r="-329688" b="-329688"/>
          <a:stretch>
            <a:fillRect/>
          </a:stretch>
        </p:blipFill>
        <p:spPr>
          <a:xfrm>
            <a:off x="15078456" y="7077456"/>
            <a:ext cx="3086100" cy="30861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631"/>
    </mc:Choice>
    <mc:Fallback xmlns="">
      <p:transition spd="slow" advTm="386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793575" y="266700"/>
            <a:ext cx="1081945" cy="128682"/>
          </a:xfrm>
          <a:custGeom>
            <a:avLst/>
            <a:gdLst/>
            <a:ahLst/>
            <a:cxnLst/>
            <a:rect l="l" t="t" r="r" b="b"/>
            <a:pathLst>
              <a:path w="1442593" h="171577">
                <a:moveTo>
                  <a:pt x="0" y="28575"/>
                </a:moveTo>
                <a:cubicBezTo>
                  <a:pt x="0" y="12827"/>
                  <a:pt x="12827" y="0"/>
                  <a:pt x="28575" y="0"/>
                </a:cubicBezTo>
                <a:lnTo>
                  <a:pt x="1414018" y="0"/>
                </a:lnTo>
                <a:cubicBezTo>
                  <a:pt x="1429766" y="0"/>
                  <a:pt x="1442593" y="12827"/>
                  <a:pt x="1442593" y="28575"/>
                </a:cubicBezTo>
                <a:lnTo>
                  <a:pt x="1442593" y="143002"/>
                </a:lnTo>
                <a:cubicBezTo>
                  <a:pt x="1442593" y="158750"/>
                  <a:pt x="1429766" y="171577"/>
                  <a:pt x="1414018" y="171577"/>
                </a:cubicBezTo>
                <a:lnTo>
                  <a:pt x="28575" y="171577"/>
                </a:lnTo>
                <a:cubicBezTo>
                  <a:pt x="12827" y="171577"/>
                  <a:pt x="0" y="158750"/>
                  <a:pt x="0" y="143002"/>
                </a:cubicBezTo>
                <a:close/>
              </a:path>
            </a:pathLst>
          </a:custGeom>
          <a:solidFill>
            <a:srgbClr val="2A8C8C"/>
          </a:solidFill>
          <a:ln w="14299" cap="sq">
            <a:solidFill>
              <a:srgbClr val="2A8C8C"/>
            </a:solidFill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800729" y="540077"/>
            <a:ext cx="10135788" cy="831638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5404" b="1" dirty="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Live Recommendation System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0729" y="1341420"/>
            <a:ext cx="11830162" cy="36946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2401" dirty="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Saved clustering artifacts power three serving paths in the deployed </a:t>
            </a:r>
            <a:r>
              <a:rPr lang="en-US" sz="2401" dirty="0" err="1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Streamlit</a:t>
            </a:r>
            <a:r>
              <a:rPr lang="en-US" sz="2401" dirty="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 app.</a:t>
            </a:r>
          </a:p>
        </p:txBody>
      </p:sp>
      <p:sp>
        <p:nvSpPr>
          <p:cNvPr id="7" name="Freeform 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88813" y="2371192"/>
            <a:ext cx="4275296" cy="4599431"/>
          </a:xfrm>
          <a:prstGeom prst="roundRect">
            <a:avLst>
              <a:gd name="adj" fmla="val 5591"/>
            </a:avLst>
          </a:prstGeom>
          <a:solidFill>
            <a:srgbClr val="FFFFFF"/>
          </a:solidFill>
          <a:ln w="23831" cap="sq">
            <a:solidFill>
              <a:srgbClr val="D9E2EA"/>
            </a:solidFill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5611882" y="2781890"/>
            <a:ext cx="4576381" cy="3455575"/>
          </a:xfrm>
          <a:prstGeom prst="roundRect">
            <a:avLst>
              <a:gd name="adj" fmla="val 6271"/>
            </a:avLst>
          </a:prstGeom>
          <a:solidFill>
            <a:srgbClr val="EDF4FA"/>
          </a:solidFill>
          <a:ln w="23831" cap="sq">
            <a:solidFill>
              <a:srgbClr val="D9E2EA"/>
            </a:solidFill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10807408" y="2019300"/>
            <a:ext cx="6706077" cy="4980623"/>
          </a:xfrm>
          <a:prstGeom prst="roundRect">
            <a:avLst>
              <a:gd name="adj" fmla="val 5520"/>
            </a:avLst>
          </a:prstGeom>
          <a:solidFill>
            <a:srgbClr val="FFFFFF"/>
          </a:solidFill>
          <a:ln w="23831" cap="sq">
            <a:solidFill>
              <a:srgbClr val="D9E2EA"/>
            </a:solidFill>
            <a:prstDash val="solid"/>
            <a:miter/>
          </a:ln>
        </p:spPr>
      </p:sp>
      <p:sp>
        <p:nvSpPr>
          <p:cNvPr id="12" name="TextBox 12"/>
          <p:cNvSpPr txBox="1"/>
          <p:nvPr/>
        </p:nvSpPr>
        <p:spPr>
          <a:xfrm>
            <a:off x="1182024" y="2612698"/>
            <a:ext cx="2669086" cy="343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Saved artifacts</a:t>
            </a:r>
          </a:p>
        </p:txBody>
      </p:sp>
      <p:sp>
        <p:nvSpPr>
          <p:cNvPr id="14" name="Freeform 14"/>
          <p:cNvSpPr/>
          <p:nvPr/>
        </p:nvSpPr>
        <p:spPr>
          <a:xfrm>
            <a:off x="1142999" y="3229651"/>
            <a:ext cx="3600000" cy="720000"/>
          </a:xfrm>
          <a:custGeom>
            <a:avLst/>
            <a:gdLst/>
            <a:ahLst/>
            <a:cxnLst/>
            <a:rect l="l" t="t" r="r" b="b"/>
            <a:pathLst>
              <a:path w="4672203" h="859282">
                <a:moveTo>
                  <a:pt x="0" y="143256"/>
                </a:moveTo>
                <a:cubicBezTo>
                  <a:pt x="0" y="64135"/>
                  <a:pt x="64135" y="0"/>
                  <a:pt x="143256" y="0"/>
                </a:cubicBezTo>
                <a:lnTo>
                  <a:pt x="4528947" y="0"/>
                </a:lnTo>
                <a:cubicBezTo>
                  <a:pt x="4608068" y="0"/>
                  <a:pt x="4672203" y="64135"/>
                  <a:pt x="4672203" y="143256"/>
                </a:cubicBezTo>
                <a:lnTo>
                  <a:pt x="4672203" y="716026"/>
                </a:lnTo>
                <a:cubicBezTo>
                  <a:pt x="4672203" y="795147"/>
                  <a:pt x="4608068" y="859282"/>
                  <a:pt x="4528947" y="859282"/>
                </a:cubicBezTo>
                <a:lnTo>
                  <a:pt x="143256" y="859282"/>
                </a:lnTo>
                <a:cubicBezTo>
                  <a:pt x="64135" y="859155"/>
                  <a:pt x="0" y="795020"/>
                  <a:pt x="0" y="716026"/>
                </a:cubicBezTo>
                <a:close/>
              </a:path>
            </a:pathLst>
          </a:custGeom>
          <a:solidFill>
            <a:srgbClr val="EAF4F4"/>
          </a:solidFill>
          <a:ln w="15252" cap="sq">
            <a:solidFill>
              <a:srgbClr val="D9E2EA"/>
            </a:solidFill>
            <a:prstDash val="solid"/>
            <a:miter/>
          </a:ln>
        </p:spPr>
      </p:sp>
      <p:sp>
        <p:nvSpPr>
          <p:cNvPr id="15" name="TextBox 15"/>
          <p:cNvSpPr txBox="1"/>
          <p:nvPr/>
        </p:nvSpPr>
        <p:spPr>
          <a:xfrm>
            <a:off x="1219200" y="3244158"/>
            <a:ext cx="3332664" cy="32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101" b="1" dirty="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Recommendation bundle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9200" y="3672524"/>
            <a:ext cx="3717655" cy="277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1801" dirty="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cluster rankings &amp; global ranking</a:t>
            </a:r>
          </a:p>
        </p:txBody>
      </p:sp>
      <p:sp>
        <p:nvSpPr>
          <p:cNvPr id="18" name="Freeform 18"/>
          <p:cNvSpPr/>
          <p:nvPr/>
        </p:nvSpPr>
        <p:spPr>
          <a:xfrm>
            <a:off x="1142999" y="4107251"/>
            <a:ext cx="3600000" cy="720000"/>
          </a:xfrm>
          <a:custGeom>
            <a:avLst/>
            <a:gdLst/>
            <a:ahLst/>
            <a:cxnLst/>
            <a:rect l="l" t="t" r="r" b="b"/>
            <a:pathLst>
              <a:path w="4672203" h="859282">
                <a:moveTo>
                  <a:pt x="0" y="143256"/>
                </a:moveTo>
                <a:cubicBezTo>
                  <a:pt x="0" y="64135"/>
                  <a:pt x="64135" y="0"/>
                  <a:pt x="143256" y="0"/>
                </a:cubicBezTo>
                <a:lnTo>
                  <a:pt x="4528947" y="0"/>
                </a:lnTo>
                <a:cubicBezTo>
                  <a:pt x="4608068" y="0"/>
                  <a:pt x="4672203" y="64135"/>
                  <a:pt x="4672203" y="143256"/>
                </a:cubicBezTo>
                <a:lnTo>
                  <a:pt x="4672203" y="716026"/>
                </a:lnTo>
                <a:cubicBezTo>
                  <a:pt x="4672203" y="795147"/>
                  <a:pt x="4608068" y="859282"/>
                  <a:pt x="4528947" y="859282"/>
                </a:cubicBezTo>
                <a:lnTo>
                  <a:pt x="143256" y="859282"/>
                </a:lnTo>
                <a:cubicBezTo>
                  <a:pt x="64135" y="859155"/>
                  <a:pt x="0" y="795020"/>
                  <a:pt x="0" y="716026"/>
                </a:cubicBezTo>
                <a:close/>
              </a:path>
            </a:pathLst>
          </a:custGeom>
          <a:solidFill>
            <a:srgbClr val="EAF4F4"/>
          </a:solidFill>
          <a:ln w="15252" cap="sq">
            <a:solidFill>
              <a:srgbClr val="D9E2EA"/>
            </a:solidFill>
            <a:prstDash val="solid"/>
            <a:miter/>
          </a:ln>
        </p:spPr>
      </p:sp>
      <p:sp>
        <p:nvSpPr>
          <p:cNvPr id="19" name="TextBox 19"/>
          <p:cNvSpPr txBox="1"/>
          <p:nvPr/>
        </p:nvSpPr>
        <p:spPr>
          <a:xfrm>
            <a:off x="1219200" y="4121167"/>
            <a:ext cx="2859729" cy="323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101" b="1" dirty="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Seen-item matrix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19200" y="4550134"/>
            <a:ext cx="2859729" cy="277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1801" dirty="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excludes rated products</a:t>
            </a:r>
          </a:p>
        </p:txBody>
      </p:sp>
      <p:sp>
        <p:nvSpPr>
          <p:cNvPr id="22" name="Freeform 22"/>
          <p:cNvSpPr/>
          <p:nvPr/>
        </p:nvSpPr>
        <p:spPr>
          <a:xfrm>
            <a:off x="1142999" y="4984851"/>
            <a:ext cx="3600000" cy="720000"/>
          </a:xfrm>
          <a:custGeom>
            <a:avLst/>
            <a:gdLst/>
            <a:ahLst/>
            <a:cxnLst/>
            <a:rect l="l" t="t" r="r" b="b"/>
            <a:pathLst>
              <a:path w="4672203" h="859282">
                <a:moveTo>
                  <a:pt x="0" y="143256"/>
                </a:moveTo>
                <a:cubicBezTo>
                  <a:pt x="0" y="64135"/>
                  <a:pt x="64135" y="0"/>
                  <a:pt x="143256" y="0"/>
                </a:cubicBezTo>
                <a:lnTo>
                  <a:pt x="4528947" y="0"/>
                </a:lnTo>
                <a:cubicBezTo>
                  <a:pt x="4608068" y="0"/>
                  <a:pt x="4672203" y="64135"/>
                  <a:pt x="4672203" y="143256"/>
                </a:cubicBezTo>
                <a:lnTo>
                  <a:pt x="4672203" y="716026"/>
                </a:lnTo>
                <a:cubicBezTo>
                  <a:pt x="4672203" y="795147"/>
                  <a:pt x="4608068" y="859282"/>
                  <a:pt x="4528947" y="859282"/>
                </a:cubicBezTo>
                <a:lnTo>
                  <a:pt x="143256" y="859282"/>
                </a:lnTo>
                <a:cubicBezTo>
                  <a:pt x="64135" y="859155"/>
                  <a:pt x="0" y="795020"/>
                  <a:pt x="0" y="716026"/>
                </a:cubicBezTo>
                <a:close/>
              </a:path>
            </a:pathLst>
          </a:custGeom>
          <a:solidFill>
            <a:srgbClr val="EAF4F4"/>
          </a:solidFill>
          <a:ln w="15252" cap="sq">
            <a:solidFill>
              <a:srgbClr val="D9E2EA"/>
            </a:solidFill>
            <a:prstDash val="solid"/>
            <a:miter/>
          </a:ln>
        </p:spPr>
      </p:sp>
      <p:sp>
        <p:nvSpPr>
          <p:cNvPr id="23" name="TextBox 23"/>
          <p:cNvSpPr txBox="1"/>
          <p:nvPr/>
        </p:nvSpPr>
        <p:spPr>
          <a:xfrm>
            <a:off x="1219200" y="4998167"/>
            <a:ext cx="2859729" cy="323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101" b="1" dirty="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Product metadata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19200" y="5427724"/>
            <a:ext cx="2859729" cy="277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1801" dirty="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training-only statistics</a:t>
            </a:r>
          </a:p>
        </p:txBody>
      </p:sp>
      <p:sp>
        <p:nvSpPr>
          <p:cNvPr id="26" name="Freeform 26"/>
          <p:cNvSpPr/>
          <p:nvPr/>
        </p:nvSpPr>
        <p:spPr>
          <a:xfrm>
            <a:off x="1142999" y="5862451"/>
            <a:ext cx="3600000" cy="720000"/>
          </a:xfrm>
          <a:custGeom>
            <a:avLst/>
            <a:gdLst/>
            <a:ahLst/>
            <a:cxnLst/>
            <a:rect l="l" t="t" r="r" b="b"/>
            <a:pathLst>
              <a:path w="4672203" h="859282">
                <a:moveTo>
                  <a:pt x="0" y="143256"/>
                </a:moveTo>
                <a:cubicBezTo>
                  <a:pt x="0" y="64135"/>
                  <a:pt x="64135" y="0"/>
                  <a:pt x="143256" y="0"/>
                </a:cubicBezTo>
                <a:lnTo>
                  <a:pt x="4528947" y="0"/>
                </a:lnTo>
                <a:cubicBezTo>
                  <a:pt x="4608068" y="0"/>
                  <a:pt x="4672203" y="64135"/>
                  <a:pt x="4672203" y="143256"/>
                </a:cubicBezTo>
                <a:lnTo>
                  <a:pt x="4672203" y="716026"/>
                </a:lnTo>
                <a:cubicBezTo>
                  <a:pt x="4672203" y="795147"/>
                  <a:pt x="4608068" y="859282"/>
                  <a:pt x="4528947" y="859282"/>
                </a:cubicBezTo>
                <a:lnTo>
                  <a:pt x="143256" y="859282"/>
                </a:lnTo>
                <a:cubicBezTo>
                  <a:pt x="64135" y="859155"/>
                  <a:pt x="0" y="795020"/>
                  <a:pt x="0" y="716026"/>
                </a:cubicBezTo>
                <a:close/>
              </a:path>
            </a:pathLst>
          </a:custGeom>
          <a:solidFill>
            <a:srgbClr val="EAF4F4"/>
          </a:solidFill>
          <a:ln w="15252" cap="sq">
            <a:solidFill>
              <a:srgbClr val="D9E2EA"/>
            </a:solidFill>
            <a:prstDash val="solid"/>
            <a:miter/>
          </a:ln>
        </p:spPr>
      </p:sp>
      <p:sp>
        <p:nvSpPr>
          <p:cNvPr id="27" name="TextBox 27"/>
          <p:cNvSpPr txBox="1"/>
          <p:nvPr/>
        </p:nvSpPr>
        <p:spPr>
          <a:xfrm>
            <a:off x="1219200" y="5875167"/>
            <a:ext cx="2859729" cy="323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101" b="1" dirty="0" err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Behavioural</a:t>
            </a:r>
            <a:r>
              <a:rPr lang="en-US" sz="2101" b="1" dirty="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 pipeline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19200" y="6305324"/>
            <a:ext cx="3332664" cy="277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1801" dirty="0" err="1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StandardScaler</a:t>
            </a:r>
            <a:r>
              <a:rPr lang="en-US" sz="1801" dirty="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 + </a:t>
            </a:r>
            <a:r>
              <a:rPr lang="en-US" sz="1801" dirty="0" err="1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KMeans</a:t>
            </a:r>
            <a:r>
              <a:rPr lang="en-US" sz="1801" dirty="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, k=4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943600" y="3009019"/>
            <a:ext cx="3988271" cy="438903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2852" b="1" dirty="0" err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Streamlit</a:t>
            </a:r>
            <a:r>
              <a:rPr lang="en-US" sz="2852" b="1" dirty="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 serving layer</a:t>
            </a:r>
          </a:p>
        </p:txBody>
      </p:sp>
      <p:sp>
        <p:nvSpPr>
          <p:cNvPr id="31" name="Freeform 31"/>
          <p:cNvSpPr/>
          <p:nvPr/>
        </p:nvSpPr>
        <p:spPr>
          <a:xfrm>
            <a:off x="6013083" y="3849528"/>
            <a:ext cx="3600000" cy="792000"/>
          </a:xfrm>
          <a:custGeom>
            <a:avLst/>
            <a:gdLst/>
            <a:ahLst/>
            <a:cxnLst/>
            <a:rect l="l" t="t" r="r" b="b"/>
            <a:pathLst>
              <a:path w="3844671" h="997712">
                <a:moveTo>
                  <a:pt x="0" y="166243"/>
                </a:moveTo>
                <a:cubicBezTo>
                  <a:pt x="0" y="74422"/>
                  <a:pt x="74422" y="0"/>
                  <a:pt x="166243" y="0"/>
                </a:cubicBezTo>
                <a:lnTo>
                  <a:pt x="3678428" y="0"/>
                </a:lnTo>
                <a:cubicBezTo>
                  <a:pt x="3770249" y="0"/>
                  <a:pt x="3844671" y="74422"/>
                  <a:pt x="3844671" y="166243"/>
                </a:cubicBezTo>
                <a:lnTo>
                  <a:pt x="3844671" y="831469"/>
                </a:lnTo>
                <a:cubicBezTo>
                  <a:pt x="3844671" y="923290"/>
                  <a:pt x="3770249" y="997712"/>
                  <a:pt x="3678428" y="997712"/>
                </a:cubicBezTo>
                <a:lnTo>
                  <a:pt x="166243" y="997712"/>
                </a:lnTo>
                <a:cubicBezTo>
                  <a:pt x="74422" y="997712"/>
                  <a:pt x="0" y="923290"/>
                  <a:pt x="0" y="831469"/>
                </a:cubicBezTo>
                <a:close/>
              </a:path>
            </a:pathLst>
          </a:custGeom>
          <a:solidFill>
            <a:srgbClr val="FFFFFF"/>
          </a:solidFill>
          <a:ln w="23831" cap="sq">
            <a:solidFill>
              <a:srgbClr val="D9E2EA"/>
            </a:solidFill>
            <a:prstDash val="solid"/>
            <a:miter/>
          </a:ln>
        </p:spPr>
      </p:sp>
      <p:sp>
        <p:nvSpPr>
          <p:cNvPr id="32" name="TextBox 32"/>
          <p:cNvSpPr txBox="1"/>
          <p:nvPr/>
        </p:nvSpPr>
        <p:spPr>
          <a:xfrm>
            <a:off x="6172200" y="3915451"/>
            <a:ext cx="2774799" cy="32329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2101" b="1" dirty="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No runtime retraining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172200" y="4318997"/>
            <a:ext cx="2701060" cy="277127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1801" dirty="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Artifacts are loaded once</a:t>
            </a:r>
          </a:p>
        </p:txBody>
      </p:sp>
      <p:sp>
        <p:nvSpPr>
          <p:cNvPr id="35" name="Freeform 35"/>
          <p:cNvSpPr/>
          <p:nvPr/>
        </p:nvSpPr>
        <p:spPr>
          <a:xfrm>
            <a:off x="6013084" y="4879029"/>
            <a:ext cx="3600000" cy="792000"/>
          </a:xfrm>
          <a:custGeom>
            <a:avLst/>
            <a:gdLst/>
            <a:ahLst/>
            <a:cxnLst/>
            <a:rect l="l" t="t" r="r" b="b"/>
            <a:pathLst>
              <a:path w="3844671" h="997712">
                <a:moveTo>
                  <a:pt x="0" y="166243"/>
                </a:moveTo>
                <a:cubicBezTo>
                  <a:pt x="0" y="74422"/>
                  <a:pt x="74422" y="0"/>
                  <a:pt x="166243" y="0"/>
                </a:cubicBezTo>
                <a:lnTo>
                  <a:pt x="3678428" y="0"/>
                </a:lnTo>
                <a:cubicBezTo>
                  <a:pt x="3770249" y="0"/>
                  <a:pt x="3844671" y="74422"/>
                  <a:pt x="3844671" y="166243"/>
                </a:cubicBezTo>
                <a:lnTo>
                  <a:pt x="3844671" y="831469"/>
                </a:lnTo>
                <a:cubicBezTo>
                  <a:pt x="3844671" y="923290"/>
                  <a:pt x="3770249" y="997712"/>
                  <a:pt x="3678428" y="997712"/>
                </a:cubicBezTo>
                <a:lnTo>
                  <a:pt x="166243" y="997712"/>
                </a:lnTo>
                <a:cubicBezTo>
                  <a:pt x="74422" y="997712"/>
                  <a:pt x="0" y="923290"/>
                  <a:pt x="0" y="831469"/>
                </a:cubicBezTo>
                <a:close/>
              </a:path>
            </a:pathLst>
          </a:custGeom>
          <a:solidFill>
            <a:srgbClr val="FFFFFF"/>
          </a:solidFill>
          <a:ln w="23831" cap="sq">
            <a:solidFill>
              <a:srgbClr val="D9E2EA"/>
            </a:solidFill>
            <a:prstDash val="solid"/>
            <a:miter/>
          </a:ln>
        </p:spPr>
      </p:sp>
      <p:sp>
        <p:nvSpPr>
          <p:cNvPr id="36" name="TextBox 36"/>
          <p:cNvSpPr txBox="1"/>
          <p:nvPr/>
        </p:nvSpPr>
        <p:spPr>
          <a:xfrm>
            <a:off x="6172200" y="4982251"/>
            <a:ext cx="2845331" cy="32329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2101" b="1" dirty="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No ratings.csv loaded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172200" y="5348506"/>
            <a:ext cx="3297378" cy="277127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1801" dirty="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Compact deployment package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229223" y="2402986"/>
            <a:ext cx="2447786" cy="438903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2852" b="1" dirty="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Serving paths</a:t>
            </a:r>
          </a:p>
        </p:txBody>
      </p:sp>
      <p:sp>
        <p:nvSpPr>
          <p:cNvPr id="46" name="Freeform 46"/>
          <p:cNvSpPr/>
          <p:nvPr/>
        </p:nvSpPr>
        <p:spPr>
          <a:xfrm>
            <a:off x="11217307" y="2991612"/>
            <a:ext cx="5895785" cy="1091470"/>
          </a:xfrm>
          <a:custGeom>
            <a:avLst/>
            <a:gdLst/>
            <a:ahLst/>
            <a:cxnLst/>
            <a:rect l="l" t="t" r="r" b="b"/>
            <a:pathLst>
              <a:path w="7861046" h="1455293">
                <a:moveTo>
                  <a:pt x="0" y="242570"/>
                </a:moveTo>
                <a:cubicBezTo>
                  <a:pt x="0" y="108585"/>
                  <a:pt x="108585" y="0"/>
                  <a:pt x="242570" y="0"/>
                </a:cubicBezTo>
                <a:lnTo>
                  <a:pt x="7618476" y="0"/>
                </a:lnTo>
                <a:cubicBezTo>
                  <a:pt x="7752461" y="0"/>
                  <a:pt x="7861046" y="108585"/>
                  <a:pt x="7861046" y="242570"/>
                </a:cubicBezTo>
                <a:lnTo>
                  <a:pt x="7861046" y="1212723"/>
                </a:lnTo>
                <a:cubicBezTo>
                  <a:pt x="7861046" y="1346708"/>
                  <a:pt x="7752461" y="1455293"/>
                  <a:pt x="7618476" y="1455293"/>
                </a:cubicBezTo>
                <a:lnTo>
                  <a:pt x="242570" y="1455293"/>
                </a:lnTo>
                <a:cubicBezTo>
                  <a:pt x="108585" y="1455293"/>
                  <a:pt x="0" y="1346708"/>
                  <a:pt x="0" y="1212723"/>
                </a:cubicBezTo>
                <a:close/>
              </a:path>
            </a:pathLst>
          </a:custGeom>
          <a:solidFill>
            <a:srgbClr val="EAF4F4"/>
          </a:solidFill>
          <a:ln w="23831" cap="sq">
            <a:solidFill>
              <a:srgbClr val="D9E2EA"/>
            </a:solidFill>
            <a:prstDash val="solid"/>
            <a:miter/>
          </a:ln>
        </p:spPr>
      </p:sp>
      <p:sp>
        <p:nvSpPr>
          <p:cNvPr id="48" name="Freeform 48"/>
          <p:cNvSpPr/>
          <p:nvPr/>
        </p:nvSpPr>
        <p:spPr>
          <a:xfrm>
            <a:off x="11222069" y="2996374"/>
            <a:ext cx="147829" cy="1081945"/>
          </a:xfrm>
          <a:custGeom>
            <a:avLst/>
            <a:gdLst/>
            <a:ahLst/>
            <a:cxnLst/>
            <a:rect l="l" t="t" r="r" b="b"/>
            <a:pathLst>
              <a:path w="197104" h="1442593">
                <a:moveTo>
                  <a:pt x="0" y="32893"/>
                </a:moveTo>
                <a:cubicBezTo>
                  <a:pt x="0" y="14732"/>
                  <a:pt x="14732" y="0"/>
                  <a:pt x="32893" y="0"/>
                </a:cubicBezTo>
                <a:lnTo>
                  <a:pt x="164211" y="0"/>
                </a:lnTo>
                <a:cubicBezTo>
                  <a:pt x="182372" y="0"/>
                  <a:pt x="197104" y="14732"/>
                  <a:pt x="197104" y="32893"/>
                </a:cubicBezTo>
                <a:lnTo>
                  <a:pt x="197104" y="1409700"/>
                </a:lnTo>
                <a:cubicBezTo>
                  <a:pt x="197104" y="1427861"/>
                  <a:pt x="182372" y="1442593"/>
                  <a:pt x="164211" y="1442593"/>
                </a:cubicBezTo>
                <a:lnTo>
                  <a:pt x="32893" y="1442593"/>
                </a:lnTo>
                <a:cubicBezTo>
                  <a:pt x="14732" y="1442593"/>
                  <a:pt x="0" y="1427861"/>
                  <a:pt x="0" y="1409700"/>
                </a:cubicBezTo>
                <a:close/>
              </a:path>
            </a:pathLst>
          </a:custGeom>
          <a:solidFill>
            <a:srgbClr val="2A8C8C"/>
          </a:solidFill>
          <a:ln w="14299" cap="sq">
            <a:solidFill>
              <a:srgbClr val="2A8C8C"/>
            </a:solidFill>
            <a:prstDash val="solid"/>
            <a:miter/>
          </a:ln>
        </p:spPr>
      </p:sp>
      <p:sp>
        <p:nvSpPr>
          <p:cNvPr id="49" name="TextBox 49"/>
          <p:cNvSpPr txBox="1"/>
          <p:nvPr/>
        </p:nvSpPr>
        <p:spPr>
          <a:xfrm>
            <a:off x="11553321" y="3129877"/>
            <a:ext cx="3138686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800" dirty="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Existing modelled user</a:t>
            </a:r>
          </a:p>
        </p:txBody>
      </p:sp>
      <p:sp>
        <p:nvSpPr>
          <p:cNvPr id="55" name="Freeform 55"/>
          <p:cNvSpPr/>
          <p:nvPr/>
        </p:nvSpPr>
        <p:spPr>
          <a:xfrm>
            <a:off x="11217307" y="4268952"/>
            <a:ext cx="5895785" cy="1091470"/>
          </a:xfrm>
          <a:custGeom>
            <a:avLst/>
            <a:gdLst/>
            <a:ahLst/>
            <a:cxnLst/>
            <a:rect l="l" t="t" r="r" b="b"/>
            <a:pathLst>
              <a:path w="7861046" h="1455293">
                <a:moveTo>
                  <a:pt x="0" y="242570"/>
                </a:moveTo>
                <a:cubicBezTo>
                  <a:pt x="0" y="108585"/>
                  <a:pt x="108585" y="0"/>
                  <a:pt x="242570" y="0"/>
                </a:cubicBezTo>
                <a:lnTo>
                  <a:pt x="7618476" y="0"/>
                </a:lnTo>
                <a:cubicBezTo>
                  <a:pt x="7752461" y="0"/>
                  <a:pt x="7861046" y="108585"/>
                  <a:pt x="7861046" y="242570"/>
                </a:cubicBezTo>
                <a:lnTo>
                  <a:pt x="7861046" y="1212723"/>
                </a:lnTo>
                <a:cubicBezTo>
                  <a:pt x="7861046" y="1346708"/>
                  <a:pt x="7752461" y="1455293"/>
                  <a:pt x="7618476" y="1455293"/>
                </a:cubicBezTo>
                <a:lnTo>
                  <a:pt x="242570" y="1455293"/>
                </a:lnTo>
                <a:cubicBezTo>
                  <a:pt x="108585" y="1455293"/>
                  <a:pt x="0" y="1346708"/>
                  <a:pt x="0" y="1212723"/>
                </a:cubicBezTo>
                <a:close/>
              </a:path>
            </a:pathLst>
          </a:custGeom>
          <a:solidFill>
            <a:srgbClr val="FFF4DF"/>
          </a:solidFill>
          <a:ln w="23831" cap="sq">
            <a:solidFill>
              <a:srgbClr val="D9E2EA"/>
            </a:solidFill>
            <a:prstDash val="solid"/>
            <a:miter/>
          </a:ln>
        </p:spPr>
      </p:sp>
      <p:sp>
        <p:nvSpPr>
          <p:cNvPr id="57" name="Freeform 57"/>
          <p:cNvSpPr/>
          <p:nvPr/>
        </p:nvSpPr>
        <p:spPr>
          <a:xfrm>
            <a:off x="11222069" y="4273724"/>
            <a:ext cx="147829" cy="1081945"/>
          </a:xfrm>
          <a:custGeom>
            <a:avLst/>
            <a:gdLst/>
            <a:ahLst/>
            <a:cxnLst/>
            <a:rect l="l" t="t" r="r" b="b"/>
            <a:pathLst>
              <a:path w="197104" h="1442593">
                <a:moveTo>
                  <a:pt x="0" y="32893"/>
                </a:moveTo>
                <a:cubicBezTo>
                  <a:pt x="0" y="14732"/>
                  <a:pt x="14732" y="0"/>
                  <a:pt x="32893" y="0"/>
                </a:cubicBezTo>
                <a:lnTo>
                  <a:pt x="164211" y="0"/>
                </a:lnTo>
                <a:cubicBezTo>
                  <a:pt x="182372" y="0"/>
                  <a:pt x="197104" y="14732"/>
                  <a:pt x="197104" y="32893"/>
                </a:cubicBezTo>
                <a:lnTo>
                  <a:pt x="197104" y="1409700"/>
                </a:lnTo>
                <a:cubicBezTo>
                  <a:pt x="197104" y="1427861"/>
                  <a:pt x="182372" y="1442593"/>
                  <a:pt x="164211" y="1442593"/>
                </a:cubicBezTo>
                <a:lnTo>
                  <a:pt x="32893" y="1442593"/>
                </a:lnTo>
                <a:cubicBezTo>
                  <a:pt x="14732" y="1442593"/>
                  <a:pt x="0" y="1427861"/>
                  <a:pt x="0" y="1409700"/>
                </a:cubicBezTo>
                <a:close/>
              </a:path>
            </a:pathLst>
          </a:custGeom>
          <a:solidFill>
            <a:srgbClr val="F29F05"/>
          </a:solidFill>
          <a:ln w="14299" cap="sq">
            <a:solidFill>
              <a:srgbClr val="F29F05"/>
            </a:solidFill>
            <a:prstDash val="solid"/>
            <a:miter/>
          </a:ln>
        </p:spPr>
      </p:sp>
      <p:sp>
        <p:nvSpPr>
          <p:cNvPr id="58" name="TextBox 58"/>
          <p:cNvSpPr txBox="1"/>
          <p:nvPr/>
        </p:nvSpPr>
        <p:spPr>
          <a:xfrm>
            <a:off x="11553320" y="4645614"/>
            <a:ext cx="3725379" cy="430887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280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New user onboarding</a:t>
            </a:r>
          </a:p>
        </p:txBody>
      </p:sp>
      <p:sp>
        <p:nvSpPr>
          <p:cNvPr id="64" name="Freeform 64"/>
          <p:cNvSpPr/>
          <p:nvPr/>
        </p:nvSpPr>
        <p:spPr>
          <a:xfrm>
            <a:off x="11217307" y="5546302"/>
            <a:ext cx="5895785" cy="1091470"/>
          </a:xfrm>
          <a:custGeom>
            <a:avLst/>
            <a:gdLst/>
            <a:ahLst/>
            <a:cxnLst/>
            <a:rect l="l" t="t" r="r" b="b"/>
            <a:pathLst>
              <a:path w="7861046" h="1455293">
                <a:moveTo>
                  <a:pt x="0" y="242570"/>
                </a:moveTo>
                <a:cubicBezTo>
                  <a:pt x="0" y="108585"/>
                  <a:pt x="108585" y="0"/>
                  <a:pt x="242570" y="0"/>
                </a:cubicBezTo>
                <a:lnTo>
                  <a:pt x="7618476" y="0"/>
                </a:lnTo>
                <a:cubicBezTo>
                  <a:pt x="7752461" y="0"/>
                  <a:pt x="7861046" y="108585"/>
                  <a:pt x="7861046" y="242570"/>
                </a:cubicBezTo>
                <a:lnTo>
                  <a:pt x="7861046" y="1212723"/>
                </a:lnTo>
                <a:cubicBezTo>
                  <a:pt x="7861046" y="1346708"/>
                  <a:pt x="7752461" y="1455293"/>
                  <a:pt x="7618476" y="1455293"/>
                </a:cubicBezTo>
                <a:lnTo>
                  <a:pt x="242570" y="1455293"/>
                </a:lnTo>
                <a:cubicBezTo>
                  <a:pt x="108585" y="1455293"/>
                  <a:pt x="0" y="1346708"/>
                  <a:pt x="0" y="1212723"/>
                </a:cubicBezTo>
                <a:close/>
              </a:path>
            </a:pathLst>
          </a:custGeom>
          <a:solidFill>
            <a:srgbClr val="F3EEFB"/>
          </a:solidFill>
          <a:ln w="23831" cap="sq">
            <a:solidFill>
              <a:srgbClr val="D9E2EA"/>
            </a:solidFill>
            <a:prstDash val="solid"/>
            <a:miter/>
          </a:ln>
        </p:spPr>
      </p:sp>
      <p:sp>
        <p:nvSpPr>
          <p:cNvPr id="66" name="Freeform 66"/>
          <p:cNvSpPr/>
          <p:nvPr/>
        </p:nvSpPr>
        <p:spPr>
          <a:xfrm>
            <a:off x="11222069" y="5551074"/>
            <a:ext cx="147829" cy="1081945"/>
          </a:xfrm>
          <a:custGeom>
            <a:avLst/>
            <a:gdLst/>
            <a:ahLst/>
            <a:cxnLst/>
            <a:rect l="l" t="t" r="r" b="b"/>
            <a:pathLst>
              <a:path w="197104" h="1442593">
                <a:moveTo>
                  <a:pt x="0" y="32893"/>
                </a:moveTo>
                <a:cubicBezTo>
                  <a:pt x="0" y="14732"/>
                  <a:pt x="14732" y="0"/>
                  <a:pt x="32893" y="0"/>
                </a:cubicBezTo>
                <a:lnTo>
                  <a:pt x="164211" y="0"/>
                </a:lnTo>
                <a:cubicBezTo>
                  <a:pt x="182372" y="0"/>
                  <a:pt x="197104" y="14732"/>
                  <a:pt x="197104" y="32893"/>
                </a:cubicBezTo>
                <a:lnTo>
                  <a:pt x="197104" y="1409700"/>
                </a:lnTo>
                <a:cubicBezTo>
                  <a:pt x="197104" y="1427861"/>
                  <a:pt x="182372" y="1442593"/>
                  <a:pt x="164211" y="1442593"/>
                </a:cubicBezTo>
                <a:lnTo>
                  <a:pt x="32893" y="1442593"/>
                </a:lnTo>
                <a:cubicBezTo>
                  <a:pt x="14732" y="1442593"/>
                  <a:pt x="0" y="1427861"/>
                  <a:pt x="0" y="1409700"/>
                </a:cubicBezTo>
                <a:close/>
              </a:path>
            </a:pathLst>
          </a:custGeom>
          <a:solidFill>
            <a:srgbClr val="7E52E2"/>
          </a:solidFill>
          <a:ln w="14299" cap="sq">
            <a:solidFill>
              <a:srgbClr val="7E52E2"/>
            </a:solidFill>
            <a:prstDash val="solid"/>
            <a:miter/>
          </a:ln>
        </p:spPr>
      </p:sp>
      <p:sp>
        <p:nvSpPr>
          <p:cNvPr id="67" name="TextBox 67"/>
          <p:cNvSpPr txBox="1"/>
          <p:nvPr/>
        </p:nvSpPr>
        <p:spPr>
          <a:xfrm>
            <a:off x="11553320" y="5922964"/>
            <a:ext cx="2944717" cy="430887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280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No usable profile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5240228" y="3376005"/>
            <a:ext cx="1710331" cy="387046"/>
          </a:xfrm>
          <a:prstGeom prst="roundRect">
            <a:avLst/>
          </a:prstGeom>
          <a:solidFill>
            <a:schemeClr val="bg1"/>
          </a:solidFill>
        </p:spPr>
        <p:txBody>
          <a:bodyPr wrap="none" lIns="72000" tIns="36000" rIns="72000" bIns="36000" rtlCol="0" anchor="t">
            <a:spAutoFit/>
          </a:bodyPr>
          <a:lstStyle/>
          <a:p>
            <a:pPr algn="l"/>
            <a:r>
              <a:rPr lang="en-US" sz="1801" b="1" dirty="0">
                <a:solidFill>
                  <a:srgbClr val="2A8C8C"/>
                </a:solidFill>
                <a:latin typeface="Inter Bold"/>
                <a:ea typeface="Inter Bold"/>
                <a:cs typeface="Inter Bold"/>
                <a:sym typeface="Inter Bold"/>
              </a:rPr>
              <a:t>Saved cluster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5791433" y="4671405"/>
            <a:ext cx="1159126" cy="387046"/>
          </a:xfrm>
          <a:prstGeom prst="roundRect">
            <a:avLst/>
          </a:prstGeom>
          <a:solidFill>
            <a:schemeClr val="bg1"/>
          </a:solidFill>
        </p:spPr>
        <p:txBody>
          <a:bodyPr wrap="none" lIns="72000" tIns="36000" rIns="72000" bIns="36000" rtlCol="0" anchor="t">
            <a:spAutoFit/>
          </a:bodyPr>
          <a:lstStyle/>
          <a:p>
            <a:pPr algn="l"/>
            <a:r>
              <a:rPr lang="en-US" sz="1801" b="1" dirty="0">
                <a:solidFill>
                  <a:srgbClr val="F29F05"/>
                </a:solidFill>
                <a:latin typeface="Inter Bold"/>
                <a:ea typeface="Inter Bold"/>
                <a:cs typeface="Inter Bold"/>
                <a:sym typeface="Inter Bold"/>
              </a:rPr>
              <a:t>5 ratings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5839268" y="5890605"/>
            <a:ext cx="1111291" cy="387046"/>
          </a:xfrm>
          <a:prstGeom prst="roundRect">
            <a:avLst/>
          </a:prstGeom>
          <a:solidFill>
            <a:schemeClr val="bg1"/>
          </a:solidFill>
        </p:spPr>
        <p:txBody>
          <a:bodyPr wrap="none" lIns="72000" tIns="36000" rIns="72000" bIns="36000" rtlCol="0" anchor="t">
            <a:spAutoFit/>
          </a:bodyPr>
          <a:lstStyle/>
          <a:p>
            <a:pPr algn="l"/>
            <a:r>
              <a:rPr lang="en-US" sz="1801" b="1" dirty="0">
                <a:solidFill>
                  <a:srgbClr val="7E52E2"/>
                </a:solidFill>
                <a:latin typeface="Inter Bold"/>
                <a:ea typeface="Inter Bold"/>
                <a:cs typeface="Inter Bold"/>
                <a:sym typeface="Inter Bold"/>
              </a:rPr>
              <a:t>Fallback</a:t>
            </a:r>
          </a:p>
        </p:txBody>
      </p:sp>
      <p:sp>
        <p:nvSpPr>
          <p:cNvPr id="73" name="Freeform 73"/>
          <p:cNvSpPr/>
          <p:nvPr/>
        </p:nvSpPr>
        <p:spPr>
          <a:xfrm>
            <a:off x="788813" y="7200900"/>
            <a:ext cx="16724662" cy="2454742"/>
          </a:xfrm>
          <a:custGeom>
            <a:avLst/>
            <a:gdLst/>
            <a:ahLst/>
            <a:cxnLst/>
            <a:rect l="l" t="t" r="r" b="b"/>
            <a:pathLst>
              <a:path w="22299549" h="2827909">
                <a:moveTo>
                  <a:pt x="0" y="471297"/>
                </a:moveTo>
                <a:cubicBezTo>
                  <a:pt x="0" y="211074"/>
                  <a:pt x="211074" y="0"/>
                  <a:pt x="471297" y="0"/>
                </a:cubicBezTo>
                <a:lnTo>
                  <a:pt x="21828252" y="0"/>
                </a:lnTo>
                <a:cubicBezTo>
                  <a:pt x="22088602" y="0"/>
                  <a:pt x="22299549" y="211074"/>
                  <a:pt x="22299549" y="471297"/>
                </a:cubicBezTo>
                <a:lnTo>
                  <a:pt x="22299549" y="2356612"/>
                </a:lnTo>
                <a:cubicBezTo>
                  <a:pt x="22299549" y="2616962"/>
                  <a:pt x="22088475" y="2827909"/>
                  <a:pt x="21828252" y="2827909"/>
                </a:cubicBezTo>
                <a:lnTo>
                  <a:pt x="471297" y="2827909"/>
                </a:lnTo>
                <a:cubicBezTo>
                  <a:pt x="211074" y="2827909"/>
                  <a:pt x="0" y="2616962"/>
                  <a:pt x="0" y="2356612"/>
                </a:cubicBezTo>
                <a:close/>
              </a:path>
            </a:pathLst>
          </a:custGeom>
          <a:solidFill>
            <a:srgbClr val="FFFFFF"/>
          </a:solidFill>
          <a:ln w="23831" cap="sq">
            <a:solidFill>
              <a:srgbClr val="D9E2EA"/>
            </a:solidFill>
            <a:prstDash val="solid"/>
            <a:miter/>
          </a:ln>
        </p:spPr>
      </p:sp>
      <p:sp>
        <p:nvSpPr>
          <p:cNvPr id="74" name="TextBox 74"/>
          <p:cNvSpPr txBox="1"/>
          <p:nvPr/>
        </p:nvSpPr>
        <p:spPr>
          <a:xfrm>
            <a:off x="1220152" y="7366149"/>
            <a:ext cx="2930289" cy="438903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2852" b="1" dirty="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Live deployment</a:t>
            </a:r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339EFCB1-4070-ED5B-6D3F-B932B7D93994}"/>
              </a:ext>
            </a:extLst>
          </p:cNvPr>
          <p:cNvGrpSpPr/>
          <p:nvPr/>
        </p:nvGrpSpPr>
        <p:grpSpPr>
          <a:xfrm>
            <a:off x="9534719" y="7395448"/>
            <a:ext cx="7441681" cy="491252"/>
            <a:chOff x="9534719" y="7395448"/>
            <a:chExt cx="7441681" cy="491252"/>
          </a:xfrm>
        </p:grpSpPr>
        <p:sp>
          <p:nvSpPr>
            <p:cNvPr id="76" name="Freeform 76"/>
            <p:cNvSpPr/>
            <p:nvPr/>
          </p:nvSpPr>
          <p:spPr>
            <a:xfrm>
              <a:off x="10820400" y="7395448"/>
              <a:ext cx="6156000" cy="491252"/>
            </a:xfrm>
            <a:custGeom>
              <a:avLst/>
              <a:gdLst/>
              <a:ahLst/>
              <a:cxnLst/>
              <a:rect l="l" t="t" r="r" b="b"/>
              <a:pathLst>
                <a:path w="18170144" h="681228">
                  <a:moveTo>
                    <a:pt x="0" y="113538"/>
                  </a:moveTo>
                  <a:cubicBezTo>
                    <a:pt x="0" y="50800"/>
                    <a:pt x="50800" y="0"/>
                    <a:pt x="113538" y="0"/>
                  </a:cubicBezTo>
                  <a:lnTo>
                    <a:pt x="18056606" y="0"/>
                  </a:lnTo>
                  <a:cubicBezTo>
                    <a:pt x="18119344" y="0"/>
                    <a:pt x="18170144" y="50800"/>
                    <a:pt x="18170144" y="113538"/>
                  </a:cubicBezTo>
                  <a:lnTo>
                    <a:pt x="18170144" y="567690"/>
                  </a:lnTo>
                  <a:cubicBezTo>
                    <a:pt x="18170144" y="630428"/>
                    <a:pt x="18119344" y="681228"/>
                    <a:pt x="18056606" y="681228"/>
                  </a:cubicBezTo>
                  <a:lnTo>
                    <a:pt x="113538" y="681228"/>
                  </a:lnTo>
                  <a:cubicBezTo>
                    <a:pt x="50800" y="681228"/>
                    <a:pt x="0" y="630428"/>
                    <a:pt x="0" y="567690"/>
                  </a:cubicBezTo>
                  <a:close/>
                </a:path>
              </a:pathLst>
            </a:custGeom>
            <a:solidFill>
              <a:srgbClr val="EDF4FA"/>
            </a:solidFill>
            <a:ln w="15252" cap="sq">
              <a:solidFill>
                <a:srgbClr val="D9E2EA"/>
              </a:solidFill>
              <a:prstDash val="solid"/>
              <a:miter/>
            </a:ln>
          </p:spPr>
        </p:sp>
        <p:sp>
          <p:nvSpPr>
            <p:cNvPr id="78" name="Freeform 78"/>
            <p:cNvSpPr/>
            <p:nvPr/>
          </p:nvSpPr>
          <p:spPr>
            <a:xfrm>
              <a:off x="11066335" y="7593719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364"/>
                    <a:pt x="0" y="76200"/>
                  </a:cubicBezTo>
                  <a:close/>
                </a:path>
              </a:pathLst>
            </a:custGeom>
            <a:solidFill>
              <a:srgbClr val="EF6A6A"/>
            </a:solidFill>
          </p:spPr>
        </p:sp>
        <p:sp>
          <p:nvSpPr>
            <p:cNvPr id="80" name="Freeform 80"/>
            <p:cNvSpPr/>
            <p:nvPr/>
          </p:nvSpPr>
          <p:spPr>
            <a:xfrm>
              <a:off x="11256978" y="7593719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364"/>
                    <a:pt x="0" y="76200"/>
                  </a:cubicBezTo>
                  <a:close/>
                </a:path>
              </a:pathLst>
            </a:custGeom>
            <a:solidFill>
              <a:srgbClr val="F2C94C"/>
            </a:solidFill>
          </p:spPr>
        </p:sp>
        <p:sp>
          <p:nvSpPr>
            <p:cNvPr id="82" name="Freeform 82"/>
            <p:cNvSpPr/>
            <p:nvPr/>
          </p:nvSpPr>
          <p:spPr>
            <a:xfrm>
              <a:off x="11447630" y="7593719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364"/>
                    <a:pt x="0" y="76200"/>
                  </a:cubicBezTo>
                  <a:close/>
                </a:path>
              </a:pathLst>
            </a:custGeom>
            <a:solidFill>
              <a:srgbClr val="55A868"/>
            </a:solidFill>
          </p:spPr>
        </p:sp>
        <p:sp>
          <p:nvSpPr>
            <p:cNvPr id="83" name="TextBox 83"/>
            <p:cNvSpPr txBox="1"/>
            <p:nvPr/>
          </p:nvSpPr>
          <p:spPr>
            <a:xfrm>
              <a:off x="11781262" y="7555590"/>
              <a:ext cx="5086329" cy="277127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/>
              <a:r>
                <a:rPr lang="en-US" sz="1801" b="1" dirty="0">
                  <a:solidFill>
                    <a:srgbClr val="2A8C8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p704-recommendation-system.streamlit.app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534719" y="7479328"/>
              <a:ext cx="1096454" cy="323294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/>
              <a:r>
                <a:rPr lang="en-US" sz="2101" b="1" dirty="0">
                  <a:solidFill>
                    <a:srgbClr val="5D86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Live app</a:t>
              </a:r>
            </a:p>
          </p:txBody>
        </p:sp>
      </p:grpSp>
      <p:sp>
        <p:nvSpPr>
          <p:cNvPr id="86" name="Freeform 86"/>
          <p:cNvSpPr/>
          <p:nvPr/>
        </p:nvSpPr>
        <p:spPr>
          <a:xfrm>
            <a:off x="1210618" y="8232791"/>
            <a:ext cx="5077587" cy="1248880"/>
          </a:xfrm>
          <a:custGeom>
            <a:avLst/>
            <a:gdLst/>
            <a:ahLst/>
            <a:cxnLst/>
            <a:rect l="l" t="t" r="r" b="b"/>
            <a:pathLst>
              <a:path w="6770116" h="1067562">
                <a:moveTo>
                  <a:pt x="0" y="177927"/>
                </a:moveTo>
                <a:cubicBezTo>
                  <a:pt x="0" y="79629"/>
                  <a:pt x="79629" y="0"/>
                  <a:pt x="177927" y="0"/>
                </a:cubicBezTo>
                <a:lnTo>
                  <a:pt x="6592189" y="0"/>
                </a:lnTo>
                <a:cubicBezTo>
                  <a:pt x="6690487" y="0"/>
                  <a:pt x="6770116" y="79629"/>
                  <a:pt x="6770116" y="177927"/>
                </a:cubicBezTo>
                <a:lnTo>
                  <a:pt x="6770116" y="889635"/>
                </a:lnTo>
                <a:cubicBezTo>
                  <a:pt x="6770116" y="987933"/>
                  <a:pt x="6690487" y="1067562"/>
                  <a:pt x="6592189" y="1067562"/>
                </a:cubicBezTo>
                <a:lnTo>
                  <a:pt x="177927" y="1067562"/>
                </a:lnTo>
                <a:cubicBezTo>
                  <a:pt x="79629" y="1067689"/>
                  <a:pt x="0" y="987933"/>
                  <a:pt x="0" y="889635"/>
                </a:cubicBezTo>
                <a:close/>
              </a:path>
            </a:pathLst>
          </a:custGeom>
          <a:solidFill>
            <a:srgbClr val="EAF4F4"/>
          </a:solidFill>
          <a:ln w="19065" cap="sq">
            <a:solidFill>
              <a:srgbClr val="D9E2EA"/>
            </a:solidFill>
            <a:prstDash val="solid"/>
            <a:miter/>
          </a:ln>
        </p:spPr>
      </p:sp>
      <p:sp>
        <p:nvSpPr>
          <p:cNvPr id="88" name="Freeform 88"/>
          <p:cNvSpPr/>
          <p:nvPr/>
        </p:nvSpPr>
        <p:spPr>
          <a:xfrm>
            <a:off x="1410805" y="8442503"/>
            <a:ext cx="362236" cy="362236"/>
          </a:xfrm>
          <a:custGeom>
            <a:avLst/>
            <a:gdLst/>
            <a:ahLst/>
            <a:cxnLst/>
            <a:rect l="l" t="t" r="r" b="b"/>
            <a:pathLst>
              <a:path w="482981" h="482981">
                <a:moveTo>
                  <a:pt x="0" y="241427"/>
                </a:moveTo>
                <a:cubicBezTo>
                  <a:pt x="0" y="108077"/>
                  <a:pt x="108077" y="0"/>
                  <a:pt x="241427" y="0"/>
                </a:cubicBezTo>
                <a:cubicBezTo>
                  <a:pt x="374777" y="0"/>
                  <a:pt x="482981" y="108077"/>
                  <a:pt x="482981" y="241427"/>
                </a:cubicBezTo>
                <a:cubicBezTo>
                  <a:pt x="482981" y="374777"/>
                  <a:pt x="374904" y="482981"/>
                  <a:pt x="241427" y="482981"/>
                </a:cubicBezTo>
                <a:cubicBezTo>
                  <a:pt x="107950" y="482981"/>
                  <a:pt x="0" y="374904"/>
                  <a:pt x="0" y="241427"/>
                </a:cubicBezTo>
                <a:close/>
              </a:path>
            </a:pathLst>
          </a:custGeom>
          <a:solidFill>
            <a:srgbClr val="2A8C8C"/>
          </a:solidFill>
        </p:spPr>
      </p:sp>
      <p:sp>
        <p:nvSpPr>
          <p:cNvPr id="89" name="TextBox 89"/>
          <p:cNvSpPr txBox="1"/>
          <p:nvPr/>
        </p:nvSpPr>
        <p:spPr>
          <a:xfrm>
            <a:off x="1410805" y="8490176"/>
            <a:ext cx="362236" cy="162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944614" y="8366246"/>
            <a:ext cx="1120500" cy="32329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2101" b="1" dirty="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Platform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944614" y="8604552"/>
            <a:ext cx="2441374" cy="392543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2551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Streamlit Cloud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944614" y="9027339"/>
            <a:ext cx="1875513" cy="23096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1501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Hosted Streamlit app</a:t>
            </a:r>
          </a:p>
        </p:txBody>
      </p:sp>
      <p:sp>
        <p:nvSpPr>
          <p:cNvPr id="94" name="Freeform 94"/>
          <p:cNvSpPr/>
          <p:nvPr/>
        </p:nvSpPr>
        <p:spPr>
          <a:xfrm>
            <a:off x="6593272" y="8232791"/>
            <a:ext cx="5077587" cy="1248880"/>
          </a:xfrm>
          <a:custGeom>
            <a:avLst/>
            <a:gdLst/>
            <a:ahLst/>
            <a:cxnLst/>
            <a:rect l="l" t="t" r="r" b="b"/>
            <a:pathLst>
              <a:path w="6770116" h="1067562">
                <a:moveTo>
                  <a:pt x="0" y="177927"/>
                </a:moveTo>
                <a:cubicBezTo>
                  <a:pt x="0" y="79629"/>
                  <a:pt x="79629" y="0"/>
                  <a:pt x="177927" y="0"/>
                </a:cubicBezTo>
                <a:lnTo>
                  <a:pt x="6592189" y="0"/>
                </a:lnTo>
                <a:cubicBezTo>
                  <a:pt x="6690487" y="0"/>
                  <a:pt x="6770116" y="79629"/>
                  <a:pt x="6770116" y="177927"/>
                </a:cubicBezTo>
                <a:lnTo>
                  <a:pt x="6770116" y="889635"/>
                </a:lnTo>
                <a:cubicBezTo>
                  <a:pt x="6770116" y="987933"/>
                  <a:pt x="6690487" y="1067562"/>
                  <a:pt x="6592189" y="1067562"/>
                </a:cubicBezTo>
                <a:lnTo>
                  <a:pt x="177927" y="1067562"/>
                </a:lnTo>
                <a:cubicBezTo>
                  <a:pt x="79629" y="1067689"/>
                  <a:pt x="0" y="987933"/>
                  <a:pt x="0" y="889635"/>
                </a:cubicBezTo>
                <a:close/>
              </a:path>
            </a:pathLst>
          </a:custGeom>
          <a:solidFill>
            <a:srgbClr val="FFF4DF"/>
          </a:solidFill>
          <a:ln w="19065" cap="sq">
            <a:solidFill>
              <a:srgbClr val="D9E2EA"/>
            </a:solidFill>
            <a:prstDash val="solid"/>
            <a:miter/>
          </a:ln>
        </p:spPr>
      </p:sp>
      <p:sp>
        <p:nvSpPr>
          <p:cNvPr id="96" name="Freeform 96"/>
          <p:cNvSpPr/>
          <p:nvPr/>
        </p:nvSpPr>
        <p:spPr>
          <a:xfrm>
            <a:off x="6793459" y="8442503"/>
            <a:ext cx="362236" cy="362236"/>
          </a:xfrm>
          <a:custGeom>
            <a:avLst/>
            <a:gdLst/>
            <a:ahLst/>
            <a:cxnLst/>
            <a:rect l="l" t="t" r="r" b="b"/>
            <a:pathLst>
              <a:path w="482981" h="482981">
                <a:moveTo>
                  <a:pt x="0" y="241427"/>
                </a:moveTo>
                <a:cubicBezTo>
                  <a:pt x="0" y="108077"/>
                  <a:pt x="108077" y="0"/>
                  <a:pt x="241427" y="0"/>
                </a:cubicBezTo>
                <a:cubicBezTo>
                  <a:pt x="374777" y="0"/>
                  <a:pt x="482981" y="108077"/>
                  <a:pt x="482981" y="241427"/>
                </a:cubicBezTo>
                <a:cubicBezTo>
                  <a:pt x="482981" y="374777"/>
                  <a:pt x="374904" y="482981"/>
                  <a:pt x="241427" y="482981"/>
                </a:cubicBezTo>
                <a:cubicBezTo>
                  <a:pt x="107950" y="482981"/>
                  <a:pt x="0" y="374904"/>
                  <a:pt x="0" y="241427"/>
                </a:cubicBezTo>
                <a:close/>
              </a:path>
            </a:pathLst>
          </a:custGeom>
          <a:solidFill>
            <a:srgbClr val="F29F05"/>
          </a:solidFill>
        </p:spPr>
      </p:sp>
      <p:sp>
        <p:nvSpPr>
          <p:cNvPr id="97" name="TextBox 97"/>
          <p:cNvSpPr txBox="1"/>
          <p:nvPr/>
        </p:nvSpPr>
        <p:spPr>
          <a:xfrm>
            <a:off x="6793459" y="8490176"/>
            <a:ext cx="362236" cy="162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7327278" y="8366246"/>
            <a:ext cx="1080424" cy="32329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2101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Runtime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7327278" y="8604552"/>
            <a:ext cx="3154710" cy="392543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2551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Saved artifacts only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7327278" y="9027339"/>
            <a:ext cx="2494273" cy="23096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1501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No retraining during serving</a:t>
            </a:r>
          </a:p>
        </p:txBody>
      </p:sp>
      <p:sp>
        <p:nvSpPr>
          <p:cNvPr id="102" name="Freeform 102"/>
          <p:cNvSpPr/>
          <p:nvPr/>
        </p:nvSpPr>
        <p:spPr>
          <a:xfrm>
            <a:off x="11975935" y="8232791"/>
            <a:ext cx="5077587" cy="1248880"/>
          </a:xfrm>
          <a:custGeom>
            <a:avLst/>
            <a:gdLst/>
            <a:ahLst/>
            <a:cxnLst/>
            <a:rect l="l" t="t" r="r" b="b"/>
            <a:pathLst>
              <a:path w="6770116" h="1067562">
                <a:moveTo>
                  <a:pt x="0" y="177927"/>
                </a:moveTo>
                <a:cubicBezTo>
                  <a:pt x="0" y="79629"/>
                  <a:pt x="79629" y="0"/>
                  <a:pt x="177927" y="0"/>
                </a:cubicBezTo>
                <a:lnTo>
                  <a:pt x="6592189" y="0"/>
                </a:lnTo>
                <a:cubicBezTo>
                  <a:pt x="6690487" y="0"/>
                  <a:pt x="6770116" y="79629"/>
                  <a:pt x="6770116" y="177927"/>
                </a:cubicBezTo>
                <a:lnTo>
                  <a:pt x="6770116" y="889635"/>
                </a:lnTo>
                <a:cubicBezTo>
                  <a:pt x="6770116" y="987933"/>
                  <a:pt x="6690487" y="1067562"/>
                  <a:pt x="6592189" y="1067562"/>
                </a:cubicBezTo>
                <a:lnTo>
                  <a:pt x="177927" y="1067562"/>
                </a:lnTo>
                <a:cubicBezTo>
                  <a:pt x="79629" y="1067689"/>
                  <a:pt x="0" y="987933"/>
                  <a:pt x="0" y="889635"/>
                </a:cubicBezTo>
                <a:close/>
              </a:path>
            </a:pathLst>
          </a:custGeom>
          <a:solidFill>
            <a:srgbClr val="F3EEFB"/>
          </a:solidFill>
          <a:ln w="19065" cap="sq">
            <a:solidFill>
              <a:srgbClr val="D9E2EA"/>
            </a:solidFill>
            <a:prstDash val="solid"/>
            <a:miter/>
          </a:ln>
        </p:spPr>
      </p:sp>
      <p:sp>
        <p:nvSpPr>
          <p:cNvPr id="104" name="Freeform 104"/>
          <p:cNvSpPr/>
          <p:nvPr/>
        </p:nvSpPr>
        <p:spPr>
          <a:xfrm>
            <a:off x="12176112" y="8442503"/>
            <a:ext cx="362236" cy="362236"/>
          </a:xfrm>
          <a:custGeom>
            <a:avLst/>
            <a:gdLst/>
            <a:ahLst/>
            <a:cxnLst/>
            <a:rect l="l" t="t" r="r" b="b"/>
            <a:pathLst>
              <a:path w="482981" h="482981">
                <a:moveTo>
                  <a:pt x="0" y="241427"/>
                </a:moveTo>
                <a:cubicBezTo>
                  <a:pt x="0" y="108077"/>
                  <a:pt x="108077" y="0"/>
                  <a:pt x="241427" y="0"/>
                </a:cubicBezTo>
                <a:cubicBezTo>
                  <a:pt x="374777" y="0"/>
                  <a:pt x="482981" y="108077"/>
                  <a:pt x="482981" y="241427"/>
                </a:cubicBezTo>
                <a:cubicBezTo>
                  <a:pt x="482981" y="374777"/>
                  <a:pt x="374904" y="482981"/>
                  <a:pt x="241427" y="482981"/>
                </a:cubicBezTo>
                <a:cubicBezTo>
                  <a:pt x="107950" y="482981"/>
                  <a:pt x="0" y="374904"/>
                  <a:pt x="0" y="241427"/>
                </a:cubicBezTo>
                <a:close/>
              </a:path>
            </a:pathLst>
          </a:custGeom>
          <a:solidFill>
            <a:srgbClr val="7E52E2"/>
          </a:solidFill>
        </p:spPr>
      </p:sp>
      <p:sp>
        <p:nvSpPr>
          <p:cNvPr id="105" name="TextBox 105"/>
          <p:cNvSpPr txBox="1"/>
          <p:nvPr/>
        </p:nvSpPr>
        <p:spPr>
          <a:xfrm>
            <a:off x="12176112" y="8490176"/>
            <a:ext cx="362236" cy="162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12709931" y="8366246"/>
            <a:ext cx="1200650" cy="32329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2101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Raw data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2709931" y="8604552"/>
            <a:ext cx="2298706" cy="392543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2551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No ratings.csv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2709931" y="9027339"/>
            <a:ext cx="3236463" cy="23096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1501" dirty="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Compact artifact-based deployment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210618" y="9332691"/>
            <a:ext cx="3717655" cy="42726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lIns="72000" tIns="72000" rIns="36000" bIns="36000" rtlCol="0" anchor="t">
            <a:spAutoFit/>
          </a:bodyPr>
          <a:lstStyle>
            <a:defPPr>
              <a:defRPr lang="en-US"/>
            </a:defPPr>
            <a:lvl1pPr>
              <a:defRPr sz="1801">
                <a:latin typeface="Inter"/>
                <a:ea typeface="Inter"/>
                <a:cs typeface="Inter"/>
              </a:defRPr>
            </a:lvl1pPr>
          </a:lstStyle>
          <a:p>
            <a:r>
              <a:rPr lang="en-US" dirty="0">
                <a:sym typeface="Inter"/>
              </a:rPr>
              <a:t>Training-only historical statistics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6629400" y="9332691"/>
            <a:ext cx="4099727" cy="42726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lIns="72000" tIns="72000" rIns="36000" bIns="36000" rtlCol="0" anchor="t">
            <a:spAutoFit/>
          </a:bodyPr>
          <a:lstStyle/>
          <a:p>
            <a:pPr algn="l"/>
            <a:r>
              <a:rPr lang="en-US" sz="1801" dirty="0">
                <a:latin typeface="Inter"/>
                <a:ea typeface="Inter"/>
                <a:cs typeface="Inter"/>
                <a:sym typeface="Inter"/>
              </a:rPr>
              <a:t>Product IDs only, no names available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A8351676-7D47-EDDF-821A-2904D867BB28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5064109" y="4509659"/>
            <a:ext cx="547773" cy="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4CCC3C97-0F89-18B1-70B2-C8E4E12C88CF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10188263" y="4509612"/>
            <a:ext cx="619145" cy="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0F19AB49-ECF8-B9CB-C2B5-3EA4E544354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329688" t="-329688" r="-329688" b="-329688"/>
          <a:stretch>
            <a:fillRect/>
          </a:stretch>
        </p:blipFill>
        <p:spPr>
          <a:xfrm>
            <a:off x="15078456" y="7077456"/>
            <a:ext cx="3086100" cy="30861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684"/>
    </mc:Choice>
    <mc:Fallback xmlns="">
      <p:transition spd="slow" advTm="406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793575" y="266700"/>
            <a:ext cx="1081945" cy="128682"/>
          </a:xfrm>
          <a:custGeom>
            <a:avLst/>
            <a:gdLst/>
            <a:ahLst/>
            <a:cxnLst/>
            <a:rect l="l" t="t" r="r" b="b"/>
            <a:pathLst>
              <a:path w="1442593" h="171577">
                <a:moveTo>
                  <a:pt x="0" y="28575"/>
                </a:moveTo>
                <a:cubicBezTo>
                  <a:pt x="0" y="12827"/>
                  <a:pt x="12827" y="0"/>
                  <a:pt x="28575" y="0"/>
                </a:cubicBezTo>
                <a:lnTo>
                  <a:pt x="1414018" y="0"/>
                </a:lnTo>
                <a:cubicBezTo>
                  <a:pt x="1429766" y="0"/>
                  <a:pt x="1442593" y="12827"/>
                  <a:pt x="1442593" y="28575"/>
                </a:cubicBezTo>
                <a:lnTo>
                  <a:pt x="1442593" y="143002"/>
                </a:lnTo>
                <a:cubicBezTo>
                  <a:pt x="1442593" y="158750"/>
                  <a:pt x="1429766" y="171577"/>
                  <a:pt x="1414018" y="171577"/>
                </a:cubicBezTo>
                <a:lnTo>
                  <a:pt x="28575" y="171577"/>
                </a:lnTo>
                <a:cubicBezTo>
                  <a:pt x="12827" y="171577"/>
                  <a:pt x="0" y="158750"/>
                  <a:pt x="0" y="143002"/>
                </a:cubicBezTo>
                <a:close/>
              </a:path>
            </a:pathLst>
          </a:custGeom>
          <a:solidFill>
            <a:srgbClr val="2A8C8C"/>
          </a:solidFill>
          <a:ln w="14299" cap="sq">
            <a:solidFill>
              <a:srgbClr val="2A8C8C"/>
            </a:solidFill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800729" y="540077"/>
            <a:ext cx="10135788" cy="831638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5404" b="1" dirty="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Live Recommendation System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0729" y="1341420"/>
            <a:ext cx="11830162" cy="36946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2401" dirty="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Saved clustering artifacts power three serving paths in the deployed </a:t>
            </a:r>
            <a:r>
              <a:rPr lang="en-US" sz="2401" dirty="0" err="1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Streamlit</a:t>
            </a:r>
            <a:r>
              <a:rPr lang="en-US" sz="2401" dirty="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 app.</a:t>
            </a:r>
          </a:p>
        </p:txBody>
      </p:sp>
      <p:sp>
        <p:nvSpPr>
          <p:cNvPr id="7" name="Freeform 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88813" y="2371192"/>
            <a:ext cx="4275296" cy="4599431"/>
          </a:xfrm>
          <a:prstGeom prst="roundRect">
            <a:avLst>
              <a:gd name="adj" fmla="val 5591"/>
            </a:avLst>
          </a:prstGeom>
          <a:solidFill>
            <a:srgbClr val="FFFFFF"/>
          </a:solidFill>
          <a:ln w="23831" cap="sq">
            <a:solidFill>
              <a:srgbClr val="D9E2EA"/>
            </a:solidFill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5611882" y="2781890"/>
            <a:ext cx="4576381" cy="3455575"/>
          </a:xfrm>
          <a:prstGeom prst="roundRect">
            <a:avLst>
              <a:gd name="adj" fmla="val 6271"/>
            </a:avLst>
          </a:prstGeom>
          <a:solidFill>
            <a:srgbClr val="EDF4FA"/>
          </a:solidFill>
          <a:ln w="23831" cap="sq">
            <a:solidFill>
              <a:srgbClr val="D9E2EA"/>
            </a:solidFill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10807408" y="2019300"/>
            <a:ext cx="6706077" cy="4980623"/>
          </a:xfrm>
          <a:prstGeom prst="roundRect">
            <a:avLst>
              <a:gd name="adj" fmla="val 5520"/>
            </a:avLst>
          </a:prstGeom>
          <a:solidFill>
            <a:srgbClr val="FFFFFF"/>
          </a:solidFill>
          <a:ln w="23831" cap="sq">
            <a:solidFill>
              <a:srgbClr val="D9E2EA"/>
            </a:solidFill>
            <a:prstDash val="solid"/>
            <a:miter/>
          </a:ln>
        </p:spPr>
      </p:sp>
      <p:sp>
        <p:nvSpPr>
          <p:cNvPr id="12" name="TextBox 12"/>
          <p:cNvSpPr txBox="1"/>
          <p:nvPr/>
        </p:nvSpPr>
        <p:spPr>
          <a:xfrm>
            <a:off x="1182024" y="2612698"/>
            <a:ext cx="2669086" cy="343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Saved artifacts</a:t>
            </a:r>
          </a:p>
        </p:txBody>
      </p:sp>
      <p:sp>
        <p:nvSpPr>
          <p:cNvPr id="14" name="Freeform 14"/>
          <p:cNvSpPr/>
          <p:nvPr/>
        </p:nvSpPr>
        <p:spPr>
          <a:xfrm>
            <a:off x="1142999" y="3229651"/>
            <a:ext cx="3600000" cy="720000"/>
          </a:xfrm>
          <a:custGeom>
            <a:avLst/>
            <a:gdLst/>
            <a:ahLst/>
            <a:cxnLst/>
            <a:rect l="l" t="t" r="r" b="b"/>
            <a:pathLst>
              <a:path w="4672203" h="859282">
                <a:moveTo>
                  <a:pt x="0" y="143256"/>
                </a:moveTo>
                <a:cubicBezTo>
                  <a:pt x="0" y="64135"/>
                  <a:pt x="64135" y="0"/>
                  <a:pt x="143256" y="0"/>
                </a:cubicBezTo>
                <a:lnTo>
                  <a:pt x="4528947" y="0"/>
                </a:lnTo>
                <a:cubicBezTo>
                  <a:pt x="4608068" y="0"/>
                  <a:pt x="4672203" y="64135"/>
                  <a:pt x="4672203" y="143256"/>
                </a:cubicBezTo>
                <a:lnTo>
                  <a:pt x="4672203" y="716026"/>
                </a:lnTo>
                <a:cubicBezTo>
                  <a:pt x="4672203" y="795147"/>
                  <a:pt x="4608068" y="859282"/>
                  <a:pt x="4528947" y="859282"/>
                </a:cubicBezTo>
                <a:lnTo>
                  <a:pt x="143256" y="859282"/>
                </a:lnTo>
                <a:cubicBezTo>
                  <a:pt x="64135" y="859155"/>
                  <a:pt x="0" y="795020"/>
                  <a:pt x="0" y="716026"/>
                </a:cubicBezTo>
                <a:close/>
              </a:path>
            </a:pathLst>
          </a:custGeom>
          <a:solidFill>
            <a:srgbClr val="EAF4F4"/>
          </a:solidFill>
          <a:ln w="15252" cap="sq">
            <a:solidFill>
              <a:srgbClr val="D9E2EA"/>
            </a:solidFill>
            <a:prstDash val="solid"/>
            <a:miter/>
          </a:ln>
        </p:spPr>
      </p:sp>
      <p:sp>
        <p:nvSpPr>
          <p:cNvPr id="15" name="TextBox 15"/>
          <p:cNvSpPr txBox="1"/>
          <p:nvPr/>
        </p:nvSpPr>
        <p:spPr>
          <a:xfrm>
            <a:off x="1219200" y="3244158"/>
            <a:ext cx="3332664" cy="32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101" b="1" dirty="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Recommendation bundle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9200" y="3672524"/>
            <a:ext cx="3717655" cy="277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1801" dirty="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cluster rankings &amp; global ranking</a:t>
            </a:r>
          </a:p>
        </p:txBody>
      </p:sp>
      <p:sp>
        <p:nvSpPr>
          <p:cNvPr id="18" name="Freeform 18"/>
          <p:cNvSpPr/>
          <p:nvPr/>
        </p:nvSpPr>
        <p:spPr>
          <a:xfrm>
            <a:off x="1142999" y="4107251"/>
            <a:ext cx="3600000" cy="720000"/>
          </a:xfrm>
          <a:custGeom>
            <a:avLst/>
            <a:gdLst/>
            <a:ahLst/>
            <a:cxnLst/>
            <a:rect l="l" t="t" r="r" b="b"/>
            <a:pathLst>
              <a:path w="4672203" h="859282">
                <a:moveTo>
                  <a:pt x="0" y="143256"/>
                </a:moveTo>
                <a:cubicBezTo>
                  <a:pt x="0" y="64135"/>
                  <a:pt x="64135" y="0"/>
                  <a:pt x="143256" y="0"/>
                </a:cubicBezTo>
                <a:lnTo>
                  <a:pt x="4528947" y="0"/>
                </a:lnTo>
                <a:cubicBezTo>
                  <a:pt x="4608068" y="0"/>
                  <a:pt x="4672203" y="64135"/>
                  <a:pt x="4672203" y="143256"/>
                </a:cubicBezTo>
                <a:lnTo>
                  <a:pt x="4672203" y="716026"/>
                </a:lnTo>
                <a:cubicBezTo>
                  <a:pt x="4672203" y="795147"/>
                  <a:pt x="4608068" y="859282"/>
                  <a:pt x="4528947" y="859282"/>
                </a:cubicBezTo>
                <a:lnTo>
                  <a:pt x="143256" y="859282"/>
                </a:lnTo>
                <a:cubicBezTo>
                  <a:pt x="64135" y="859155"/>
                  <a:pt x="0" y="795020"/>
                  <a:pt x="0" y="716026"/>
                </a:cubicBezTo>
                <a:close/>
              </a:path>
            </a:pathLst>
          </a:custGeom>
          <a:solidFill>
            <a:srgbClr val="EAF4F4"/>
          </a:solidFill>
          <a:ln w="15252" cap="sq">
            <a:solidFill>
              <a:srgbClr val="D9E2EA"/>
            </a:solidFill>
            <a:prstDash val="solid"/>
            <a:miter/>
          </a:ln>
        </p:spPr>
      </p:sp>
      <p:sp>
        <p:nvSpPr>
          <p:cNvPr id="19" name="TextBox 19"/>
          <p:cNvSpPr txBox="1"/>
          <p:nvPr/>
        </p:nvSpPr>
        <p:spPr>
          <a:xfrm>
            <a:off x="1219200" y="4121167"/>
            <a:ext cx="2859729" cy="323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101" b="1" dirty="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Seen-item matrix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19200" y="4550134"/>
            <a:ext cx="2859729" cy="277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1801" dirty="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excludes rated products</a:t>
            </a:r>
          </a:p>
        </p:txBody>
      </p:sp>
      <p:sp>
        <p:nvSpPr>
          <p:cNvPr id="22" name="Freeform 22"/>
          <p:cNvSpPr/>
          <p:nvPr/>
        </p:nvSpPr>
        <p:spPr>
          <a:xfrm>
            <a:off x="1142999" y="4984851"/>
            <a:ext cx="3600000" cy="720000"/>
          </a:xfrm>
          <a:custGeom>
            <a:avLst/>
            <a:gdLst/>
            <a:ahLst/>
            <a:cxnLst/>
            <a:rect l="l" t="t" r="r" b="b"/>
            <a:pathLst>
              <a:path w="4672203" h="859282">
                <a:moveTo>
                  <a:pt x="0" y="143256"/>
                </a:moveTo>
                <a:cubicBezTo>
                  <a:pt x="0" y="64135"/>
                  <a:pt x="64135" y="0"/>
                  <a:pt x="143256" y="0"/>
                </a:cubicBezTo>
                <a:lnTo>
                  <a:pt x="4528947" y="0"/>
                </a:lnTo>
                <a:cubicBezTo>
                  <a:pt x="4608068" y="0"/>
                  <a:pt x="4672203" y="64135"/>
                  <a:pt x="4672203" y="143256"/>
                </a:cubicBezTo>
                <a:lnTo>
                  <a:pt x="4672203" y="716026"/>
                </a:lnTo>
                <a:cubicBezTo>
                  <a:pt x="4672203" y="795147"/>
                  <a:pt x="4608068" y="859282"/>
                  <a:pt x="4528947" y="859282"/>
                </a:cubicBezTo>
                <a:lnTo>
                  <a:pt x="143256" y="859282"/>
                </a:lnTo>
                <a:cubicBezTo>
                  <a:pt x="64135" y="859155"/>
                  <a:pt x="0" y="795020"/>
                  <a:pt x="0" y="716026"/>
                </a:cubicBezTo>
                <a:close/>
              </a:path>
            </a:pathLst>
          </a:custGeom>
          <a:solidFill>
            <a:srgbClr val="EAF4F4"/>
          </a:solidFill>
          <a:ln w="15252" cap="sq">
            <a:solidFill>
              <a:srgbClr val="D9E2EA"/>
            </a:solidFill>
            <a:prstDash val="solid"/>
            <a:miter/>
          </a:ln>
        </p:spPr>
      </p:sp>
      <p:sp>
        <p:nvSpPr>
          <p:cNvPr id="23" name="TextBox 23"/>
          <p:cNvSpPr txBox="1"/>
          <p:nvPr/>
        </p:nvSpPr>
        <p:spPr>
          <a:xfrm>
            <a:off x="1219200" y="4998167"/>
            <a:ext cx="2859729" cy="323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101" b="1" dirty="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Product metadata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19200" y="5427724"/>
            <a:ext cx="2859729" cy="277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1801" dirty="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training-only statistics</a:t>
            </a:r>
          </a:p>
        </p:txBody>
      </p:sp>
      <p:sp>
        <p:nvSpPr>
          <p:cNvPr id="26" name="Freeform 26"/>
          <p:cNvSpPr/>
          <p:nvPr/>
        </p:nvSpPr>
        <p:spPr>
          <a:xfrm>
            <a:off x="1142999" y="5862451"/>
            <a:ext cx="3600000" cy="720000"/>
          </a:xfrm>
          <a:custGeom>
            <a:avLst/>
            <a:gdLst/>
            <a:ahLst/>
            <a:cxnLst/>
            <a:rect l="l" t="t" r="r" b="b"/>
            <a:pathLst>
              <a:path w="4672203" h="859282">
                <a:moveTo>
                  <a:pt x="0" y="143256"/>
                </a:moveTo>
                <a:cubicBezTo>
                  <a:pt x="0" y="64135"/>
                  <a:pt x="64135" y="0"/>
                  <a:pt x="143256" y="0"/>
                </a:cubicBezTo>
                <a:lnTo>
                  <a:pt x="4528947" y="0"/>
                </a:lnTo>
                <a:cubicBezTo>
                  <a:pt x="4608068" y="0"/>
                  <a:pt x="4672203" y="64135"/>
                  <a:pt x="4672203" y="143256"/>
                </a:cubicBezTo>
                <a:lnTo>
                  <a:pt x="4672203" y="716026"/>
                </a:lnTo>
                <a:cubicBezTo>
                  <a:pt x="4672203" y="795147"/>
                  <a:pt x="4608068" y="859282"/>
                  <a:pt x="4528947" y="859282"/>
                </a:cubicBezTo>
                <a:lnTo>
                  <a:pt x="143256" y="859282"/>
                </a:lnTo>
                <a:cubicBezTo>
                  <a:pt x="64135" y="859155"/>
                  <a:pt x="0" y="795020"/>
                  <a:pt x="0" y="716026"/>
                </a:cubicBezTo>
                <a:close/>
              </a:path>
            </a:pathLst>
          </a:custGeom>
          <a:solidFill>
            <a:srgbClr val="EAF4F4"/>
          </a:solidFill>
          <a:ln w="15252" cap="sq">
            <a:solidFill>
              <a:srgbClr val="D9E2EA"/>
            </a:solidFill>
            <a:prstDash val="solid"/>
            <a:miter/>
          </a:ln>
        </p:spPr>
      </p:sp>
      <p:sp>
        <p:nvSpPr>
          <p:cNvPr id="27" name="TextBox 27"/>
          <p:cNvSpPr txBox="1"/>
          <p:nvPr/>
        </p:nvSpPr>
        <p:spPr>
          <a:xfrm>
            <a:off x="1219200" y="5875167"/>
            <a:ext cx="2859729" cy="323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101" b="1" dirty="0" err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Behavioural</a:t>
            </a:r>
            <a:r>
              <a:rPr lang="en-US" sz="2101" b="1" dirty="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 pipeline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19200" y="6305324"/>
            <a:ext cx="3332664" cy="277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1801" dirty="0" err="1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StandardScaler</a:t>
            </a:r>
            <a:r>
              <a:rPr lang="en-US" sz="1801" dirty="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 + </a:t>
            </a:r>
            <a:r>
              <a:rPr lang="en-US" sz="1801" dirty="0" err="1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KMeans</a:t>
            </a:r>
            <a:r>
              <a:rPr lang="en-US" sz="1801" dirty="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, k=4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943600" y="3009019"/>
            <a:ext cx="3988271" cy="438903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2852" b="1" dirty="0" err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Streamlit</a:t>
            </a:r>
            <a:r>
              <a:rPr lang="en-US" sz="2852" b="1" dirty="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 serving layer</a:t>
            </a:r>
          </a:p>
        </p:txBody>
      </p:sp>
      <p:sp>
        <p:nvSpPr>
          <p:cNvPr id="31" name="Freeform 31"/>
          <p:cNvSpPr/>
          <p:nvPr/>
        </p:nvSpPr>
        <p:spPr>
          <a:xfrm>
            <a:off x="6013083" y="3849528"/>
            <a:ext cx="3600000" cy="792000"/>
          </a:xfrm>
          <a:custGeom>
            <a:avLst/>
            <a:gdLst/>
            <a:ahLst/>
            <a:cxnLst/>
            <a:rect l="l" t="t" r="r" b="b"/>
            <a:pathLst>
              <a:path w="3844671" h="997712">
                <a:moveTo>
                  <a:pt x="0" y="166243"/>
                </a:moveTo>
                <a:cubicBezTo>
                  <a:pt x="0" y="74422"/>
                  <a:pt x="74422" y="0"/>
                  <a:pt x="166243" y="0"/>
                </a:cubicBezTo>
                <a:lnTo>
                  <a:pt x="3678428" y="0"/>
                </a:lnTo>
                <a:cubicBezTo>
                  <a:pt x="3770249" y="0"/>
                  <a:pt x="3844671" y="74422"/>
                  <a:pt x="3844671" y="166243"/>
                </a:cubicBezTo>
                <a:lnTo>
                  <a:pt x="3844671" y="831469"/>
                </a:lnTo>
                <a:cubicBezTo>
                  <a:pt x="3844671" y="923290"/>
                  <a:pt x="3770249" y="997712"/>
                  <a:pt x="3678428" y="997712"/>
                </a:cubicBezTo>
                <a:lnTo>
                  <a:pt x="166243" y="997712"/>
                </a:lnTo>
                <a:cubicBezTo>
                  <a:pt x="74422" y="997712"/>
                  <a:pt x="0" y="923290"/>
                  <a:pt x="0" y="831469"/>
                </a:cubicBezTo>
                <a:close/>
              </a:path>
            </a:pathLst>
          </a:custGeom>
          <a:solidFill>
            <a:srgbClr val="FFFFFF"/>
          </a:solidFill>
          <a:ln w="23831" cap="sq">
            <a:solidFill>
              <a:srgbClr val="D9E2EA"/>
            </a:solidFill>
            <a:prstDash val="solid"/>
            <a:miter/>
          </a:ln>
        </p:spPr>
      </p:sp>
      <p:sp>
        <p:nvSpPr>
          <p:cNvPr id="32" name="TextBox 32"/>
          <p:cNvSpPr txBox="1"/>
          <p:nvPr/>
        </p:nvSpPr>
        <p:spPr>
          <a:xfrm>
            <a:off x="6172200" y="3915451"/>
            <a:ext cx="2774799" cy="32329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2101" b="1" dirty="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No runtime retraining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172200" y="4318997"/>
            <a:ext cx="2701060" cy="277127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1801" dirty="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Artifacts are loaded once</a:t>
            </a:r>
          </a:p>
        </p:txBody>
      </p:sp>
      <p:sp>
        <p:nvSpPr>
          <p:cNvPr id="35" name="Freeform 35"/>
          <p:cNvSpPr/>
          <p:nvPr/>
        </p:nvSpPr>
        <p:spPr>
          <a:xfrm>
            <a:off x="6013084" y="4879029"/>
            <a:ext cx="3600000" cy="792000"/>
          </a:xfrm>
          <a:custGeom>
            <a:avLst/>
            <a:gdLst/>
            <a:ahLst/>
            <a:cxnLst/>
            <a:rect l="l" t="t" r="r" b="b"/>
            <a:pathLst>
              <a:path w="3844671" h="997712">
                <a:moveTo>
                  <a:pt x="0" y="166243"/>
                </a:moveTo>
                <a:cubicBezTo>
                  <a:pt x="0" y="74422"/>
                  <a:pt x="74422" y="0"/>
                  <a:pt x="166243" y="0"/>
                </a:cubicBezTo>
                <a:lnTo>
                  <a:pt x="3678428" y="0"/>
                </a:lnTo>
                <a:cubicBezTo>
                  <a:pt x="3770249" y="0"/>
                  <a:pt x="3844671" y="74422"/>
                  <a:pt x="3844671" y="166243"/>
                </a:cubicBezTo>
                <a:lnTo>
                  <a:pt x="3844671" y="831469"/>
                </a:lnTo>
                <a:cubicBezTo>
                  <a:pt x="3844671" y="923290"/>
                  <a:pt x="3770249" y="997712"/>
                  <a:pt x="3678428" y="997712"/>
                </a:cubicBezTo>
                <a:lnTo>
                  <a:pt x="166243" y="997712"/>
                </a:lnTo>
                <a:cubicBezTo>
                  <a:pt x="74422" y="997712"/>
                  <a:pt x="0" y="923290"/>
                  <a:pt x="0" y="831469"/>
                </a:cubicBezTo>
                <a:close/>
              </a:path>
            </a:pathLst>
          </a:custGeom>
          <a:solidFill>
            <a:srgbClr val="FFFFFF"/>
          </a:solidFill>
          <a:ln w="23831" cap="sq">
            <a:solidFill>
              <a:srgbClr val="D9E2EA"/>
            </a:solidFill>
            <a:prstDash val="solid"/>
            <a:miter/>
          </a:ln>
        </p:spPr>
      </p:sp>
      <p:sp>
        <p:nvSpPr>
          <p:cNvPr id="36" name="TextBox 36"/>
          <p:cNvSpPr txBox="1"/>
          <p:nvPr/>
        </p:nvSpPr>
        <p:spPr>
          <a:xfrm>
            <a:off x="6172200" y="4982251"/>
            <a:ext cx="2845331" cy="32329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2101" b="1" dirty="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No ratings.csv loaded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172200" y="5348506"/>
            <a:ext cx="3297378" cy="277127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1801" dirty="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Compact deployment package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229223" y="2402986"/>
            <a:ext cx="2447786" cy="438903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2852" b="1" dirty="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Serving paths</a:t>
            </a:r>
          </a:p>
        </p:txBody>
      </p:sp>
      <p:sp>
        <p:nvSpPr>
          <p:cNvPr id="46" name="Freeform 46"/>
          <p:cNvSpPr/>
          <p:nvPr/>
        </p:nvSpPr>
        <p:spPr>
          <a:xfrm>
            <a:off x="11217307" y="2991612"/>
            <a:ext cx="5895785" cy="1091470"/>
          </a:xfrm>
          <a:custGeom>
            <a:avLst/>
            <a:gdLst/>
            <a:ahLst/>
            <a:cxnLst/>
            <a:rect l="l" t="t" r="r" b="b"/>
            <a:pathLst>
              <a:path w="7861046" h="1455293">
                <a:moveTo>
                  <a:pt x="0" y="242570"/>
                </a:moveTo>
                <a:cubicBezTo>
                  <a:pt x="0" y="108585"/>
                  <a:pt x="108585" y="0"/>
                  <a:pt x="242570" y="0"/>
                </a:cubicBezTo>
                <a:lnTo>
                  <a:pt x="7618476" y="0"/>
                </a:lnTo>
                <a:cubicBezTo>
                  <a:pt x="7752461" y="0"/>
                  <a:pt x="7861046" y="108585"/>
                  <a:pt x="7861046" y="242570"/>
                </a:cubicBezTo>
                <a:lnTo>
                  <a:pt x="7861046" y="1212723"/>
                </a:lnTo>
                <a:cubicBezTo>
                  <a:pt x="7861046" y="1346708"/>
                  <a:pt x="7752461" y="1455293"/>
                  <a:pt x="7618476" y="1455293"/>
                </a:cubicBezTo>
                <a:lnTo>
                  <a:pt x="242570" y="1455293"/>
                </a:lnTo>
                <a:cubicBezTo>
                  <a:pt x="108585" y="1455293"/>
                  <a:pt x="0" y="1346708"/>
                  <a:pt x="0" y="1212723"/>
                </a:cubicBezTo>
                <a:close/>
              </a:path>
            </a:pathLst>
          </a:custGeom>
          <a:solidFill>
            <a:srgbClr val="EAF4F4"/>
          </a:solidFill>
          <a:ln w="23831" cap="sq">
            <a:solidFill>
              <a:srgbClr val="D9E2EA"/>
            </a:solidFill>
            <a:prstDash val="solid"/>
            <a:miter/>
          </a:ln>
        </p:spPr>
      </p:sp>
      <p:sp>
        <p:nvSpPr>
          <p:cNvPr id="48" name="Freeform 48"/>
          <p:cNvSpPr/>
          <p:nvPr/>
        </p:nvSpPr>
        <p:spPr>
          <a:xfrm>
            <a:off x="11222069" y="2996374"/>
            <a:ext cx="147829" cy="1081945"/>
          </a:xfrm>
          <a:custGeom>
            <a:avLst/>
            <a:gdLst/>
            <a:ahLst/>
            <a:cxnLst/>
            <a:rect l="l" t="t" r="r" b="b"/>
            <a:pathLst>
              <a:path w="197104" h="1442593">
                <a:moveTo>
                  <a:pt x="0" y="32893"/>
                </a:moveTo>
                <a:cubicBezTo>
                  <a:pt x="0" y="14732"/>
                  <a:pt x="14732" y="0"/>
                  <a:pt x="32893" y="0"/>
                </a:cubicBezTo>
                <a:lnTo>
                  <a:pt x="164211" y="0"/>
                </a:lnTo>
                <a:cubicBezTo>
                  <a:pt x="182372" y="0"/>
                  <a:pt x="197104" y="14732"/>
                  <a:pt x="197104" y="32893"/>
                </a:cubicBezTo>
                <a:lnTo>
                  <a:pt x="197104" y="1409700"/>
                </a:lnTo>
                <a:cubicBezTo>
                  <a:pt x="197104" y="1427861"/>
                  <a:pt x="182372" y="1442593"/>
                  <a:pt x="164211" y="1442593"/>
                </a:cubicBezTo>
                <a:lnTo>
                  <a:pt x="32893" y="1442593"/>
                </a:lnTo>
                <a:cubicBezTo>
                  <a:pt x="14732" y="1442593"/>
                  <a:pt x="0" y="1427861"/>
                  <a:pt x="0" y="1409700"/>
                </a:cubicBezTo>
                <a:close/>
              </a:path>
            </a:pathLst>
          </a:custGeom>
          <a:solidFill>
            <a:srgbClr val="2A8C8C"/>
          </a:solidFill>
          <a:ln w="14299" cap="sq">
            <a:solidFill>
              <a:srgbClr val="2A8C8C"/>
            </a:solidFill>
            <a:prstDash val="solid"/>
            <a:miter/>
          </a:ln>
        </p:spPr>
      </p:sp>
      <p:sp>
        <p:nvSpPr>
          <p:cNvPr id="49" name="TextBox 49"/>
          <p:cNvSpPr txBox="1"/>
          <p:nvPr/>
        </p:nvSpPr>
        <p:spPr>
          <a:xfrm>
            <a:off x="11553321" y="3129877"/>
            <a:ext cx="3138686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800" dirty="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Existing modelled user</a:t>
            </a:r>
          </a:p>
        </p:txBody>
      </p:sp>
      <p:sp>
        <p:nvSpPr>
          <p:cNvPr id="55" name="Freeform 55"/>
          <p:cNvSpPr/>
          <p:nvPr/>
        </p:nvSpPr>
        <p:spPr>
          <a:xfrm>
            <a:off x="11217307" y="4268952"/>
            <a:ext cx="5895785" cy="1091470"/>
          </a:xfrm>
          <a:custGeom>
            <a:avLst/>
            <a:gdLst/>
            <a:ahLst/>
            <a:cxnLst/>
            <a:rect l="l" t="t" r="r" b="b"/>
            <a:pathLst>
              <a:path w="7861046" h="1455293">
                <a:moveTo>
                  <a:pt x="0" y="242570"/>
                </a:moveTo>
                <a:cubicBezTo>
                  <a:pt x="0" y="108585"/>
                  <a:pt x="108585" y="0"/>
                  <a:pt x="242570" y="0"/>
                </a:cubicBezTo>
                <a:lnTo>
                  <a:pt x="7618476" y="0"/>
                </a:lnTo>
                <a:cubicBezTo>
                  <a:pt x="7752461" y="0"/>
                  <a:pt x="7861046" y="108585"/>
                  <a:pt x="7861046" y="242570"/>
                </a:cubicBezTo>
                <a:lnTo>
                  <a:pt x="7861046" y="1212723"/>
                </a:lnTo>
                <a:cubicBezTo>
                  <a:pt x="7861046" y="1346708"/>
                  <a:pt x="7752461" y="1455293"/>
                  <a:pt x="7618476" y="1455293"/>
                </a:cubicBezTo>
                <a:lnTo>
                  <a:pt x="242570" y="1455293"/>
                </a:lnTo>
                <a:cubicBezTo>
                  <a:pt x="108585" y="1455293"/>
                  <a:pt x="0" y="1346708"/>
                  <a:pt x="0" y="1212723"/>
                </a:cubicBezTo>
                <a:close/>
              </a:path>
            </a:pathLst>
          </a:custGeom>
          <a:solidFill>
            <a:srgbClr val="FFF4DF"/>
          </a:solidFill>
          <a:ln w="23831" cap="sq">
            <a:solidFill>
              <a:srgbClr val="D9E2EA"/>
            </a:solidFill>
            <a:prstDash val="solid"/>
            <a:miter/>
          </a:ln>
        </p:spPr>
      </p:sp>
      <p:sp>
        <p:nvSpPr>
          <p:cNvPr id="57" name="Freeform 57"/>
          <p:cNvSpPr/>
          <p:nvPr/>
        </p:nvSpPr>
        <p:spPr>
          <a:xfrm>
            <a:off x="11222069" y="4273724"/>
            <a:ext cx="147829" cy="1081945"/>
          </a:xfrm>
          <a:custGeom>
            <a:avLst/>
            <a:gdLst/>
            <a:ahLst/>
            <a:cxnLst/>
            <a:rect l="l" t="t" r="r" b="b"/>
            <a:pathLst>
              <a:path w="197104" h="1442593">
                <a:moveTo>
                  <a:pt x="0" y="32893"/>
                </a:moveTo>
                <a:cubicBezTo>
                  <a:pt x="0" y="14732"/>
                  <a:pt x="14732" y="0"/>
                  <a:pt x="32893" y="0"/>
                </a:cubicBezTo>
                <a:lnTo>
                  <a:pt x="164211" y="0"/>
                </a:lnTo>
                <a:cubicBezTo>
                  <a:pt x="182372" y="0"/>
                  <a:pt x="197104" y="14732"/>
                  <a:pt x="197104" y="32893"/>
                </a:cubicBezTo>
                <a:lnTo>
                  <a:pt x="197104" y="1409700"/>
                </a:lnTo>
                <a:cubicBezTo>
                  <a:pt x="197104" y="1427861"/>
                  <a:pt x="182372" y="1442593"/>
                  <a:pt x="164211" y="1442593"/>
                </a:cubicBezTo>
                <a:lnTo>
                  <a:pt x="32893" y="1442593"/>
                </a:lnTo>
                <a:cubicBezTo>
                  <a:pt x="14732" y="1442593"/>
                  <a:pt x="0" y="1427861"/>
                  <a:pt x="0" y="1409700"/>
                </a:cubicBezTo>
                <a:close/>
              </a:path>
            </a:pathLst>
          </a:custGeom>
          <a:solidFill>
            <a:srgbClr val="F29F05"/>
          </a:solidFill>
          <a:ln w="14299" cap="sq">
            <a:solidFill>
              <a:srgbClr val="F29F05"/>
            </a:solidFill>
            <a:prstDash val="solid"/>
            <a:miter/>
          </a:ln>
        </p:spPr>
      </p:sp>
      <p:sp>
        <p:nvSpPr>
          <p:cNvPr id="58" name="TextBox 58"/>
          <p:cNvSpPr txBox="1"/>
          <p:nvPr/>
        </p:nvSpPr>
        <p:spPr>
          <a:xfrm>
            <a:off x="11553320" y="4645614"/>
            <a:ext cx="3725379" cy="430887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280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New user onboarding</a:t>
            </a:r>
          </a:p>
        </p:txBody>
      </p:sp>
      <p:sp>
        <p:nvSpPr>
          <p:cNvPr id="64" name="Freeform 64"/>
          <p:cNvSpPr/>
          <p:nvPr/>
        </p:nvSpPr>
        <p:spPr>
          <a:xfrm>
            <a:off x="11217307" y="5546302"/>
            <a:ext cx="5895785" cy="1091470"/>
          </a:xfrm>
          <a:custGeom>
            <a:avLst/>
            <a:gdLst/>
            <a:ahLst/>
            <a:cxnLst/>
            <a:rect l="l" t="t" r="r" b="b"/>
            <a:pathLst>
              <a:path w="7861046" h="1455293">
                <a:moveTo>
                  <a:pt x="0" y="242570"/>
                </a:moveTo>
                <a:cubicBezTo>
                  <a:pt x="0" y="108585"/>
                  <a:pt x="108585" y="0"/>
                  <a:pt x="242570" y="0"/>
                </a:cubicBezTo>
                <a:lnTo>
                  <a:pt x="7618476" y="0"/>
                </a:lnTo>
                <a:cubicBezTo>
                  <a:pt x="7752461" y="0"/>
                  <a:pt x="7861046" y="108585"/>
                  <a:pt x="7861046" y="242570"/>
                </a:cubicBezTo>
                <a:lnTo>
                  <a:pt x="7861046" y="1212723"/>
                </a:lnTo>
                <a:cubicBezTo>
                  <a:pt x="7861046" y="1346708"/>
                  <a:pt x="7752461" y="1455293"/>
                  <a:pt x="7618476" y="1455293"/>
                </a:cubicBezTo>
                <a:lnTo>
                  <a:pt x="242570" y="1455293"/>
                </a:lnTo>
                <a:cubicBezTo>
                  <a:pt x="108585" y="1455293"/>
                  <a:pt x="0" y="1346708"/>
                  <a:pt x="0" y="1212723"/>
                </a:cubicBezTo>
                <a:close/>
              </a:path>
            </a:pathLst>
          </a:custGeom>
          <a:solidFill>
            <a:srgbClr val="F3EEFB"/>
          </a:solidFill>
          <a:ln w="23831" cap="sq">
            <a:solidFill>
              <a:srgbClr val="D9E2EA"/>
            </a:solidFill>
            <a:prstDash val="solid"/>
            <a:miter/>
          </a:ln>
        </p:spPr>
      </p:sp>
      <p:sp>
        <p:nvSpPr>
          <p:cNvPr id="66" name="Freeform 66"/>
          <p:cNvSpPr/>
          <p:nvPr/>
        </p:nvSpPr>
        <p:spPr>
          <a:xfrm>
            <a:off x="11222069" y="5551074"/>
            <a:ext cx="147829" cy="1081945"/>
          </a:xfrm>
          <a:custGeom>
            <a:avLst/>
            <a:gdLst/>
            <a:ahLst/>
            <a:cxnLst/>
            <a:rect l="l" t="t" r="r" b="b"/>
            <a:pathLst>
              <a:path w="197104" h="1442593">
                <a:moveTo>
                  <a:pt x="0" y="32893"/>
                </a:moveTo>
                <a:cubicBezTo>
                  <a:pt x="0" y="14732"/>
                  <a:pt x="14732" y="0"/>
                  <a:pt x="32893" y="0"/>
                </a:cubicBezTo>
                <a:lnTo>
                  <a:pt x="164211" y="0"/>
                </a:lnTo>
                <a:cubicBezTo>
                  <a:pt x="182372" y="0"/>
                  <a:pt x="197104" y="14732"/>
                  <a:pt x="197104" y="32893"/>
                </a:cubicBezTo>
                <a:lnTo>
                  <a:pt x="197104" y="1409700"/>
                </a:lnTo>
                <a:cubicBezTo>
                  <a:pt x="197104" y="1427861"/>
                  <a:pt x="182372" y="1442593"/>
                  <a:pt x="164211" y="1442593"/>
                </a:cubicBezTo>
                <a:lnTo>
                  <a:pt x="32893" y="1442593"/>
                </a:lnTo>
                <a:cubicBezTo>
                  <a:pt x="14732" y="1442593"/>
                  <a:pt x="0" y="1427861"/>
                  <a:pt x="0" y="1409700"/>
                </a:cubicBezTo>
                <a:close/>
              </a:path>
            </a:pathLst>
          </a:custGeom>
          <a:solidFill>
            <a:srgbClr val="7E52E2"/>
          </a:solidFill>
          <a:ln w="14299" cap="sq">
            <a:solidFill>
              <a:srgbClr val="7E52E2"/>
            </a:solidFill>
            <a:prstDash val="solid"/>
            <a:miter/>
          </a:ln>
        </p:spPr>
      </p:sp>
      <p:sp>
        <p:nvSpPr>
          <p:cNvPr id="67" name="TextBox 67"/>
          <p:cNvSpPr txBox="1"/>
          <p:nvPr/>
        </p:nvSpPr>
        <p:spPr>
          <a:xfrm>
            <a:off x="11553320" y="5922964"/>
            <a:ext cx="2944717" cy="430887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280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No usable profile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5240228" y="3376005"/>
            <a:ext cx="1710331" cy="387046"/>
          </a:xfrm>
          <a:prstGeom prst="roundRect">
            <a:avLst/>
          </a:prstGeom>
          <a:solidFill>
            <a:schemeClr val="bg1"/>
          </a:solidFill>
        </p:spPr>
        <p:txBody>
          <a:bodyPr wrap="none" lIns="72000" tIns="36000" rIns="72000" bIns="36000" rtlCol="0" anchor="t">
            <a:spAutoFit/>
          </a:bodyPr>
          <a:lstStyle/>
          <a:p>
            <a:pPr algn="l"/>
            <a:r>
              <a:rPr lang="en-US" sz="1801" b="1" dirty="0">
                <a:solidFill>
                  <a:srgbClr val="2A8C8C"/>
                </a:solidFill>
                <a:latin typeface="Inter Bold"/>
                <a:ea typeface="Inter Bold"/>
                <a:cs typeface="Inter Bold"/>
                <a:sym typeface="Inter Bold"/>
              </a:rPr>
              <a:t>Saved cluster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5791433" y="4671405"/>
            <a:ext cx="1159126" cy="387046"/>
          </a:xfrm>
          <a:prstGeom prst="roundRect">
            <a:avLst/>
          </a:prstGeom>
          <a:solidFill>
            <a:schemeClr val="bg1"/>
          </a:solidFill>
        </p:spPr>
        <p:txBody>
          <a:bodyPr wrap="none" lIns="72000" tIns="36000" rIns="72000" bIns="36000" rtlCol="0" anchor="t">
            <a:spAutoFit/>
          </a:bodyPr>
          <a:lstStyle/>
          <a:p>
            <a:pPr algn="l"/>
            <a:r>
              <a:rPr lang="en-US" sz="1801" b="1" dirty="0">
                <a:solidFill>
                  <a:srgbClr val="F29F05"/>
                </a:solidFill>
                <a:latin typeface="Inter Bold"/>
                <a:ea typeface="Inter Bold"/>
                <a:cs typeface="Inter Bold"/>
                <a:sym typeface="Inter Bold"/>
              </a:rPr>
              <a:t>5 ratings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5839268" y="5890605"/>
            <a:ext cx="1111291" cy="387046"/>
          </a:xfrm>
          <a:prstGeom prst="roundRect">
            <a:avLst/>
          </a:prstGeom>
          <a:solidFill>
            <a:schemeClr val="bg1"/>
          </a:solidFill>
        </p:spPr>
        <p:txBody>
          <a:bodyPr wrap="none" lIns="72000" tIns="36000" rIns="72000" bIns="36000" rtlCol="0" anchor="t">
            <a:spAutoFit/>
          </a:bodyPr>
          <a:lstStyle/>
          <a:p>
            <a:pPr algn="l"/>
            <a:r>
              <a:rPr lang="en-US" sz="1801" b="1" dirty="0">
                <a:solidFill>
                  <a:srgbClr val="7E52E2"/>
                </a:solidFill>
                <a:latin typeface="Inter Bold"/>
                <a:ea typeface="Inter Bold"/>
                <a:cs typeface="Inter Bold"/>
                <a:sym typeface="Inter Bold"/>
              </a:rPr>
              <a:t>Fallback</a:t>
            </a:r>
          </a:p>
        </p:txBody>
      </p:sp>
      <p:sp>
        <p:nvSpPr>
          <p:cNvPr id="73" name="Freeform 73"/>
          <p:cNvSpPr/>
          <p:nvPr/>
        </p:nvSpPr>
        <p:spPr>
          <a:xfrm>
            <a:off x="788813" y="7200900"/>
            <a:ext cx="16724662" cy="2454742"/>
          </a:xfrm>
          <a:custGeom>
            <a:avLst/>
            <a:gdLst/>
            <a:ahLst/>
            <a:cxnLst/>
            <a:rect l="l" t="t" r="r" b="b"/>
            <a:pathLst>
              <a:path w="22299549" h="2827909">
                <a:moveTo>
                  <a:pt x="0" y="471297"/>
                </a:moveTo>
                <a:cubicBezTo>
                  <a:pt x="0" y="211074"/>
                  <a:pt x="211074" y="0"/>
                  <a:pt x="471297" y="0"/>
                </a:cubicBezTo>
                <a:lnTo>
                  <a:pt x="21828252" y="0"/>
                </a:lnTo>
                <a:cubicBezTo>
                  <a:pt x="22088602" y="0"/>
                  <a:pt x="22299549" y="211074"/>
                  <a:pt x="22299549" y="471297"/>
                </a:cubicBezTo>
                <a:lnTo>
                  <a:pt x="22299549" y="2356612"/>
                </a:lnTo>
                <a:cubicBezTo>
                  <a:pt x="22299549" y="2616962"/>
                  <a:pt x="22088475" y="2827909"/>
                  <a:pt x="21828252" y="2827909"/>
                </a:cubicBezTo>
                <a:lnTo>
                  <a:pt x="471297" y="2827909"/>
                </a:lnTo>
                <a:cubicBezTo>
                  <a:pt x="211074" y="2827909"/>
                  <a:pt x="0" y="2616962"/>
                  <a:pt x="0" y="2356612"/>
                </a:cubicBezTo>
                <a:close/>
              </a:path>
            </a:pathLst>
          </a:custGeom>
          <a:solidFill>
            <a:srgbClr val="FFFFFF"/>
          </a:solidFill>
          <a:ln w="23831" cap="sq">
            <a:solidFill>
              <a:srgbClr val="D9E2EA"/>
            </a:solidFill>
            <a:prstDash val="solid"/>
            <a:miter/>
          </a:ln>
        </p:spPr>
      </p:sp>
      <p:sp>
        <p:nvSpPr>
          <p:cNvPr id="74" name="TextBox 74"/>
          <p:cNvSpPr txBox="1"/>
          <p:nvPr/>
        </p:nvSpPr>
        <p:spPr>
          <a:xfrm>
            <a:off x="1220152" y="7366149"/>
            <a:ext cx="2930289" cy="438903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2852" b="1" dirty="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Live deployment</a:t>
            </a:r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339EFCB1-4070-ED5B-6D3F-B932B7D93994}"/>
              </a:ext>
            </a:extLst>
          </p:cNvPr>
          <p:cNvGrpSpPr/>
          <p:nvPr/>
        </p:nvGrpSpPr>
        <p:grpSpPr>
          <a:xfrm>
            <a:off x="9534719" y="7395448"/>
            <a:ext cx="7441681" cy="491252"/>
            <a:chOff x="9534719" y="7395448"/>
            <a:chExt cx="7441681" cy="491252"/>
          </a:xfrm>
        </p:grpSpPr>
        <p:sp>
          <p:nvSpPr>
            <p:cNvPr id="76" name="Freeform 76"/>
            <p:cNvSpPr/>
            <p:nvPr/>
          </p:nvSpPr>
          <p:spPr>
            <a:xfrm>
              <a:off x="10820400" y="7395448"/>
              <a:ext cx="6156000" cy="491252"/>
            </a:xfrm>
            <a:custGeom>
              <a:avLst/>
              <a:gdLst/>
              <a:ahLst/>
              <a:cxnLst/>
              <a:rect l="l" t="t" r="r" b="b"/>
              <a:pathLst>
                <a:path w="18170144" h="681228">
                  <a:moveTo>
                    <a:pt x="0" y="113538"/>
                  </a:moveTo>
                  <a:cubicBezTo>
                    <a:pt x="0" y="50800"/>
                    <a:pt x="50800" y="0"/>
                    <a:pt x="113538" y="0"/>
                  </a:cubicBezTo>
                  <a:lnTo>
                    <a:pt x="18056606" y="0"/>
                  </a:lnTo>
                  <a:cubicBezTo>
                    <a:pt x="18119344" y="0"/>
                    <a:pt x="18170144" y="50800"/>
                    <a:pt x="18170144" y="113538"/>
                  </a:cubicBezTo>
                  <a:lnTo>
                    <a:pt x="18170144" y="567690"/>
                  </a:lnTo>
                  <a:cubicBezTo>
                    <a:pt x="18170144" y="630428"/>
                    <a:pt x="18119344" y="681228"/>
                    <a:pt x="18056606" y="681228"/>
                  </a:cubicBezTo>
                  <a:lnTo>
                    <a:pt x="113538" y="681228"/>
                  </a:lnTo>
                  <a:cubicBezTo>
                    <a:pt x="50800" y="681228"/>
                    <a:pt x="0" y="630428"/>
                    <a:pt x="0" y="567690"/>
                  </a:cubicBezTo>
                  <a:close/>
                </a:path>
              </a:pathLst>
            </a:custGeom>
            <a:solidFill>
              <a:srgbClr val="EDF4FA"/>
            </a:solidFill>
            <a:ln w="15252" cap="sq">
              <a:solidFill>
                <a:srgbClr val="D9E2EA"/>
              </a:solidFill>
              <a:prstDash val="solid"/>
              <a:miter/>
            </a:ln>
          </p:spPr>
        </p:sp>
        <p:sp>
          <p:nvSpPr>
            <p:cNvPr id="78" name="Freeform 78"/>
            <p:cNvSpPr/>
            <p:nvPr/>
          </p:nvSpPr>
          <p:spPr>
            <a:xfrm>
              <a:off x="11066335" y="7593719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364"/>
                    <a:pt x="0" y="76200"/>
                  </a:cubicBezTo>
                  <a:close/>
                </a:path>
              </a:pathLst>
            </a:custGeom>
            <a:solidFill>
              <a:srgbClr val="EF6A6A"/>
            </a:solidFill>
          </p:spPr>
        </p:sp>
        <p:sp>
          <p:nvSpPr>
            <p:cNvPr id="80" name="Freeform 80"/>
            <p:cNvSpPr/>
            <p:nvPr/>
          </p:nvSpPr>
          <p:spPr>
            <a:xfrm>
              <a:off x="11256978" y="7593719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364"/>
                    <a:pt x="0" y="76200"/>
                  </a:cubicBezTo>
                  <a:close/>
                </a:path>
              </a:pathLst>
            </a:custGeom>
            <a:solidFill>
              <a:srgbClr val="F2C94C"/>
            </a:solidFill>
          </p:spPr>
        </p:sp>
        <p:sp>
          <p:nvSpPr>
            <p:cNvPr id="82" name="Freeform 82"/>
            <p:cNvSpPr/>
            <p:nvPr/>
          </p:nvSpPr>
          <p:spPr>
            <a:xfrm>
              <a:off x="11447630" y="7593719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364"/>
                    <a:pt x="0" y="76200"/>
                  </a:cubicBezTo>
                  <a:close/>
                </a:path>
              </a:pathLst>
            </a:custGeom>
            <a:solidFill>
              <a:srgbClr val="55A868"/>
            </a:solidFill>
          </p:spPr>
        </p:sp>
        <p:sp>
          <p:nvSpPr>
            <p:cNvPr id="83" name="TextBox 83"/>
            <p:cNvSpPr txBox="1"/>
            <p:nvPr/>
          </p:nvSpPr>
          <p:spPr>
            <a:xfrm>
              <a:off x="11781262" y="7555590"/>
              <a:ext cx="5086329" cy="277127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/>
              <a:r>
                <a:rPr lang="en-US" sz="1801" b="1" dirty="0">
                  <a:solidFill>
                    <a:srgbClr val="2A8C8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p704-recommendation-system.streamlit.app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534719" y="7479328"/>
              <a:ext cx="1096454" cy="323294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/>
              <a:r>
                <a:rPr lang="en-US" sz="2101" b="1" dirty="0">
                  <a:solidFill>
                    <a:srgbClr val="5D86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Live app</a:t>
              </a:r>
            </a:p>
          </p:txBody>
        </p:sp>
      </p:grpSp>
      <p:sp>
        <p:nvSpPr>
          <p:cNvPr id="86" name="Freeform 86"/>
          <p:cNvSpPr/>
          <p:nvPr/>
        </p:nvSpPr>
        <p:spPr>
          <a:xfrm>
            <a:off x="1210618" y="8232791"/>
            <a:ext cx="5077587" cy="1248880"/>
          </a:xfrm>
          <a:custGeom>
            <a:avLst/>
            <a:gdLst/>
            <a:ahLst/>
            <a:cxnLst/>
            <a:rect l="l" t="t" r="r" b="b"/>
            <a:pathLst>
              <a:path w="6770116" h="1067562">
                <a:moveTo>
                  <a:pt x="0" y="177927"/>
                </a:moveTo>
                <a:cubicBezTo>
                  <a:pt x="0" y="79629"/>
                  <a:pt x="79629" y="0"/>
                  <a:pt x="177927" y="0"/>
                </a:cubicBezTo>
                <a:lnTo>
                  <a:pt x="6592189" y="0"/>
                </a:lnTo>
                <a:cubicBezTo>
                  <a:pt x="6690487" y="0"/>
                  <a:pt x="6770116" y="79629"/>
                  <a:pt x="6770116" y="177927"/>
                </a:cubicBezTo>
                <a:lnTo>
                  <a:pt x="6770116" y="889635"/>
                </a:lnTo>
                <a:cubicBezTo>
                  <a:pt x="6770116" y="987933"/>
                  <a:pt x="6690487" y="1067562"/>
                  <a:pt x="6592189" y="1067562"/>
                </a:cubicBezTo>
                <a:lnTo>
                  <a:pt x="177927" y="1067562"/>
                </a:lnTo>
                <a:cubicBezTo>
                  <a:pt x="79629" y="1067689"/>
                  <a:pt x="0" y="987933"/>
                  <a:pt x="0" y="889635"/>
                </a:cubicBezTo>
                <a:close/>
              </a:path>
            </a:pathLst>
          </a:custGeom>
          <a:solidFill>
            <a:srgbClr val="EAF4F4"/>
          </a:solidFill>
          <a:ln w="19065" cap="sq">
            <a:solidFill>
              <a:srgbClr val="D9E2EA"/>
            </a:solidFill>
            <a:prstDash val="solid"/>
            <a:miter/>
          </a:ln>
        </p:spPr>
      </p:sp>
      <p:sp>
        <p:nvSpPr>
          <p:cNvPr id="88" name="Freeform 88"/>
          <p:cNvSpPr/>
          <p:nvPr/>
        </p:nvSpPr>
        <p:spPr>
          <a:xfrm>
            <a:off x="1410805" y="8442503"/>
            <a:ext cx="362236" cy="362236"/>
          </a:xfrm>
          <a:custGeom>
            <a:avLst/>
            <a:gdLst/>
            <a:ahLst/>
            <a:cxnLst/>
            <a:rect l="l" t="t" r="r" b="b"/>
            <a:pathLst>
              <a:path w="482981" h="482981">
                <a:moveTo>
                  <a:pt x="0" y="241427"/>
                </a:moveTo>
                <a:cubicBezTo>
                  <a:pt x="0" y="108077"/>
                  <a:pt x="108077" y="0"/>
                  <a:pt x="241427" y="0"/>
                </a:cubicBezTo>
                <a:cubicBezTo>
                  <a:pt x="374777" y="0"/>
                  <a:pt x="482981" y="108077"/>
                  <a:pt x="482981" y="241427"/>
                </a:cubicBezTo>
                <a:cubicBezTo>
                  <a:pt x="482981" y="374777"/>
                  <a:pt x="374904" y="482981"/>
                  <a:pt x="241427" y="482981"/>
                </a:cubicBezTo>
                <a:cubicBezTo>
                  <a:pt x="107950" y="482981"/>
                  <a:pt x="0" y="374904"/>
                  <a:pt x="0" y="241427"/>
                </a:cubicBezTo>
                <a:close/>
              </a:path>
            </a:pathLst>
          </a:custGeom>
          <a:solidFill>
            <a:srgbClr val="2A8C8C"/>
          </a:solidFill>
        </p:spPr>
      </p:sp>
      <p:sp>
        <p:nvSpPr>
          <p:cNvPr id="89" name="TextBox 89"/>
          <p:cNvSpPr txBox="1"/>
          <p:nvPr/>
        </p:nvSpPr>
        <p:spPr>
          <a:xfrm>
            <a:off x="1410805" y="8490176"/>
            <a:ext cx="362236" cy="162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944614" y="8366246"/>
            <a:ext cx="1120500" cy="32329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2101" b="1" dirty="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Platform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944614" y="8604552"/>
            <a:ext cx="2441374" cy="392543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2551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Streamlit Cloud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944614" y="9027339"/>
            <a:ext cx="1875513" cy="23096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1501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Hosted Streamlit app</a:t>
            </a:r>
          </a:p>
        </p:txBody>
      </p:sp>
      <p:sp>
        <p:nvSpPr>
          <p:cNvPr id="94" name="Freeform 94"/>
          <p:cNvSpPr/>
          <p:nvPr/>
        </p:nvSpPr>
        <p:spPr>
          <a:xfrm>
            <a:off x="6593272" y="8232791"/>
            <a:ext cx="5077587" cy="1248880"/>
          </a:xfrm>
          <a:custGeom>
            <a:avLst/>
            <a:gdLst/>
            <a:ahLst/>
            <a:cxnLst/>
            <a:rect l="l" t="t" r="r" b="b"/>
            <a:pathLst>
              <a:path w="6770116" h="1067562">
                <a:moveTo>
                  <a:pt x="0" y="177927"/>
                </a:moveTo>
                <a:cubicBezTo>
                  <a:pt x="0" y="79629"/>
                  <a:pt x="79629" y="0"/>
                  <a:pt x="177927" y="0"/>
                </a:cubicBezTo>
                <a:lnTo>
                  <a:pt x="6592189" y="0"/>
                </a:lnTo>
                <a:cubicBezTo>
                  <a:pt x="6690487" y="0"/>
                  <a:pt x="6770116" y="79629"/>
                  <a:pt x="6770116" y="177927"/>
                </a:cubicBezTo>
                <a:lnTo>
                  <a:pt x="6770116" y="889635"/>
                </a:lnTo>
                <a:cubicBezTo>
                  <a:pt x="6770116" y="987933"/>
                  <a:pt x="6690487" y="1067562"/>
                  <a:pt x="6592189" y="1067562"/>
                </a:cubicBezTo>
                <a:lnTo>
                  <a:pt x="177927" y="1067562"/>
                </a:lnTo>
                <a:cubicBezTo>
                  <a:pt x="79629" y="1067689"/>
                  <a:pt x="0" y="987933"/>
                  <a:pt x="0" y="889635"/>
                </a:cubicBezTo>
                <a:close/>
              </a:path>
            </a:pathLst>
          </a:custGeom>
          <a:solidFill>
            <a:srgbClr val="FFF4DF"/>
          </a:solidFill>
          <a:ln w="19065" cap="sq">
            <a:solidFill>
              <a:srgbClr val="D9E2EA"/>
            </a:solidFill>
            <a:prstDash val="solid"/>
            <a:miter/>
          </a:ln>
        </p:spPr>
      </p:sp>
      <p:sp>
        <p:nvSpPr>
          <p:cNvPr id="96" name="Freeform 96"/>
          <p:cNvSpPr/>
          <p:nvPr/>
        </p:nvSpPr>
        <p:spPr>
          <a:xfrm>
            <a:off x="6793459" y="8442503"/>
            <a:ext cx="362236" cy="362236"/>
          </a:xfrm>
          <a:custGeom>
            <a:avLst/>
            <a:gdLst/>
            <a:ahLst/>
            <a:cxnLst/>
            <a:rect l="l" t="t" r="r" b="b"/>
            <a:pathLst>
              <a:path w="482981" h="482981">
                <a:moveTo>
                  <a:pt x="0" y="241427"/>
                </a:moveTo>
                <a:cubicBezTo>
                  <a:pt x="0" y="108077"/>
                  <a:pt x="108077" y="0"/>
                  <a:pt x="241427" y="0"/>
                </a:cubicBezTo>
                <a:cubicBezTo>
                  <a:pt x="374777" y="0"/>
                  <a:pt x="482981" y="108077"/>
                  <a:pt x="482981" y="241427"/>
                </a:cubicBezTo>
                <a:cubicBezTo>
                  <a:pt x="482981" y="374777"/>
                  <a:pt x="374904" y="482981"/>
                  <a:pt x="241427" y="482981"/>
                </a:cubicBezTo>
                <a:cubicBezTo>
                  <a:pt x="107950" y="482981"/>
                  <a:pt x="0" y="374904"/>
                  <a:pt x="0" y="241427"/>
                </a:cubicBezTo>
                <a:close/>
              </a:path>
            </a:pathLst>
          </a:custGeom>
          <a:solidFill>
            <a:srgbClr val="F29F05"/>
          </a:solidFill>
        </p:spPr>
      </p:sp>
      <p:sp>
        <p:nvSpPr>
          <p:cNvPr id="97" name="TextBox 97"/>
          <p:cNvSpPr txBox="1"/>
          <p:nvPr/>
        </p:nvSpPr>
        <p:spPr>
          <a:xfrm>
            <a:off x="6793459" y="8490176"/>
            <a:ext cx="362236" cy="162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7327278" y="8366246"/>
            <a:ext cx="1080424" cy="32329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2101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Runtime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7327278" y="8604552"/>
            <a:ext cx="3154710" cy="392543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2551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Saved artifacts only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7327278" y="9027339"/>
            <a:ext cx="2494273" cy="23096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1501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No retraining during serving</a:t>
            </a:r>
          </a:p>
        </p:txBody>
      </p:sp>
      <p:sp>
        <p:nvSpPr>
          <p:cNvPr id="102" name="Freeform 102"/>
          <p:cNvSpPr/>
          <p:nvPr/>
        </p:nvSpPr>
        <p:spPr>
          <a:xfrm>
            <a:off x="11975935" y="8232791"/>
            <a:ext cx="5077587" cy="1248880"/>
          </a:xfrm>
          <a:custGeom>
            <a:avLst/>
            <a:gdLst/>
            <a:ahLst/>
            <a:cxnLst/>
            <a:rect l="l" t="t" r="r" b="b"/>
            <a:pathLst>
              <a:path w="6770116" h="1067562">
                <a:moveTo>
                  <a:pt x="0" y="177927"/>
                </a:moveTo>
                <a:cubicBezTo>
                  <a:pt x="0" y="79629"/>
                  <a:pt x="79629" y="0"/>
                  <a:pt x="177927" y="0"/>
                </a:cubicBezTo>
                <a:lnTo>
                  <a:pt x="6592189" y="0"/>
                </a:lnTo>
                <a:cubicBezTo>
                  <a:pt x="6690487" y="0"/>
                  <a:pt x="6770116" y="79629"/>
                  <a:pt x="6770116" y="177927"/>
                </a:cubicBezTo>
                <a:lnTo>
                  <a:pt x="6770116" y="889635"/>
                </a:lnTo>
                <a:cubicBezTo>
                  <a:pt x="6770116" y="987933"/>
                  <a:pt x="6690487" y="1067562"/>
                  <a:pt x="6592189" y="1067562"/>
                </a:cubicBezTo>
                <a:lnTo>
                  <a:pt x="177927" y="1067562"/>
                </a:lnTo>
                <a:cubicBezTo>
                  <a:pt x="79629" y="1067689"/>
                  <a:pt x="0" y="987933"/>
                  <a:pt x="0" y="889635"/>
                </a:cubicBezTo>
                <a:close/>
              </a:path>
            </a:pathLst>
          </a:custGeom>
          <a:solidFill>
            <a:srgbClr val="F3EEFB"/>
          </a:solidFill>
          <a:ln w="19065" cap="sq">
            <a:solidFill>
              <a:srgbClr val="D9E2EA"/>
            </a:solidFill>
            <a:prstDash val="solid"/>
            <a:miter/>
          </a:ln>
        </p:spPr>
      </p:sp>
      <p:sp>
        <p:nvSpPr>
          <p:cNvPr id="104" name="Freeform 104"/>
          <p:cNvSpPr/>
          <p:nvPr/>
        </p:nvSpPr>
        <p:spPr>
          <a:xfrm>
            <a:off x="12176112" y="8442503"/>
            <a:ext cx="362236" cy="362236"/>
          </a:xfrm>
          <a:custGeom>
            <a:avLst/>
            <a:gdLst/>
            <a:ahLst/>
            <a:cxnLst/>
            <a:rect l="l" t="t" r="r" b="b"/>
            <a:pathLst>
              <a:path w="482981" h="482981">
                <a:moveTo>
                  <a:pt x="0" y="241427"/>
                </a:moveTo>
                <a:cubicBezTo>
                  <a:pt x="0" y="108077"/>
                  <a:pt x="108077" y="0"/>
                  <a:pt x="241427" y="0"/>
                </a:cubicBezTo>
                <a:cubicBezTo>
                  <a:pt x="374777" y="0"/>
                  <a:pt x="482981" y="108077"/>
                  <a:pt x="482981" y="241427"/>
                </a:cubicBezTo>
                <a:cubicBezTo>
                  <a:pt x="482981" y="374777"/>
                  <a:pt x="374904" y="482981"/>
                  <a:pt x="241427" y="482981"/>
                </a:cubicBezTo>
                <a:cubicBezTo>
                  <a:pt x="107950" y="482981"/>
                  <a:pt x="0" y="374904"/>
                  <a:pt x="0" y="241427"/>
                </a:cubicBezTo>
                <a:close/>
              </a:path>
            </a:pathLst>
          </a:custGeom>
          <a:solidFill>
            <a:srgbClr val="7E52E2"/>
          </a:solidFill>
        </p:spPr>
      </p:sp>
      <p:sp>
        <p:nvSpPr>
          <p:cNvPr id="105" name="TextBox 105"/>
          <p:cNvSpPr txBox="1"/>
          <p:nvPr/>
        </p:nvSpPr>
        <p:spPr>
          <a:xfrm>
            <a:off x="12176112" y="8490176"/>
            <a:ext cx="362236" cy="162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12709931" y="8366246"/>
            <a:ext cx="1200650" cy="32329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2101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Raw data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2709931" y="8604552"/>
            <a:ext cx="2298706" cy="392543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2551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No ratings.csv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2709931" y="9027339"/>
            <a:ext cx="3236463" cy="23096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1501" dirty="0">
                <a:solidFill>
                  <a:srgbClr val="5D86A6"/>
                </a:solidFill>
                <a:latin typeface="Inter"/>
                <a:ea typeface="Inter"/>
                <a:cs typeface="Inter"/>
                <a:sym typeface="Inter"/>
              </a:rPr>
              <a:t>Compact artifact-based deployment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210618" y="9332691"/>
            <a:ext cx="3717655" cy="42726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lIns="72000" tIns="72000" rIns="36000" bIns="36000" rtlCol="0" anchor="t">
            <a:spAutoFit/>
          </a:bodyPr>
          <a:lstStyle>
            <a:defPPr>
              <a:defRPr lang="en-US"/>
            </a:defPPr>
            <a:lvl1pPr>
              <a:defRPr sz="1801">
                <a:latin typeface="Inter"/>
                <a:ea typeface="Inter"/>
                <a:cs typeface="Inter"/>
              </a:defRPr>
            </a:lvl1pPr>
          </a:lstStyle>
          <a:p>
            <a:r>
              <a:rPr lang="en-US" dirty="0">
                <a:sym typeface="Inter"/>
              </a:rPr>
              <a:t>Training-only historical statistics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6629400" y="9332691"/>
            <a:ext cx="4099727" cy="42726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lIns="72000" tIns="72000" rIns="36000" bIns="36000" rtlCol="0" anchor="t">
            <a:spAutoFit/>
          </a:bodyPr>
          <a:lstStyle/>
          <a:p>
            <a:pPr algn="l"/>
            <a:r>
              <a:rPr lang="en-US" sz="1801" dirty="0">
                <a:latin typeface="Inter"/>
                <a:ea typeface="Inter"/>
                <a:cs typeface="Inter"/>
                <a:sym typeface="Inter"/>
              </a:rPr>
              <a:t>Product IDs only, no names available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A8351676-7D47-EDDF-821A-2904D867BB28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5064109" y="4509659"/>
            <a:ext cx="547773" cy="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4CCC3C97-0F89-18B1-70B2-C8E4E12C88CF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10188263" y="4509612"/>
            <a:ext cx="619145" cy="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0F19AB49-ECF8-B9CB-C2B5-3EA4E544354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329688" t="-329688" r="-329688" b="-329688"/>
          <a:stretch>
            <a:fillRect/>
          </a:stretch>
        </p:blipFill>
        <p:spPr>
          <a:xfrm>
            <a:off x="15078456" y="7077456"/>
            <a:ext cx="3086100" cy="30861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433283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684"/>
    </mc:Choice>
    <mc:Fallback xmlns="">
      <p:transition spd="slow" advTm="406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789003" y="596827"/>
            <a:ext cx="1084993" cy="124111"/>
          </a:xfrm>
          <a:custGeom>
            <a:avLst/>
            <a:gdLst/>
            <a:ahLst/>
            <a:cxnLst/>
            <a:rect l="l" t="t" r="r" b="b"/>
            <a:pathLst>
              <a:path w="1446657" h="165481">
                <a:moveTo>
                  <a:pt x="0" y="27559"/>
                </a:moveTo>
                <a:cubicBezTo>
                  <a:pt x="0" y="12319"/>
                  <a:pt x="12319" y="0"/>
                  <a:pt x="27559" y="0"/>
                </a:cubicBezTo>
                <a:lnTo>
                  <a:pt x="1419098" y="0"/>
                </a:lnTo>
                <a:cubicBezTo>
                  <a:pt x="1434338" y="0"/>
                  <a:pt x="1446657" y="12319"/>
                  <a:pt x="1446657" y="27559"/>
                </a:cubicBezTo>
                <a:lnTo>
                  <a:pt x="1446657" y="137922"/>
                </a:lnTo>
                <a:cubicBezTo>
                  <a:pt x="1446657" y="153162"/>
                  <a:pt x="1434338" y="165481"/>
                  <a:pt x="1419098" y="165481"/>
                </a:cubicBezTo>
                <a:lnTo>
                  <a:pt x="27559" y="165481"/>
                </a:lnTo>
                <a:cubicBezTo>
                  <a:pt x="12319" y="165481"/>
                  <a:pt x="0" y="153162"/>
                  <a:pt x="0" y="137922"/>
                </a:cubicBezTo>
                <a:close/>
              </a:path>
            </a:pathLst>
          </a:custGeom>
          <a:solidFill>
            <a:srgbClr val="2A8C8C"/>
          </a:solidFill>
          <a:ln w="14299" cap="sq">
            <a:solidFill>
              <a:srgbClr val="2A8C8C"/>
            </a:solidFill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814435" y="987943"/>
            <a:ext cx="16641394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1" dirty="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Deployed </a:t>
            </a:r>
            <a:r>
              <a:rPr lang="en-US" sz="4503" b="1" dirty="0" err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Streamlit</a:t>
            </a:r>
            <a:r>
              <a:rPr lang="en-US" sz="4503" b="1" dirty="0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 Application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8119EC3-B4D0-0CAE-F6BD-B8C0D63B2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9256" y="1909345"/>
            <a:ext cx="14949487" cy="7722144"/>
          </a:xfrm>
          <a:prstGeom prst="rect">
            <a:avLst/>
          </a:prstGeom>
        </p:spPr>
      </p:pic>
      <p:pic>
        <p:nvPicPr>
          <p:cNvPr id="35" name="Audio 34">
            <a:hlinkClick r:id="" action="ppaction://media"/>
            <a:extLst>
              <a:ext uri="{FF2B5EF4-FFF2-40B4-BE49-F238E27FC236}">
                <a16:creationId xmlns:a16="http://schemas.microsoft.com/office/drawing/2014/main" id="{98CCE62E-C32C-17BD-4C5A-0A9F8F0FAA3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329688" t="-329688" r="-329688" b="-329688"/>
          <a:stretch>
            <a:fillRect/>
          </a:stretch>
        </p:blipFill>
        <p:spPr>
          <a:xfrm>
            <a:off x="15078456" y="7077456"/>
            <a:ext cx="3086100" cy="30861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154"/>
    </mc:Choice>
    <mc:Fallback>
      <p:transition spd="slow" advTm="141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5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6147" y="631431"/>
            <a:ext cx="1304039" cy="137265"/>
            <a:chOff x="0" y="0"/>
            <a:chExt cx="1738719" cy="1830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38630" cy="183007"/>
            </a:xfrm>
            <a:custGeom>
              <a:avLst/>
              <a:gdLst/>
              <a:ahLst/>
              <a:cxnLst/>
              <a:rect l="l" t="t" r="r" b="b"/>
              <a:pathLst>
                <a:path w="1738630" h="183007">
                  <a:moveTo>
                    <a:pt x="0" y="30480"/>
                  </a:moveTo>
                  <a:cubicBezTo>
                    <a:pt x="0" y="13716"/>
                    <a:pt x="13716" y="0"/>
                    <a:pt x="30480" y="0"/>
                  </a:cubicBezTo>
                  <a:lnTo>
                    <a:pt x="1708150" y="0"/>
                  </a:lnTo>
                  <a:cubicBezTo>
                    <a:pt x="1725041" y="0"/>
                    <a:pt x="1738630" y="13716"/>
                    <a:pt x="1738630" y="30480"/>
                  </a:cubicBezTo>
                  <a:lnTo>
                    <a:pt x="1738630" y="152527"/>
                  </a:lnTo>
                  <a:cubicBezTo>
                    <a:pt x="1738630" y="169418"/>
                    <a:pt x="1724914" y="183007"/>
                    <a:pt x="1708150" y="183007"/>
                  </a:cubicBezTo>
                  <a:lnTo>
                    <a:pt x="30480" y="183007"/>
                  </a:lnTo>
                  <a:cubicBezTo>
                    <a:pt x="13589" y="183007"/>
                    <a:pt x="0" y="169291"/>
                    <a:pt x="0" y="152527"/>
                  </a:cubicBezTo>
                  <a:close/>
                </a:path>
              </a:pathLst>
            </a:custGeom>
            <a:solidFill>
              <a:srgbClr val="2A8C8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4111068" y="-988324"/>
            <a:ext cx="5531872" cy="5531872"/>
            <a:chOff x="0" y="0"/>
            <a:chExt cx="7375830" cy="73758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375779" cy="7375779"/>
            </a:xfrm>
            <a:custGeom>
              <a:avLst/>
              <a:gdLst/>
              <a:ahLst/>
              <a:cxnLst/>
              <a:rect l="l" t="t" r="r" b="b"/>
              <a:pathLst>
                <a:path w="7375779" h="7375779">
                  <a:moveTo>
                    <a:pt x="0" y="3687953"/>
                  </a:moveTo>
                  <a:cubicBezTo>
                    <a:pt x="0" y="1651127"/>
                    <a:pt x="1651127" y="0"/>
                    <a:pt x="3687953" y="0"/>
                  </a:cubicBezTo>
                  <a:cubicBezTo>
                    <a:pt x="5724780" y="0"/>
                    <a:pt x="7375779" y="1651127"/>
                    <a:pt x="7375779" y="3687953"/>
                  </a:cubicBezTo>
                  <a:cubicBezTo>
                    <a:pt x="7375779" y="5724780"/>
                    <a:pt x="5724652" y="7375779"/>
                    <a:pt x="3687953" y="7375779"/>
                  </a:cubicBezTo>
                  <a:cubicBezTo>
                    <a:pt x="1651254" y="7375779"/>
                    <a:pt x="0" y="5724652"/>
                    <a:pt x="0" y="3687953"/>
                  </a:cubicBezTo>
                  <a:close/>
                </a:path>
              </a:pathLst>
            </a:custGeom>
            <a:solidFill>
              <a:srgbClr val="EDF4F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5442568" y="1139314"/>
            <a:ext cx="3335598" cy="3335598"/>
            <a:chOff x="0" y="0"/>
            <a:chExt cx="4447464" cy="44474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47540" cy="4447540"/>
            </a:xfrm>
            <a:custGeom>
              <a:avLst/>
              <a:gdLst/>
              <a:ahLst/>
              <a:cxnLst/>
              <a:rect l="l" t="t" r="r" b="b"/>
              <a:pathLst>
                <a:path w="4447540" h="4447540">
                  <a:moveTo>
                    <a:pt x="0" y="2223770"/>
                  </a:moveTo>
                  <a:cubicBezTo>
                    <a:pt x="0" y="995553"/>
                    <a:pt x="995553" y="0"/>
                    <a:pt x="2223770" y="0"/>
                  </a:cubicBezTo>
                  <a:cubicBezTo>
                    <a:pt x="3451987" y="0"/>
                    <a:pt x="4447540" y="995553"/>
                    <a:pt x="4447540" y="2223770"/>
                  </a:cubicBezTo>
                  <a:cubicBezTo>
                    <a:pt x="4447540" y="3451987"/>
                    <a:pt x="3451987" y="4447540"/>
                    <a:pt x="2223770" y="4447540"/>
                  </a:cubicBezTo>
                  <a:cubicBezTo>
                    <a:pt x="995553" y="4447540"/>
                    <a:pt x="0" y="3451860"/>
                    <a:pt x="0" y="2223770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796147" y="8867461"/>
            <a:ext cx="1866833" cy="137265"/>
            <a:chOff x="0" y="0"/>
            <a:chExt cx="2489111" cy="1830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89073" cy="183007"/>
            </a:xfrm>
            <a:custGeom>
              <a:avLst/>
              <a:gdLst/>
              <a:ahLst/>
              <a:cxnLst/>
              <a:rect l="l" t="t" r="r" b="b"/>
              <a:pathLst>
                <a:path w="2489073" h="183007">
                  <a:moveTo>
                    <a:pt x="0" y="30480"/>
                  </a:moveTo>
                  <a:cubicBezTo>
                    <a:pt x="0" y="13716"/>
                    <a:pt x="13716" y="0"/>
                    <a:pt x="30480" y="0"/>
                  </a:cubicBezTo>
                  <a:lnTo>
                    <a:pt x="2458593" y="0"/>
                  </a:lnTo>
                  <a:cubicBezTo>
                    <a:pt x="2475484" y="0"/>
                    <a:pt x="2489073" y="13716"/>
                    <a:pt x="2489073" y="30480"/>
                  </a:cubicBezTo>
                  <a:lnTo>
                    <a:pt x="2489073" y="152527"/>
                  </a:lnTo>
                  <a:cubicBezTo>
                    <a:pt x="2489073" y="169418"/>
                    <a:pt x="2475357" y="183007"/>
                    <a:pt x="2458593" y="183007"/>
                  </a:cubicBezTo>
                  <a:lnTo>
                    <a:pt x="30480" y="183007"/>
                  </a:lnTo>
                  <a:cubicBezTo>
                    <a:pt x="13589" y="183007"/>
                    <a:pt x="0" y="169291"/>
                    <a:pt x="0" y="152527"/>
                  </a:cubicBezTo>
                  <a:close/>
                </a:path>
              </a:pathLst>
            </a:custGeom>
            <a:solidFill>
              <a:srgbClr val="2A8C8C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464116" y="3665372"/>
            <a:ext cx="15373617" cy="1065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68"/>
              </a:lnSpc>
            </a:pPr>
            <a:r>
              <a:rPr lang="en-US" sz="9307" b="1">
                <a:solidFill>
                  <a:srgbClr val="17324D"/>
                </a:solidFill>
                <a:latin typeface="Inter Bold"/>
                <a:ea typeface="Inter Bold"/>
                <a:cs typeface="Inter Bold"/>
                <a:sym typeface="Inter Bold"/>
              </a:rPr>
              <a:t>Thank You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64116" y="5124612"/>
            <a:ext cx="15373617" cy="663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24"/>
              </a:lnSpc>
            </a:pPr>
            <a:r>
              <a:rPr lang="en-US" sz="5103" b="1">
                <a:solidFill>
                  <a:srgbClr val="2A8C8C"/>
                </a:solidFill>
                <a:latin typeface="Inter Bold"/>
                <a:ea typeface="Inter Bold"/>
                <a:cs typeface="Inter Bold"/>
                <a:sym typeface="Inter Bold"/>
              </a:rPr>
              <a:t>Questions?</a:t>
            </a:r>
          </a:p>
        </p:txBody>
      </p:sp>
      <p:pic>
        <p:nvPicPr>
          <p:cNvPr id="14" name="Audio 13">
            <a:hlinkClick r:id="" action="ppaction://media"/>
            <a:extLst>
              <a:ext uri="{FF2B5EF4-FFF2-40B4-BE49-F238E27FC236}">
                <a16:creationId xmlns:a16="http://schemas.microsoft.com/office/drawing/2014/main" id="{59BB824C-861A-5608-8D04-0A5CC1C472A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329688" t="-329688" r="-329688" b="-329688"/>
          <a:stretch>
            <a:fillRect/>
          </a:stretch>
        </p:blipFill>
        <p:spPr>
          <a:xfrm>
            <a:off x="15078456" y="7077456"/>
            <a:ext cx="3086100" cy="30861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17"/>
    </mc:Choice>
    <mc:Fallback xmlns="">
      <p:transition spd="slow" advTm="35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783</Words>
  <Application>Microsoft Office PowerPoint</Application>
  <PresentationFormat>Custom</PresentationFormat>
  <Paragraphs>218</Paragraphs>
  <Slides>9</Slides>
  <Notes>2</Notes>
  <HiddenSlides>0</HiddenSlides>
  <MMClips>9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Calibri</vt:lpstr>
      <vt:lpstr>Inter</vt:lpstr>
      <vt:lpstr>HK Grotesk Semi-Bold</vt:lpstr>
      <vt:lpstr>HK Grotesk Bold</vt:lpstr>
      <vt:lpstr>Arial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P704 Product Recommendation System</dc:title>
  <dc:creator>Vivek H</dc:creator>
  <cp:lastModifiedBy>Vivek H</cp:lastModifiedBy>
  <cp:revision>16</cp:revision>
  <dcterms:created xsi:type="dcterms:W3CDTF">2006-08-16T00:00:00Z</dcterms:created>
  <dcterms:modified xsi:type="dcterms:W3CDTF">2026-10-09T12:24:48Z</dcterms:modified>
  <dc:identifier>DAHXWkfsT5Y</dc:identifier>
</cp:coreProperties>
</file>